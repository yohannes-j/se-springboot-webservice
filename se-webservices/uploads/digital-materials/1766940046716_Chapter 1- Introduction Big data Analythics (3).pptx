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8" r:id="rId5"/>
    <p:sldId id="257" r:id="rId6"/>
    <p:sldId id="259" r:id="rId7"/>
    <p:sldId id="260" r:id="rId8"/>
    <p:sldId id="261" r:id="rId9"/>
    <p:sldId id="263" r:id="rId10"/>
    <p:sldId id="264" r:id="rId11"/>
    <p:sldId id="265" r:id="rId12"/>
    <p:sldId id="266" r:id="rId13"/>
    <p:sldId id="267" r:id="rId14"/>
    <p:sldId id="262" r:id="rId15"/>
    <p:sldId id="268" r:id="rId16"/>
    <p:sldId id="269" r:id="rId17"/>
    <p:sldId id="272" r:id="rId18"/>
    <p:sldId id="271" r:id="rId19"/>
    <p:sldId id="270" r:id="rId20"/>
    <p:sldId id="273" r:id="rId21"/>
    <p:sldId id="274" r:id="rId22"/>
    <p:sldId id="275" r:id="rId23"/>
    <p:sldId id="276" r:id="rId24"/>
    <p:sldId id="277" r:id="rId25"/>
    <p:sldId id="287" r:id="rId26"/>
    <p:sldId id="278" r:id="rId27"/>
    <p:sldId id="279" r:id="rId28"/>
    <p:sldId id="280" r:id="rId29"/>
    <p:sldId id="281" r:id="rId30"/>
    <p:sldId id="286" r:id="rId31"/>
    <p:sldId id="282" r:id="rId32"/>
    <p:sldId id="283" r:id="rId33"/>
    <p:sldId id="284" r:id="rId34"/>
    <p:sldId id="285"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108" autoAdjust="0"/>
    <p:restoredTop sz="94660"/>
  </p:normalViewPr>
  <p:slideViewPr>
    <p:cSldViewPr snapToGrid="0">
      <p:cViewPr varScale="1">
        <p:scale>
          <a:sx n="70" d="100"/>
          <a:sy n="70" d="100"/>
        </p:scale>
        <p:origin x="23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C7A4F1-008E-4453-99D7-2D411EBA497C}"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B354DC-221E-4395-B206-B15661733B30}"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B354DC-221E-4395-B206-B15661733B30}"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B354DC-221E-4395-B206-B15661733B30}"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B354DC-221E-4395-B206-B15661733B30}"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B354DC-221E-4395-B206-B15661733B30}"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B354DC-221E-4395-B206-B15661733B30}"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B354DC-221E-4395-B206-B15661733B30}"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B354DC-221E-4395-B206-B15661733B30}"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E4D4DCC4-475E-4005-869B-F9A48EB20B4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4E8342-9211-4BDC-A5DB-2B19F06AD0B7}"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4D4DCC4-475E-4005-869B-F9A48EB20B4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4E8342-9211-4BDC-A5DB-2B19F06AD0B7}"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E4D4DCC4-475E-4005-869B-F9A48EB20B4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4E8342-9211-4BDC-A5DB-2B19F06AD0B7}"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E4D4DCC4-475E-4005-869B-F9A48EB20B42}"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4E8342-9211-4BDC-A5DB-2B19F06AD0B7}"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E4D4DCC4-475E-4005-869B-F9A48EB20B42}"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64E8342-9211-4BDC-A5DB-2B19F06AD0B7}"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E4D4DCC4-475E-4005-869B-F9A48EB20B42}"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64E8342-9211-4BDC-A5DB-2B19F06AD0B7}"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D4DCC4-475E-4005-869B-F9A48EB20B42}"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64E8342-9211-4BDC-A5DB-2B19F06AD0B7}"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E4D4DCC4-475E-4005-869B-F9A48EB20B42}"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4E8342-9211-4BDC-A5DB-2B19F06AD0B7}"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E4D4DCC4-475E-4005-869B-F9A48EB20B42}"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4E8342-9211-4BDC-A5DB-2B19F06AD0B7}"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4D4DCC4-475E-4005-869B-F9A48EB20B4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4E8342-9211-4BDC-A5DB-2B19F06AD0B7}"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4D4DCC4-475E-4005-869B-F9A48EB20B4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4E8342-9211-4BDC-A5DB-2B19F06AD0B7}"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4D4DCC4-475E-4005-869B-F9A48EB20B42}"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4E8342-9211-4BDC-A5DB-2B19F06AD0B7}"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90363" y="1808807"/>
            <a:ext cx="9886122" cy="2387600"/>
          </a:xfrm>
        </p:spPr>
        <p:txBody>
          <a:bodyPr>
            <a:normAutofit fontScale="90000"/>
          </a:bodyPr>
          <a:lstStyle/>
          <a:p>
            <a:r>
              <a:rPr lang="en-US" b="1" dirty="0">
                <a:solidFill>
                  <a:schemeClr val="accent6"/>
                </a:solidFill>
              </a:rPr>
              <a:t>Fundamentals of Bigdata Analytics and Business Intelligence(BI)</a:t>
            </a:r>
            <a:endParaRPr lang="en-US" b="1" dirty="0">
              <a:solidFill>
                <a:schemeClr val="accent6"/>
              </a:solidFill>
            </a:endParaRPr>
          </a:p>
        </p:txBody>
      </p:sp>
      <p:sp>
        <p:nvSpPr>
          <p:cNvPr id="3" name="Subtitle 2"/>
          <p:cNvSpPr>
            <a:spLocks noGrp="1"/>
          </p:cNvSpPr>
          <p:nvPr>
            <p:ph type="subTitle" idx="1"/>
          </p:nvPr>
        </p:nvSpPr>
        <p:spPr>
          <a:xfrm>
            <a:off x="1665055" y="4421728"/>
            <a:ext cx="9511430" cy="1655762"/>
          </a:xfrm>
        </p:spPr>
        <p:txBody>
          <a:bodyPr>
            <a:normAutofit/>
          </a:bodyPr>
          <a:lstStyle/>
          <a:p>
            <a:r>
              <a:rPr lang="en-US" sz="4000" b="1" dirty="0">
                <a:solidFill>
                  <a:srgbClr val="FF0000"/>
                </a:solidFill>
              </a:rPr>
              <a:t>Chapter 1 </a:t>
            </a:r>
            <a:r>
              <a:rPr lang="en-US" sz="4000" dirty="0">
                <a:solidFill>
                  <a:srgbClr val="FF0000"/>
                </a:solidFill>
              </a:rPr>
              <a:t>: </a:t>
            </a:r>
            <a:r>
              <a:rPr lang="en-US" sz="4000" b="1" dirty="0">
                <a:solidFill>
                  <a:srgbClr val="FF0000"/>
                </a:solidFill>
                <a:effectLst/>
                <a:ea typeface="Calibri" panose="020F0502020204030204" pitchFamily="34" charset="0"/>
              </a:rPr>
              <a:t>Foundation of Data Analytics &amp; Python Programming</a:t>
            </a:r>
            <a:endParaRPr lang="en-US" sz="4000" dirty="0">
              <a:solidFill>
                <a:srgbClr val="FF0000"/>
              </a:solidFill>
            </a:endParaRPr>
          </a:p>
        </p:txBody>
      </p:sp>
      <p:pic>
        <p:nvPicPr>
          <p:cNvPr id="5" name="Picture 4"/>
          <p:cNvPicPr>
            <a:picLocks noChangeAspect="1"/>
          </p:cNvPicPr>
          <p:nvPr/>
        </p:nvPicPr>
        <p:blipFill>
          <a:blip r:embed="rId1"/>
          <a:stretch>
            <a:fillRect/>
          </a:stretch>
        </p:blipFill>
        <p:spPr>
          <a:xfrm>
            <a:off x="215629" y="217738"/>
            <a:ext cx="4130902" cy="225123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225679"/>
          </a:xfrm>
        </p:spPr>
        <p:txBody>
          <a:bodyPr/>
          <a:lstStyle/>
          <a:p>
            <a:r>
              <a:rPr lang="en-US" b="1" dirty="0"/>
              <a:t>Def:</a:t>
            </a:r>
            <a:endParaRPr lang="en-US" b="1" dirty="0"/>
          </a:p>
        </p:txBody>
      </p:sp>
      <p:sp>
        <p:nvSpPr>
          <p:cNvPr id="3" name="Content Placeholder 2"/>
          <p:cNvSpPr>
            <a:spLocks noGrp="1"/>
          </p:cNvSpPr>
          <p:nvPr>
            <p:ph idx="1"/>
          </p:nvPr>
        </p:nvSpPr>
        <p:spPr>
          <a:xfrm>
            <a:off x="838200" y="1590804"/>
            <a:ext cx="10515600" cy="4351338"/>
          </a:xfrm>
        </p:spPr>
        <p:txBody>
          <a:bodyPr/>
          <a:lstStyle/>
          <a:p>
            <a:pPr algn="just"/>
            <a:r>
              <a:rPr lang="en-US" b="1" dirty="0">
                <a:solidFill>
                  <a:srgbClr val="FF0000"/>
                </a:solidFill>
              </a:rPr>
              <a:t>Data Analytics </a:t>
            </a:r>
            <a:r>
              <a:rPr lang="en-US" dirty="0"/>
              <a:t>is the process of examining data sets to draw conclusions about the information they contain, often with specialized systems and software.</a:t>
            </a:r>
            <a:endParaRPr lang="en-US" dirty="0"/>
          </a:p>
          <a:p>
            <a:pPr algn="just"/>
            <a:r>
              <a:rPr lang="en-US" dirty="0"/>
              <a:t>Data Analytics isn't new, but its scale is. It started with simple reports, but the explosion of cheap computing and data storage pushed us into the current era of </a:t>
            </a:r>
            <a:r>
              <a:rPr lang="en-US" b="1" dirty="0"/>
              <a:t>Big Data</a:t>
            </a:r>
            <a:r>
              <a:rPr lang="en-US" dirty="0"/>
              <a:t>. The concept is simple: moving from gut-feeling or experience-based decisions to </a:t>
            </a:r>
            <a:r>
              <a:rPr lang="en-US" b="1" dirty="0"/>
              <a:t>fact-based management</a:t>
            </a:r>
            <a:r>
              <a:rPr lang="en-US" dirty="0"/>
              <a:t> using data and rigorous analysis. This discipline is now core to strategic decision-making in every sector."</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583" y="214812"/>
            <a:ext cx="10515600" cy="724639"/>
          </a:xfrm>
        </p:spPr>
        <p:txBody>
          <a:bodyPr>
            <a:noAutofit/>
          </a:bodyPr>
          <a:lstStyle/>
          <a:p>
            <a:pPr algn="ctr"/>
            <a:r>
              <a:rPr lang="en-US" sz="3600" b="1" dirty="0">
                <a:solidFill>
                  <a:srgbClr val="FF0000"/>
                </a:solidFill>
              </a:rPr>
              <a:t>The Analytical Imperative: From Data to Decisions</a:t>
            </a:r>
            <a:endParaRPr lang="en-US" sz="3600" b="1" dirty="0">
              <a:solidFill>
                <a:srgbClr val="FF0000"/>
              </a:solidFill>
            </a:endParaRPr>
          </a:p>
        </p:txBody>
      </p:sp>
      <p:sp>
        <p:nvSpPr>
          <p:cNvPr id="3" name="Content Placeholder 2"/>
          <p:cNvSpPr>
            <a:spLocks noGrp="1"/>
          </p:cNvSpPr>
          <p:nvPr>
            <p:ph idx="1"/>
          </p:nvPr>
        </p:nvSpPr>
        <p:spPr>
          <a:xfrm>
            <a:off x="563671" y="1052186"/>
            <a:ext cx="11273425" cy="5440689"/>
          </a:xfrm>
        </p:spPr>
        <p:txBody>
          <a:bodyPr>
            <a:normAutofit/>
          </a:bodyPr>
          <a:lstStyle/>
          <a:p>
            <a:pPr algn="just">
              <a:buFont typeface="Arial" panose="020B0604020202020204" pitchFamily="34" charset="0"/>
              <a:buChar char="•"/>
            </a:pPr>
            <a:r>
              <a:rPr lang="en-US" b="1" dirty="0"/>
              <a:t>Introduction &amp; Concept:</a:t>
            </a:r>
            <a:r>
              <a:rPr lang="en-US" dirty="0"/>
              <a:t> Fact-based management using data, statistics, and models to drive decisions.</a:t>
            </a:r>
            <a:endParaRPr lang="en-US" dirty="0"/>
          </a:p>
          <a:p>
            <a:pPr algn="just">
              <a:buFont typeface="Arial" panose="020B0604020202020204" pitchFamily="34" charset="0"/>
              <a:buChar char="•"/>
            </a:pPr>
            <a:r>
              <a:rPr lang="en-US" b="1" dirty="0"/>
              <a:t>Evolution:</a:t>
            </a:r>
            <a:r>
              <a:rPr lang="en-US" dirty="0"/>
              <a:t> Shift from traditional Reporting (What happened?) to advanced Predictive &amp; Prescriptive modeling (What will happen? What should we do?).</a:t>
            </a:r>
            <a:endParaRPr lang="en-US" dirty="0"/>
          </a:p>
          <a:p>
            <a:pPr algn="just">
              <a:buFont typeface="Arial" panose="020B0604020202020204" pitchFamily="34" charset="0"/>
              <a:buChar char="•"/>
            </a:pPr>
            <a:r>
              <a:rPr lang="en-US" dirty="0"/>
              <a:t>Started with simple reporting (late 20th century) </a:t>
            </a:r>
            <a:r>
              <a:rPr lang="en-US" dirty="0">
                <a:sym typeface="Wingdings" panose="05000000000000000000" pitchFamily="2" charset="2"/>
              </a:rPr>
              <a:t></a:t>
            </a:r>
            <a:r>
              <a:rPr lang="en-US" dirty="0"/>
              <a:t>advanced to BI/Data Warehousing </a:t>
            </a:r>
            <a:r>
              <a:rPr lang="en-US" dirty="0">
                <a:sym typeface="Wingdings" panose="05000000000000000000" pitchFamily="2" charset="2"/>
              </a:rPr>
              <a:t></a:t>
            </a:r>
            <a:r>
              <a:rPr lang="en-US" dirty="0"/>
              <a:t>current era of Big Data and AI-driven insights.</a:t>
            </a:r>
            <a:endParaRPr lang="en-US" dirty="0"/>
          </a:p>
          <a:p>
            <a:pPr algn="just">
              <a:buFont typeface="Arial" panose="020B0604020202020204" pitchFamily="34" charset="0"/>
              <a:buChar char="•"/>
            </a:pPr>
            <a:r>
              <a:rPr lang="en-US" b="1" dirty="0"/>
              <a:t>Scopes:</a:t>
            </a:r>
            <a:r>
              <a:rPr lang="en-US" dirty="0"/>
              <a:t> Pervasive across all business functions (Marketing, Finance, Operations, HR) and industries (Healthcare, sports, Retail, Government).</a:t>
            </a:r>
            <a:endParaRPr lang="en-US" dirty="0"/>
          </a:p>
          <a:p>
            <a:pPr algn="just">
              <a:buFont typeface="Arial" panose="020B0604020202020204" pitchFamily="34" charset="0"/>
              <a:buChar char="•"/>
            </a:pPr>
            <a:r>
              <a:rPr lang="en-US" b="1" dirty="0"/>
              <a:t>The Big Picture:</a:t>
            </a:r>
            <a:r>
              <a:rPr lang="en-US" dirty="0"/>
              <a:t> Big Data Analytics is the infrastructure and process; Business Intelligence (BI) is the output and presentation layer.</a:t>
            </a:r>
            <a:endParaRPr lang="en-US" sz="3200" dirty="0"/>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583" y="214812"/>
            <a:ext cx="10515600" cy="724639"/>
          </a:xfrm>
        </p:spPr>
        <p:txBody>
          <a:bodyPr>
            <a:noAutofit/>
          </a:bodyPr>
          <a:lstStyle/>
          <a:p>
            <a:r>
              <a:rPr lang="en-US" b="1" dirty="0">
                <a:solidFill>
                  <a:srgbClr val="FF0000"/>
                </a:solidFill>
              </a:rPr>
              <a:t>Cont..</a:t>
            </a:r>
            <a:endParaRPr lang="en-US" b="1" dirty="0">
              <a:solidFill>
                <a:srgbClr val="FF0000"/>
              </a:solidFill>
            </a:endParaRPr>
          </a:p>
        </p:txBody>
      </p:sp>
      <p:sp>
        <p:nvSpPr>
          <p:cNvPr id="3" name="Content Placeholder 2"/>
          <p:cNvSpPr>
            <a:spLocks noGrp="1"/>
          </p:cNvSpPr>
          <p:nvPr>
            <p:ph idx="1"/>
          </p:nvPr>
        </p:nvSpPr>
        <p:spPr>
          <a:xfrm>
            <a:off x="563671" y="1052186"/>
            <a:ext cx="11273425" cy="5440689"/>
          </a:xfrm>
        </p:spPr>
        <p:txBody>
          <a:bodyPr>
            <a:normAutofit/>
          </a:bodyPr>
          <a:lstStyle/>
          <a:p>
            <a:pPr algn="just">
              <a:buFont typeface="Arial" panose="020B0604020202020204" pitchFamily="34" charset="0"/>
              <a:buChar char="•"/>
            </a:pPr>
            <a:r>
              <a:rPr lang="en-US" dirty="0"/>
              <a:t>In the modern business landscape, we are witnessing a dramatic shift, where operational decisions are moving away from traditional reliance on intuition or simple experience toward a system of </a:t>
            </a:r>
            <a:r>
              <a:rPr lang="en-US" b="1" dirty="0"/>
              <a:t>fact-based management</a:t>
            </a:r>
            <a:r>
              <a:rPr lang="en-US" dirty="0"/>
              <a:t>.</a:t>
            </a:r>
            <a:endParaRPr lang="en-US" dirty="0"/>
          </a:p>
          <a:p>
            <a:pPr algn="just">
              <a:buFont typeface="Arial" panose="020B0604020202020204" pitchFamily="34" charset="0"/>
              <a:buChar char="•"/>
            </a:pPr>
            <a:r>
              <a:rPr lang="en-US" dirty="0"/>
              <a:t>At the heart of this transformation is </a:t>
            </a:r>
            <a:r>
              <a:rPr lang="en-US" b="1" dirty="0"/>
              <a:t>Data Analytics</a:t>
            </a:r>
            <a:r>
              <a:rPr lang="en-US" dirty="0"/>
              <a:t>, which we define as the extensive use of data, statistical methodologies, and quantitative models to generate actionable insights.</a:t>
            </a:r>
            <a:endParaRPr lang="en-US" dirty="0"/>
          </a:p>
          <a:p>
            <a:pPr algn="just">
              <a:buFont typeface="Arial" panose="020B0604020202020204" pitchFamily="34" charset="0"/>
              <a:buChar char="•"/>
            </a:pPr>
            <a:r>
              <a:rPr lang="en-US" dirty="0"/>
              <a:t>This field has exploded in relevance due to two major factors: the rise of affordable </a:t>
            </a:r>
            <a:r>
              <a:rPr lang="en-US" b="1" dirty="0"/>
              <a:t>cloud computing</a:t>
            </a:r>
            <a:r>
              <a:rPr lang="en-US" dirty="0"/>
              <a:t> and the massive scale of data acquisition, which ushered in the 'Big Data' era, making sophisticated analysis technically and economically feasible for virtually any organization. </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583" y="214812"/>
            <a:ext cx="10515600" cy="724639"/>
          </a:xfrm>
        </p:spPr>
        <p:txBody>
          <a:bodyPr>
            <a:noAutofit/>
          </a:bodyPr>
          <a:lstStyle/>
          <a:p>
            <a:r>
              <a:rPr lang="en-US" b="1" dirty="0">
                <a:solidFill>
                  <a:srgbClr val="FF0000"/>
                </a:solidFill>
              </a:rPr>
              <a:t>Cont..</a:t>
            </a:r>
            <a:endParaRPr lang="en-US" b="1" dirty="0">
              <a:solidFill>
                <a:srgbClr val="FF0000"/>
              </a:solidFill>
            </a:endParaRPr>
          </a:p>
        </p:txBody>
      </p:sp>
      <p:sp>
        <p:nvSpPr>
          <p:cNvPr id="3" name="Content Placeholder 2"/>
          <p:cNvSpPr>
            <a:spLocks noGrp="1"/>
          </p:cNvSpPr>
          <p:nvPr>
            <p:ph idx="1"/>
          </p:nvPr>
        </p:nvSpPr>
        <p:spPr>
          <a:xfrm>
            <a:off x="563671" y="1052186"/>
            <a:ext cx="11273425" cy="5440689"/>
          </a:xfrm>
        </p:spPr>
        <p:txBody>
          <a:bodyPr>
            <a:normAutofit/>
          </a:bodyPr>
          <a:lstStyle/>
          <a:p>
            <a:pPr algn="just">
              <a:buFont typeface="Arial" panose="020B0604020202020204" pitchFamily="34" charset="0"/>
              <a:buChar char="•"/>
            </a:pPr>
            <a:r>
              <a:rPr lang="en-US" sz="3200" dirty="0"/>
              <a:t>Consequently, the scope of data analytics is massive and essential across every domain, from optimizing complex logistical routes in a global </a:t>
            </a:r>
            <a:r>
              <a:rPr lang="en-US" sz="3200" b="1" dirty="0"/>
              <a:t>supply chain (Operations)</a:t>
            </a:r>
            <a:r>
              <a:rPr lang="en-US" sz="3200" dirty="0"/>
              <a:t> to accurately predicting which customers are most likely to leave the service </a:t>
            </a:r>
            <a:r>
              <a:rPr lang="en-US" sz="3200" b="1" dirty="0"/>
              <a:t>(Marketing)</a:t>
            </a:r>
            <a:r>
              <a:rPr lang="en-US" sz="3200" dirty="0"/>
              <a:t>.“</a:t>
            </a:r>
            <a:endParaRPr lang="en-US" sz="3200" dirty="0"/>
          </a:p>
          <a:p>
            <a:pPr algn="just">
              <a:buFont typeface="Arial" panose="020B0604020202020204" pitchFamily="34" charset="0"/>
              <a:buChar char="•"/>
            </a:pPr>
            <a:endParaRPr lang="en-US" sz="3200" dirty="0"/>
          </a:p>
          <a:p>
            <a:pPr algn="just">
              <a:buFont typeface="Arial" panose="020B0604020202020204" pitchFamily="34" charset="0"/>
              <a:buChar char="•"/>
            </a:pPr>
            <a:r>
              <a:rPr lang="en-US" sz="3200" b="1" dirty="0">
                <a:solidFill>
                  <a:srgbClr val="FF0000"/>
                </a:solidFill>
              </a:rPr>
              <a:t>What is Data?</a:t>
            </a:r>
            <a:endParaRPr lang="en-US" sz="3200" b="1" dirty="0">
              <a:solidFill>
                <a:srgbClr val="FF0000"/>
              </a:solidFill>
            </a:endParaRPr>
          </a:p>
          <a:p>
            <a:pPr algn="just">
              <a:buFont typeface="Arial" panose="020B0604020202020204" pitchFamily="34" charset="0"/>
              <a:buChar char="•"/>
            </a:pPr>
            <a:r>
              <a:rPr lang="en-US" sz="3200" dirty="0"/>
              <a:t>The quantities, characters, or symbols on which operations are performed by a computer, which may be stored and transmitted in the form of electrical signals and recorded on magnetic, optical, or mechanical recording media.</a:t>
            </a:r>
            <a:endParaRPr lang="en-US" sz="3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583" y="214812"/>
            <a:ext cx="10515600" cy="724639"/>
          </a:xfrm>
        </p:spPr>
        <p:txBody>
          <a:bodyPr>
            <a:noAutofit/>
          </a:bodyPr>
          <a:lstStyle/>
          <a:p>
            <a:pPr algn="ctr"/>
            <a:r>
              <a:rPr lang="en-US" sz="3600" b="1" i="0" u="none" strike="noStrike" baseline="0" dirty="0">
                <a:solidFill>
                  <a:srgbClr val="FF0000"/>
                </a:solidFill>
              </a:rPr>
              <a:t>Define Data, characteristics of data?</a:t>
            </a:r>
            <a:endParaRPr lang="en-US" sz="7200" b="1" dirty="0">
              <a:solidFill>
                <a:srgbClr val="FF0000"/>
              </a:solidFill>
            </a:endParaRPr>
          </a:p>
        </p:txBody>
      </p:sp>
      <p:sp>
        <p:nvSpPr>
          <p:cNvPr id="3" name="Content Placeholder 2"/>
          <p:cNvSpPr>
            <a:spLocks noGrp="1"/>
          </p:cNvSpPr>
          <p:nvPr>
            <p:ph idx="1"/>
          </p:nvPr>
        </p:nvSpPr>
        <p:spPr>
          <a:xfrm>
            <a:off x="563671" y="939452"/>
            <a:ext cx="11273425" cy="5799552"/>
          </a:xfrm>
        </p:spPr>
        <p:txBody>
          <a:bodyPr>
            <a:normAutofit lnSpcReduction="10000"/>
          </a:bodyPr>
          <a:lstStyle/>
          <a:p>
            <a:pPr algn="just"/>
            <a:r>
              <a:rPr lang="en-US" b="0" i="0" u="none" strike="noStrike" baseline="0" dirty="0">
                <a:solidFill>
                  <a:srgbClr val="000000"/>
                </a:solidFill>
              </a:rPr>
              <a:t>Data is a collection of details in the form of either figures or texts or symbols, or descriptions etc. </a:t>
            </a:r>
            <a:endParaRPr lang="en-US" b="0" i="0" u="none" strike="noStrike" baseline="0" dirty="0">
              <a:solidFill>
                <a:srgbClr val="000000"/>
              </a:solidFill>
            </a:endParaRPr>
          </a:p>
          <a:p>
            <a:pPr algn="just"/>
            <a:r>
              <a:rPr lang="en-US" b="0" i="0" u="none" strike="noStrike" baseline="0" dirty="0">
                <a:solidFill>
                  <a:srgbClr val="000000"/>
                </a:solidFill>
              </a:rPr>
              <a:t>Data contains </a:t>
            </a:r>
            <a:r>
              <a:rPr lang="en-US" b="0" i="0" u="none" strike="noStrike" baseline="0" dirty="0">
                <a:solidFill>
                  <a:srgbClr val="FF0000"/>
                </a:solidFill>
              </a:rPr>
              <a:t>raw figures and facts</a:t>
            </a:r>
            <a:r>
              <a:rPr lang="en-US" b="0" i="0" u="none" strike="noStrike" baseline="0" dirty="0">
                <a:solidFill>
                  <a:srgbClr val="000000"/>
                </a:solidFill>
              </a:rPr>
              <a:t>. Information unlike data provides </a:t>
            </a:r>
            <a:r>
              <a:rPr lang="en-US" b="0" i="0" u="none" strike="noStrike" baseline="0" dirty="0">
                <a:solidFill>
                  <a:srgbClr val="FF0000"/>
                </a:solidFill>
              </a:rPr>
              <a:t>insights analyzed through the data collected</a:t>
            </a:r>
            <a:r>
              <a:rPr lang="en-US" b="0" i="0" u="none" strike="noStrike" baseline="0" dirty="0">
                <a:solidFill>
                  <a:srgbClr val="000000"/>
                </a:solidFill>
              </a:rPr>
              <a:t>. </a:t>
            </a:r>
            <a:endParaRPr lang="en-US" b="0" i="0" u="none" strike="noStrike" baseline="0" dirty="0">
              <a:solidFill>
                <a:srgbClr val="000000"/>
              </a:solidFill>
            </a:endParaRPr>
          </a:p>
          <a:p>
            <a:pPr algn="just"/>
            <a:r>
              <a:rPr lang="en-US" i="0" u="none" strike="noStrike" baseline="0" dirty="0">
                <a:solidFill>
                  <a:srgbClr val="000000"/>
                </a:solidFill>
              </a:rPr>
              <a:t>Data has 3 characteristics:</a:t>
            </a:r>
            <a:endParaRPr lang="en-US" i="0" u="none" strike="noStrike" baseline="0" dirty="0">
              <a:solidFill>
                <a:srgbClr val="000000"/>
              </a:solidFill>
            </a:endParaRPr>
          </a:p>
          <a:p>
            <a:pPr marL="0" indent="0" algn="just">
              <a:buNone/>
            </a:pPr>
            <a:r>
              <a:rPr lang="en-US" b="0" i="0" u="none" strike="noStrike" baseline="0" dirty="0">
                <a:solidFill>
                  <a:srgbClr val="000000"/>
                </a:solidFill>
              </a:rPr>
              <a:t>1. </a:t>
            </a:r>
            <a:r>
              <a:rPr lang="en-US" b="1" i="0" u="none" strike="noStrike" baseline="0" dirty="0">
                <a:solidFill>
                  <a:srgbClr val="000000"/>
                </a:solidFill>
              </a:rPr>
              <a:t>Composition</a:t>
            </a:r>
            <a:r>
              <a:rPr lang="en-US" b="0" i="0" u="none" strike="noStrike" baseline="0" dirty="0">
                <a:solidFill>
                  <a:srgbClr val="000000"/>
                </a:solidFill>
              </a:rPr>
              <a:t>: The composition of data deals with the structure of data, </a:t>
            </a:r>
            <a:r>
              <a:rPr lang="en-US" b="0" i="0" u="none" strike="noStrike" baseline="0" dirty="0" err="1">
                <a:solidFill>
                  <a:srgbClr val="000000"/>
                </a:solidFill>
              </a:rPr>
              <a:t>i.e</a:t>
            </a:r>
            <a:r>
              <a:rPr lang="en-US" b="0" i="0" u="none" strike="noStrike" baseline="0" dirty="0">
                <a:solidFill>
                  <a:srgbClr val="000000"/>
                </a:solidFill>
              </a:rPr>
              <a:t>; the sources of data, the granularity/detail/</a:t>
            </a:r>
            <a:r>
              <a:rPr lang="en-US" b="0" i="0" dirty="0">
                <a:solidFill>
                  <a:srgbClr val="040C28"/>
                </a:solidFill>
                <a:effectLst/>
                <a:latin typeface="Google Sans"/>
              </a:rPr>
              <a:t>precision</a:t>
            </a:r>
            <a:r>
              <a:rPr lang="en-US" b="0" i="0" u="none" strike="noStrike" baseline="0" dirty="0">
                <a:solidFill>
                  <a:srgbClr val="000000"/>
                </a:solidFill>
              </a:rPr>
              <a:t>, the types and nature of data as to whether it is static or real time streaming.</a:t>
            </a:r>
            <a:endParaRPr lang="en-US" b="0" i="0" u="none" strike="noStrike" baseline="0" dirty="0">
              <a:solidFill>
                <a:srgbClr val="000000"/>
              </a:solidFill>
            </a:endParaRPr>
          </a:p>
          <a:p>
            <a:pPr marL="0" indent="0" algn="just">
              <a:buNone/>
            </a:pPr>
            <a:r>
              <a:rPr lang="en-US" b="0" i="0" u="none" strike="noStrike" baseline="0" dirty="0">
                <a:solidFill>
                  <a:srgbClr val="000000"/>
                </a:solidFill>
              </a:rPr>
              <a:t>2. </a:t>
            </a:r>
            <a:r>
              <a:rPr lang="en-US" b="1" i="0" u="none" strike="noStrike" baseline="0" dirty="0">
                <a:solidFill>
                  <a:srgbClr val="000000"/>
                </a:solidFill>
              </a:rPr>
              <a:t>Condition</a:t>
            </a:r>
            <a:r>
              <a:rPr lang="en-US" b="0" i="0" u="none" strike="noStrike" baseline="0" dirty="0">
                <a:solidFill>
                  <a:srgbClr val="000000"/>
                </a:solidFill>
              </a:rPr>
              <a:t>: The condition of data deals with the state of data, </a:t>
            </a:r>
            <a:r>
              <a:rPr lang="en-US" b="0" i="0" u="none" strike="noStrike" baseline="0" dirty="0" err="1">
                <a:solidFill>
                  <a:srgbClr val="000000"/>
                </a:solidFill>
              </a:rPr>
              <a:t>i.e</a:t>
            </a:r>
            <a:r>
              <a:rPr lang="en-US" b="0" i="0" u="none" strike="noStrike" baseline="0" dirty="0">
                <a:solidFill>
                  <a:srgbClr val="000000"/>
                </a:solidFill>
              </a:rPr>
              <a:t>; “Can one use this data as is for analysis?” or “Does it require cleaning for further enhancement and enrichment?” data?”</a:t>
            </a:r>
            <a:endParaRPr lang="en-US" b="0" i="0" u="none" strike="noStrike" baseline="0" dirty="0">
              <a:solidFill>
                <a:srgbClr val="000000"/>
              </a:solidFill>
            </a:endParaRPr>
          </a:p>
          <a:p>
            <a:pPr marL="0" indent="0" algn="just">
              <a:buNone/>
            </a:pPr>
            <a:r>
              <a:rPr lang="en-US" b="0" i="0" u="none" strike="noStrike" baseline="0" dirty="0">
                <a:solidFill>
                  <a:srgbClr val="000000"/>
                </a:solidFill>
              </a:rPr>
              <a:t>3. </a:t>
            </a:r>
            <a:r>
              <a:rPr lang="en-US" b="1" i="0" u="none" strike="noStrike" baseline="0" dirty="0">
                <a:solidFill>
                  <a:srgbClr val="000000"/>
                </a:solidFill>
              </a:rPr>
              <a:t>Context</a:t>
            </a:r>
            <a:r>
              <a:rPr lang="en-US" b="0" i="0" u="none" strike="noStrike" baseline="0" dirty="0">
                <a:solidFill>
                  <a:srgbClr val="000000"/>
                </a:solidFill>
              </a:rPr>
              <a:t>: The context of data deals with “Where has this data been generated?”. “Why was this data generated?”, “How sensitive is this data?”, “What are the events associated with this”.</a:t>
            </a:r>
            <a:endParaRPr lang="en-US" b="0" i="0" u="none" strike="noStrike" baseline="0" dirty="0">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583" y="214812"/>
            <a:ext cx="10515600" cy="724639"/>
          </a:xfrm>
        </p:spPr>
        <p:txBody>
          <a:bodyPr>
            <a:noAutofit/>
          </a:bodyPr>
          <a:lstStyle/>
          <a:p>
            <a:pPr algn="ctr"/>
            <a:r>
              <a:rPr lang="en-US" sz="3200" b="1" i="0" u="none" strike="noStrike" baseline="0" dirty="0">
                <a:solidFill>
                  <a:srgbClr val="FF0000"/>
                </a:solidFill>
              </a:rPr>
              <a:t>What is digital data? Explain different types of digital data.</a:t>
            </a:r>
            <a:endParaRPr lang="en-US" sz="6600" b="1" dirty="0">
              <a:solidFill>
                <a:srgbClr val="FF0000"/>
              </a:solidFill>
            </a:endParaRPr>
          </a:p>
        </p:txBody>
      </p:sp>
      <p:sp>
        <p:nvSpPr>
          <p:cNvPr id="3" name="Content Placeholder 2"/>
          <p:cNvSpPr>
            <a:spLocks noGrp="1"/>
          </p:cNvSpPr>
          <p:nvPr>
            <p:ph idx="1"/>
          </p:nvPr>
        </p:nvSpPr>
        <p:spPr>
          <a:xfrm>
            <a:off x="563671" y="939452"/>
            <a:ext cx="11273425" cy="5799552"/>
          </a:xfrm>
        </p:spPr>
        <p:txBody>
          <a:bodyPr>
            <a:normAutofit/>
          </a:bodyPr>
          <a:lstStyle/>
          <a:p>
            <a:pPr algn="just"/>
            <a:r>
              <a:rPr lang="en-US" b="0" i="0" u="none" strike="noStrike" baseline="0" dirty="0">
                <a:solidFill>
                  <a:srgbClr val="000000"/>
                </a:solidFill>
                <a:latin typeface="Bookman Old Style" panose="02050604050505020204" pitchFamily="18" charset="0"/>
              </a:rPr>
              <a:t>The data that is stored using specific machine language systems which can be interpreted by various technologies is called digital data.</a:t>
            </a:r>
            <a:endParaRPr lang="en-US" b="0" i="0" u="none" strike="noStrike" baseline="0" dirty="0">
              <a:solidFill>
                <a:srgbClr val="000000"/>
              </a:solidFill>
              <a:latin typeface="Bookman Old Style" panose="02050604050505020204" pitchFamily="18" charset="0"/>
            </a:endParaRPr>
          </a:p>
          <a:p>
            <a:pPr algn="just"/>
            <a:r>
              <a:rPr lang="en-US" b="0" i="0" u="none" strike="noStrike" baseline="0" dirty="0" err="1">
                <a:solidFill>
                  <a:srgbClr val="000000"/>
                </a:solidFill>
                <a:latin typeface="Bookman Old Style" panose="02050604050505020204" pitchFamily="18" charset="0"/>
              </a:rPr>
              <a:t>Eg.</a:t>
            </a:r>
            <a:r>
              <a:rPr lang="en-US" b="0" i="0" u="none" strike="noStrike" baseline="0" dirty="0">
                <a:solidFill>
                  <a:srgbClr val="000000"/>
                </a:solidFill>
                <a:latin typeface="Bookman Old Style" panose="02050604050505020204" pitchFamily="18" charset="0"/>
              </a:rPr>
              <a:t> Audio, video or text information</a:t>
            </a:r>
            <a:endParaRPr lang="en-US" b="0" i="0" u="none" strike="noStrike" baseline="0" dirty="0">
              <a:solidFill>
                <a:srgbClr val="000000"/>
              </a:solidFill>
              <a:latin typeface="Bookman Old Style" panose="02050604050505020204" pitchFamily="18" charset="0"/>
            </a:endParaRPr>
          </a:p>
          <a:p>
            <a:pPr algn="just"/>
            <a:r>
              <a:rPr lang="en-US" b="0" i="0" u="none" strike="noStrike" baseline="0" dirty="0">
                <a:solidFill>
                  <a:srgbClr val="000000"/>
                </a:solidFill>
                <a:latin typeface="Bookman Old Style" panose="02050604050505020204" pitchFamily="18" charset="0"/>
              </a:rPr>
              <a:t>Digital Data is classified into three types:</a:t>
            </a:r>
            <a:endParaRPr lang="en-US" sz="1800" b="0" i="0" u="none" strike="noStrike" baseline="0" dirty="0">
              <a:solidFill>
                <a:srgbClr val="000000"/>
              </a:solidFill>
              <a:latin typeface="Bookman Old Style" panose="02050604050505020204" pitchFamily="18" charset="0"/>
            </a:endParaRPr>
          </a:p>
          <a:p>
            <a:r>
              <a:rPr lang="en-US" sz="2400" b="1" i="0" u="none" strike="noStrike" baseline="0" dirty="0">
                <a:solidFill>
                  <a:srgbClr val="000000"/>
                </a:solidFill>
                <a:latin typeface="Bookman Old Style" panose="02050604050505020204" pitchFamily="18" charset="0"/>
              </a:rPr>
              <a:t>1. Structured Data:- </a:t>
            </a:r>
            <a:r>
              <a:rPr lang="en-US" sz="2400" b="0" i="0" u="none" strike="noStrike" baseline="0" dirty="0">
                <a:solidFill>
                  <a:srgbClr val="000000"/>
                </a:solidFill>
                <a:latin typeface="Bookman Old Style" panose="02050604050505020204" pitchFamily="18" charset="0"/>
              </a:rPr>
              <a:t>This is the data which is in an organized form, for example in rows and columns. No of rows called Cardinality and No of columns called Degree of a relation </a:t>
            </a:r>
            <a:r>
              <a:rPr lang="en-US" sz="2400" b="1" i="0" u="none" strike="noStrike" baseline="0" dirty="0">
                <a:solidFill>
                  <a:srgbClr val="000000"/>
                </a:solidFill>
                <a:latin typeface="Bookman Old Style" panose="02050604050505020204" pitchFamily="18" charset="0"/>
              </a:rPr>
              <a:t>Sources: </a:t>
            </a:r>
            <a:r>
              <a:rPr lang="en-US" sz="2400" b="0" i="0" u="none" strike="noStrike" baseline="0" dirty="0">
                <a:solidFill>
                  <a:srgbClr val="000000"/>
                </a:solidFill>
                <a:latin typeface="Bookman Old Style" panose="02050604050505020204" pitchFamily="18" charset="0"/>
              </a:rPr>
              <a:t>Database, Spread sheets, OLTP systems. </a:t>
            </a:r>
            <a:endParaRPr lang="en-US" sz="2400" b="0" i="0" u="none" strike="noStrike" baseline="0" dirty="0">
              <a:solidFill>
                <a:srgbClr val="000000"/>
              </a:solidFill>
              <a:latin typeface="Bookman Old Style" panose="02050604050505020204" pitchFamily="18" charset="0"/>
            </a:endParaRPr>
          </a:p>
          <a:p>
            <a:r>
              <a:rPr lang="en-US" sz="2400" b="1" i="0" u="none" strike="noStrike" baseline="0" dirty="0">
                <a:solidFill>
                  <a:srgbClr val="000000"/>
                </a:solidFill>
                <a:latin typeface="Bookman Old Style" panose="02050604050505020204" pitchFamily="18" charset="0"/>
              </a:rPr>
              <a:t>2. Semi-Structured Data: </a:t>
            </a:r>
            <a:endParaRPr lang="en-US" sz="2400" b="0" i="0" u="none" strike="noStrike" baseline="0" dirty="0">
              <a:solidFill>
                <a:srgbClr val="000000"/>
              </a:solidFill>
              <a:latin typeface="Bookman Old Style" panose="02050604050505020204" pitchFamily="18" charset="0"/>
            </a:endParaRPr>
          </a:p>
          <a:p>
            <a:r>
              <a:rPr lang="en-US" sz="2400" b="0" i="0" u="none" strike="noStrike" baseline="0" dirty="0">
                <a:solidFill>
                  <a:srgbClr val="000000"/>
                </a:solidFill>
                <a:latin typeface="Bookman Old Style" panose="02050604050505020204" pitchFamily="18" charset="0"/>
              </a:rPr>
              <a:t>This data which doesn’t conform to a data model but has some structure. Metadata for this data is available but is not sufficient. It has inconsistent structure. </a:t>
            </a:r>
            <a:endParaRPr lang="en-US" sz="3200" b="0" i="0" u="none" strike="noStrike" baseline="0" dirty="0">
              <a:solidFill>
                <a:srgbClr val="000000"/>
              </a:solidFill>
              <a:latin typeface="Bookman Old Style" panose="02050604050505020204" pitchFamily="18" charset="0"/>
            </a:endParaRPr>
          </a:p>
          <a:p>
            <a:r>
              <a:rPr lang="en-US" sz="2400" b="1" i="0" u="none" strike="noStrike" baseline="0" dirty="0">
                <a:solidFill>
                  <a:srgbClr val="000000"/>
                </a:solidFill>
                <a:latin typeface="Bookman Old Style" panose="02050604050505020204" pitchFamily="18" charset="0"/>
              </a:rPr>
              <a:t>Sources</a:t>
            </a:r>
            <a:r>
              <a:rPr lang="en-US" sz="2400" b="0" i="0" u="none" strike="noStrike" baseline="0" dirty="0">
                <a:solidFill>
                  <a:srgbClr val="000000"/>
                </a:solidFill>
                <a:latin typeface="Bookman Old Style" panose="02050604050505020204" pitchFamily="18" charset="0"/>
              </a:rPr>
              <a:t>: XML, JSON, E-mail, self describing (label/value pairs) </a:t>
            </a:r>
            <a:endParaRPr lang="en-US" sz="3600" b="0" i="0" u="none" strike="noStrike" baseline="0" dirty="0">
              <a:solidFill>
                <a:srgbClr val="000000"/>
              </a:solidFill>
              <a:latin typeface="Bookman Old Style" panose="020506040505050202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583" y="214812"/>
            <a:ext cx="10515600" cy="724639"/>
          </a:xfrm>
        </p:spPr>
        <p:txBody>
          <a:bodyPr>
            <a:noAutofit/>
          </a:bodyPr>
          <a:lstStyle/>
          <a:p>
            <a:r>
              <a:rPr lang="en-US" sz="3200" b="1" i="0" u="none" strike="noStrike" baseline="0" dirty="0">
                <a:solidFill>
                  <a:srgbClr val="FF0000"/>
                </a:solidFill>
              </a:rPr>
              <a:t>Cont..</a:t>
            </a:r>
            <a:endParaRPr lang="en-US" sz="6600" b="1" dirty="0">
              <a:solidFill>
                <a:srgbClr val="FF0000"/>
              </a:solidFill>
            </a:endParaRPr>
          </a:p>
        </p:txBody>
      </p:sp>
      <p:sp>
        <p:nvSpPr>
          <p:cNvPr id="3" name="Content Placeholder 2"/>
          <p:cNvSpPr>
            <a:spLocks noGrp="1"/>
          </p:cNvSpPr>
          <p:nvPr>
            <p:ph idx="1"/>
          </p:nvPr>
        </p:nvSpPr>
        <p:spPr>
          <a:xfrm>
            <a:off x="563671" y="939452"/>
            <a:ext cx="11273425" cy="5799552"/>
          </a:xfrm>
        </p:spPr>
        <p:txBody>
          <a:bodyPr>
            <a:normAutofit/>
          </a:bodyPr>
          <a:lstStyle/>
          <a:p>
            <a:r>
              <a:rPr lang="en-US" sz="2400" b="1" i="0" u="none" strike="noStrike" baseline="0" dirty="0">
                <a:solidFill>
                  <a:srgbClr val="000000"/>
                </a:solidFill>
                <a:latin typeface="Bookman Old Style" panose="02050604050505020204" pitchFamily="18" charset="0"/>
              </a:rPr>
              <a:t>3. Unstructured Data: </a:t>
            </a:r>
            <a:endParaRPr lang="en-US" sz="2400" b="0" i="0" u="none" strike="noStrike" baseline="0" dirty="0">
              <a:solidFill>
                <a:srgbClr val="000000"/>
              </a:solidFill>
              <a:latin typeface="Bookman Old Style" panose="02050604050505020204" pitchFamily="18" charset="0"/>
            </a:endParaRPr>
          </a:p>
          <a:p>
            <a:r>
              <a:rPr lang="en-US" sz="2400" b="0" i="0" u="none" strike="noStrike" baseline="0" dirty="0">
                <a:solidFill>
                  <a:srgbClr val="000000"/>
                </a:solidFill>
                <a:latin typeface="Bookman Old Style" panose="02050604050505020204" pitchFamily="18" charset="0"/>
              </a:rPr>
              <a:t>This is the data which does not conform to a data model or is not in a form which can be used easily by a computer program. </a:t>
            </a:r>
            <a:endParaRPr lang="en-US" sz="2400" b="0" i="0" u="none" strike="noStrike" baseline="0" dirty="0">
              <a:solidFill>
                <a:srgbClr val="000000"/>
              </a:solidFill>
              <a:latin typeface="Bookman Old Style" panose="02050604050505020204" pitchFamily="18" charset="0"/>
            </a:endParaRPr>
          </a:p>
          <a:p>
            <a:r>
              <a:rPr lang="en-US" sz="2400" b="0" i="0" u="none" strike="noStrike" baseline="0" dirty="0">
                <a:solidFill>
                  <a:srgbClr val="000000"/>
                </a:solidFill>
                <a:latin typeface="Bookman Old Style" panose="02050604050505020204" pitchFamily="18" charset="0"/>
              </a:rPr>
              <a:t>About 80–90% data of an organization is in this format. </a:t>
            </a:r>
            <a:endParaRPr lang="en-US" sz="2400" b="0" i="0" u="none" strike="noStrike" baseline="0" dirty="0">
              <a:solidFill>
                <a:srgbClr val="000000"/>
              </a:solidFill>
              <a:latin typeface="Bookman Old Style" panose="02050604050505020204" pitchFamily="18" charset="0"/>
            </a:endParaRPr>
          </a:p>
          <a:p>
            <a:r>
              <a:rPr lang="en-US" sz="2400" b="1" i="0" u="none" strike="noStrike" baseline="0" dirty="0">
                <a:solidFill>
                  <a:srgbClr val="000000"/>
                </a:solidFill>
                <a:latin typeface="Bookman Old Style" panose="02050604050505020204" pitchFamily="18" charset="0"/>
              </a:rPr>
              <a:t>Sources: </a:t>
            </a:r>
            <a:r>
              <a:rPr lang="en-US" sz="2400" b="0" i="0" u="none" strike="noStrike" baseline="0" dirty="0">
                <a:solidFill>
                  <a:srgbClr val="000000"/>
                </a:solidFill>
                <a:latin typeface="Bookman Old Style" panose="02050604050505020204" pitchFamily="18" charset="0"/>
              </a:rPr>
              <a:t>memos, chat-rooms, PowerPoint presentations, images, videos, letters, researches, white papers, body of an email, etc. </a:t>
            </a:r>
            <a:endParaRPr lang="en-US" sz="2400" b="0" i="0" u="none" strike="noStrike" baseline="0" dirty="0">
              <a:solidFill>
                <a:srgbClr val="000000"/>
              </a:solidFill>
              <a:latin typeface="Bookman Old Style" panose="02050604050505020204" pitchFamily="18" charset="0"/>
            </a:endParaRPr>
          </a:p>
          <a:p>
            <a:r>
              <a:rPr lang="en-US" sz="1800" b="1" i="0" u="none" strike="noStrike" baseline="0" dirty="0">
                <a:solidFill>
                  <a:srgbClr val="000000"/>
                </a:solidFill>
                <a:latin typeface="Bookman Old Style" panose="02050604050505020204" pitchFamily="18" charset="0"/>
              </a:rPr>
              <a:t>Characteristics: </a:t>
            </a:r>
            <a:endParaRPr lang="en-US" sz="1800" b="0" i="0" u="none" strike="noStrike" baseline="0" dirty="0">
              <a:solidFill>
                <a:srgbClr val="000000"/>
              </a:solidFill>
              <a:latin typeface="Bookman Old Style" panose="02050604050505020204" pitchFamily="18" charset="0"/>
            </a:endParaRPr>
          </a:p>
          <a:p>
            <a:r>
              <a:rPr lang="en-US" sz="2400" b="0" i="0" u="none" strike="noStrike" baseline="0" dirty="0">
                <a:solidFill>
                  <a:srgbClr val="000000"/>
                </a:solidFill>
                <a:latin typeface="Bookman Old Style" panose="02050604050505020204" pitchFamily="18" charset="0"/>
              </a:rPr>
              <a:t>Does not confirm to any data model </a:t>
            </a:r>
            <a:endParaRPr lang="en-US" sz="2400" b="0" i="0" u="none" strike="noStrike" baseline="0" dirty="0">
              <a:solidFill>
                <a:srgbClr val="000000"/>
              </a:solidFill>
              <a:latin typeface="Bookman Old Style" panose="02050604050505020204" pitchFamily="18" charset="0"/>
            </a:endParaRPr>
          </a:p>
          <a:p>
            <a:r>
              <a:rPr lang="en-US" sz="2400" b="0" i="0" u="none" strike="noStrike" baseline="0" dirty="0">
                <a:solidFill>
                  <a:srgbClr val="000000"/>
                </a:solidFill>
                <a:latin typeface="Bookman Old Style" panose="02050604050505020204" pitchFamily="18" charset="0"/>
              </a:rPr>
              <a:t>Can’t be stored in the form of rows and columns </a:t>
            </a:r>
            <a:endParaRPr lang="en-US" sz="2400" b="0" i="0" u="none" strike="noStrike" baseline="0" dirty="0">
              <a:solidFill>
                <a:srgbClr val="000000"/>
              </a:solidFill>
              <a:latin typeface="Bookman Old Style" panose="02050604050505020204" pitchFamily="18" charset="0"/>
            </a:endParaRPr>
          </a:p>
          <a:p>
            <a:r>
              <a:rPr lang="en-US" sz="2400" b="0" i="0" u="none" strike="noStrike" baseline="0" dirty="0">
                <a:solidFill>
                  <a:srgbClr val="000000"/>
                </a:solidFill>
                <a:latin typeface="Bookman Old Style" panose="02050604050505020204" pitchFamily="18" charset="0"/>
              </a:rPr>
              <a:t>Not in any particular format or sequence </a:t>
            </a:r>
            <a:endParaRPr lang="en-US" sz="2400" b="0" i="0" u="none" strike="noStrike" baseline="0" dirty="0">
              <a:solidFill>
                <a:srgbClr val="000000"/>
              </a:solidFill>
              <a:latin typeface="Bookman Old Style" panose="02050604050505020204" pitchFamily="18" charset="0"/>
            </a:endParaRPr>
          </a:p>
          <a:p>
            <a:r>
              <a:rPr lang="en-US" sz="2400" b="0" i="0" u="none" strike="noStrike" baseline="0" dirty="0">
                <a:solidFill>
                  <a:srgbClr val="000000"/>
                </a:solidFill>
                <a:latin typeface="Bookman Old Style" panose="02050604050505020204" pitchFamily="18" charset="0"/>
              </a:rPr>
              <a:t>Not easily usable by the program </a:t>
            </a:r>
            <a:endParaRPr lang="en-US" sz="2400" b="0" i="0" u="none" strike="noStrike" baseline="0" dirty="0">
              <a:solidFill>
                <a:srgbClr val="000000"/>
              </a:solidFill>
              <a:latin typeface="Bookman Old Style" panose="02050604050505020204" pitchFamily="18" charset="0"/>
            </a:endParaRPr>
          </a:p>
          <a:p>
            <a:r>
              <a:rPr lang="en-US" sz="2400" b="0" i="0" u="none" strike="noStrike" baseline="0" dirty="0">
                <a:solidFill>
                  <a:srgbClr val="000000"/>
                </a:solidFill>
                <a:latin typeface="Bookman Old Style" panose="02050604050505020204" pitchFamily="18" charset="0"/>
              </a:rPr>
              <a:t>Doesn’t follow any rule or semantics </a:t>
            </a:r>
            <a:endParaRPr lang="en-US" sz="2400" b="0" i="0" u="none" strike="noStrike" baseline="0" dirty="0">
              <a:solidFill>
                <a:srgbClr val="000000"/>
              </a:solidFill>
              <a:latin typeface="Bookman Old Style" panose="02050604050505020204" pitchFamily="18" charset="0"/>
            </a:endParaRPr>
          </a:p>
          <a:p>
            <a:pPr marL="0" indent="0">
              <a:buNone/>
            </a:pPr>
            <a:endParaRPr lang="en-US" sz="2400" b="0" i="0" u="none" strike="noStrike" baseline="0" dirty="0">
              <a:solidFill>
                <a:srgbClr val="000000"/>
              </a:solidFill>
              <a:latin typeface="Bookman Old Style" panose="020506040505050202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583" y="214812"/>
            <a:ext cx="10515600" cy="724639"/>
          </a:xfrm>
        </p:spPr>
        <p:txBody>
          <a:bodyPr>
            <a:noAutofit/>
          </a:bodyPr>
          <a:lstStyle/>
          <a:p>
            <a:r>
              <a:rPr lang="en-US" sz="3200" b="1" i="0" u="none" strike="noStrike" baseline="0" dirty="0">
                <a:solidFill>
                  <a:srgbClr val="FF0000"/>
                </a:solidFill>
              </a:rPr>
              <a:t>Cont..</a:t>
            </a:r>
            <a:endParaRPr lang="en-US" sz="6600" b="1" dirty="0">
              <a:solidFill>
                <a:srgbClr val="FF0000"/>
              </a:solidFill>
            </a:endParaRPr>
          </a:p>
        </p:txBody>
      </p:sp>
      <p:sp>
        <p:nvSpPr>
          <p:cNvPr id="3" name="Content Placeholder 2"/>
          <p:cNvSpPr>
            <a:spLocks noGrp="1"/>
          </p:cNvSpPr>
          <p:nvPr>
            <p:ph idx="1"/>
          </p:nvPr>
        </p:nvSpPr>
        <p:spPr>
          <a:xfrm>
            <a:off x="563671" y="939452"/>
            <a:ext cx="11273425" cy="5799552"/>
          </a:xfrm>
        </p:spPr>
        <p:txBody>
          <a:bodyPr>
            <a:normAutofit fontScale="92500" lnSpcReduction="20000"/>
          </a:bodyPr>
          <a:lstStyle/>
          <a:p>
            <a:r>
              <a:rPr lang="en-US" sz="2400" b="1" i="0" u="none" strike="noStrike" baseline="0" dirty="0">
                <a:solidFill>
                  <a:srgbClr val="000000"/>
                </a:solidFill>
                <a:latin typeface="Bookman Old Style" panose="02050604050505020204" pitchFamily="18" charset="0"/>
              </a:rPr>
              <a:t>Challenges</a:t>
            </a:r>
            <a:r>
              <a:rPr lang="en-US" sz="2400" b="0" i="0" u="none" strike="noStrike" baseline="0" dirty="0">
                <a:solidFill>
                  <a:srgbClr val="000000"/>
                </a:solidFill>
                <a:latin typeface="Bookman Old Style" panose="02050604050505020204" pitchFamily="18" charset="0"/>
              </a:rPr>
              <a:t>: </a:t>
            </a:r>
            <a:endParaRPr lang="en-US" sz="2400" b="0" i="0" u="none" strike="noStrike" baseline="0" dirty="0">
              <a:solidFill>
                <a:srgbClr val="000000"/>
              </a:solidFill>
              <a:latin typeface="Bookman Old Style" panose="02050604050505020204" pitchFamily="18" charset="0"/>
            </a:endParaRPr>
          </a:p>
          <a:p>
            <a:r>
              <a:rPr lang="en-US" sz="2400" b="0" i="0" u="none" strike="noStrike" baseline="0" dirty="0">
                <a:solidFill>
                  <a:srgbClr val="000000"/>
                </a:solidFill>
                <a:latin typeface="Bookman Old Style" panose="02050604050505020204" pitchFamily="18" charset="0"/>
              </a:rPr>
              <a:t>Storage space: Sheer volume of unstructured data and its unprecedented growth makes it difficult to store. Audios, videos, images, etc. acquire huge amount of storage space </a:t>
            </a:r>
            <a:endParaRPr lang="en-US" sz="2400" b="0" i="0" u="none" strike="noStrike" baseline="0" dirty="0">
              <a:solidFill>
                <a:srgbClr val="000000"/>
              </a:solidFill>
              <a:latin typeface="Bookman Old Style" panose="02050604050505020204" pitchFamily="18" charset="0"/>
            </a:endParaRPr>
          </a:p>
          <a:p>
            <a:r>
              <a:rPr lang="en-US" sz="2400" b="0" i="0" u="none" strike="noStrike" baseline="0" dirty="0">
                <a:solidFill>
                  <a:srgbClr val="000000"/>
                </a:solidFill>
                <a:latin typeface="Bookman Old Style" panose="02050604050505020204" pitchFamily="18" charset="0"/>
              </a:rPr>
              <a:t>Scalability: Scalability becomes an issue with increase in unstructured data </a:t>
            </a:r>
            <a:endParaRPr lang="en-US" sz="2400" b="0" i="0" u="none" strike="noStrike" baseline="0" dirty="0">
              <a:solidFill>
                <a:srgbClr val="000000"/>
              </a:solidFill>
              <a:latin typeface="Bookman Old Style" panose="02050604050505020204" pitchFamily="18" charset="0"/>
            </a:endParaRPr>
          </a:p>
          <a:p>
            <a:r>
              <a:rPr lang="en-US" sz="2400" b="0" i="0" u="none" strike="noStrike" baseline="0" dirty="0">
                <a:solidFill>
                  <a:srgbClr val="000000"/>
                </a:solidFill>
                <a:latin typeface="Bookman Old Style" panose="02050604050505020204" pitchFamily="18" charset="0"/>
              </a:rPr>
              <a:t>Retrieve information: Retrieving and recovering unstructured data are cumbersome </a:t>
            </a:r>
            <a:endParaRPr lang="en-US" sz="2400" b="0" i="0" u="none" strike="noStrike" baseline="0" dirty="0">
              <a:solidFill>
                <a:srgbClr val="000000"/>
              </a:solidFill>
              <a:latin typeface="Bookman Old Style" panose="02050604050505020204" pitchFamily="18" charset="0"/>
            </a:endParaRPr>
          </a:p>
          <a:p>
            <a:r>
              <a:rPr lang="en-US" sz="2400" b="0" i="0" u="none" strike="noStrike" baseline="0" dirty="0">
                <a:solidFill>
                  <a:srgbClr val="000000"/>
                </a:solidFill>
                <a:latin typeface="Bookman Old Style" panose="02050604050505020204" pitchFamily="18" charset="0"/>
              </a:rPr>
              <a:t>Security: Ensuring security is difficult due to varied sources of data (e.g. e-mail, web pages) </a:t>
            </a:r>
            <a:endParaRPr lang="en-US" sz="2400" b="0" i="0" u="none" strike="noStrike" baseline="0" dirty="0">
              <a:solidFill>
                <a:srgbClr val="000000"/>
              </a:solidFill>
              <a:latin typeface="Bookman Old Style" panose="02050604050505020204" pitchFamily="18" charset="0"/>
            </a:endParaRPr>
          </a:p>
          <a:p>
            <a:r>
              <a:rPr lang="en-US" sz="2400" b="0" i="0" u="none" strike="noStrike" baseline="0" dirty="0">
                <a:solidFill>
                  <a:srgbClr val="000000"/>
                </a:solidFill>
                <a:latin typeface="Bookman Old Style" panose="02050604050505020204" pitchFamily="18" charset="0"/>
              </a:rPr>
              <a:t>Update/delete: Updating, deleting, etc. are not easy due to the unstructured form </a:t>
            </a:r>
            <a:endParaRPr lang="en-US" sz="2400" b="0" i="0" u="none" strike="noStrike" baseline="0" dirty="0">
              <a:solidFill>
                <a:srgbClr val="000000"/>
              </a:solidFill>
              <a:latin typeface="Bookman Old Style" panose="02050604050505020204" pitchFamily="18" charset="0"/>
            </a:endParaRPr>
          </a:p>
          <a:p>
            <a:r>
              <a:rPr lang="en-US" sz="2400" b="0" i="0" u="none" strike="noStrike" baseline="0" dirty="0">
                <a:solidFill>
                  <a:srgbClr val="000000"/>
                </a:solidFill>
                <a:latin typeface="Bookman Old Style" panose="02050604050505020204" pitchFamily="18" charset="0"/>
              </a:rPr>
              <a:t>Indexing and Searching: Indexing becomes difficult with increase in data. </a:t>
            </a:r>
            <a:endParaRPr lang="en-US" sz="2400" b="0" i="0" u="none" strike="noStrike" baseline="0" dirty="0">
              <a:solidFill>
                <a:srgbClr val="000000"/>
              </a:solidFill>
              <a:latin typeface="Bookman Old Style" panose="02050604050505020204" pitchFamily="18" charset="0"/>
            </a:endParaRPr>
          </a:p>
          <a:p>
            <a:r>
              <a:rPr lang="en-US" sz="2400" b="0" i="0" u="none" strike="noStrike" baseline="0" dirty="0">
                <a:solidFill>
                  <a:srgbClr val="000000"/>
                </a:solidFill>
                <a:latin typeface="Bookman Old Style" panose="02050604050505020204" pitchFamily="18" charset="0"/>
              </a:rPr>
              <a:t>Searching is difficult for non-text data </a:t>
            </a:r>
            <a:endParaRPr lang="en-US" sz="2400" b="0" i="0" u="none" strike="noStrike" baseline="0" dirty="0">
              <a:solidFill>
                <a:srgbClr val="000000"/>
              </a:solidFill>
              <a:latin typeface="Bookman Old Style" panose="02050604050505020204" pitchFamily="18" charset="0"/>
            </a:endParaRPr>
          </a:p>
          <a:p>
            <a:r>
              <a:rPr lang="en-US" sz="2400" b="0" i="0" u="none" strike="noStrike" baseline="0" dirty="0">
                <a:solidFill>
                  <a:srgbClr val="000000"/>
                </a:solidFill>
                <a:latin typeface="Bookman Old Style" panose="02050604050505020204" pitchFamily="18" charset="0"/>
              </a:rPr>
              <a:t>Interpretation: Unstructured data is not easily interpreted by conventional search algorithm </a:t>
            </a:r>
            <a:endParaRPr lang="en-US" sz="2400" b="0" i="0" u="none" strike="noStrike" baseline="0" dirty="0">
              <a:solidFill>
                <a:srgbClr val="000000"/>
              </a:solidFill>
              <a:latin typeface="Bookman Old Style" panose="02050604050505020204" pitchFamily="18" charset="0"/>
            </a:endParaRPr>
          </a:p>
          <a:p>
            <a:r>
              <a:rPr lang="en-US" sz="2400" b="0" i="0" u="none" strike="noStrike" baseline="0" dirty="0">
                <a:solidFill>
                  <a:srgbClr val="000000"/>
                </a:solidFill>
                <a:latin typeface="Bookman Old Style" panose="02050604050505020204" pitchFamily="18" charset="0"/>
              </a:rPr>
              <a:t>Tags: As the data grows it is not possible to put tags Manually </a:t>
            </a:r>
            <a:endParaRPr lang="en-US" sz="2400" b="0" i="0" u="none" strike="noStrike" baseline="0" dirty="0">
              <a:solidFill>
                <a:srgbClr val="000000"/>
              </a:solidFill>
              <a:latin typeface="Bookman Old Style" panose="02050604050505020204" pitchFamily="18" charset="0"/>
            </a:endParaRPr>
          </a:p>
          <a:p>
            <a:r>
              <a:rPr lang="en-US" sz="2400" b="0" i="0" u="none" strike="noStrike" baseline="0" dirty="0">
                <a:solidFill>
                  <a:srgbClr val="000000"/>
                </a:solidFill>
                <a:latin typeface="Bookman Old Style" panose="02050604050505020204" pitchFamily="18" charset="0"/>
              </a:rPr>
              <a:t>Indexing: Designing algorithms to understand the meaning  of the document and then tag or index them accordingly is difficult. </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583" y="214812"/>
            <a:ext cx="10515600" cy="724639"/>
          </a:xfrm>
        </p:spPr>
        <p:txBody>
          <a:bodyPr>
            <a:noAutofit/>
          </a:bodyPr>
          <a:lstStyle/>
          <a:p>
            <a:r>
              <a:rPr lang="en-US" sz="3200" b="1" i="0" u="none" strike="noStrike" baseline="0" dirty="0">
                <a:solidFill>
                  <a:srgbClr val="FF0000"/>
                </a:solidFill>
              </a:rPr>
              <a:t>Cont..</a:t>
            </a:r>
            <a:endParaRPr lang="en-US" sz="6600" b="1" dirty="0">
              <a:solidFill>
                <a:srgbClr val="FF0000"/>
              </a:solidFill>
            </a:endParaRPr>
          </a:p>
        </p:txBody>
      </p:sp>
      <p:pic>
        <p:nvPicPr>
          <p:cNvPr id="5" name="Content Placeholder 4"/>
          <p:cNvPicPr>
            <a:picLocks noGrp="1" noChangeAspect="1"/>
          </p:cNvPicPr>
          <p:nvPr>
            <p:ph idx="1"/>
          </p:nvPr>
        </p:nvPicPr>
        <p:blipFill>
          <a:blip r:embed="rId1"/>
          <a:stretch>
            <a:fillRect/>
          </a:stretch>
        </p:blipFill>
        <p:spPr>
          <a:xfrm>
            <a:off x="375778" y="1270281"/>
            <a:ext cx="11523948" cy="4842420"/>
          </a:xfr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583" y="214812"/>
            <a:ext cx="10515600" cy="724639"/>
          </a:xfrm>
        </p:spPr>
        <p:txBody>
          <a:bodyPr>
            <a:noAutofit/>
          </a:bodyPr>
          <a:lstStyle/>
          <a:p>
            <a:r>
              <a:rPr lang="en-US" sz="3200" b="1" i="0" u="none" strike="noStrike" baseline="0" dirty="0">
                <a:solidFill>
                  <a:srgbClr val="FF0000"/>
                </a:solidFill>
              </a:rPr>
              <a:t>Cont..</a:t>
            </a:r>
            <a:endParaRPr lang="en-US" sz="6600" b="1" dirty="0">
              <a:solidFill>
                <a:srgbClr val="FF0000"/>
              </a:solidFill>
            </a:endParaRPr>
          </a:p>
        </p:txBody>
      </p:sp>
      <p:sp>
        <p:nvSpPr>
          <p:cNvPr id="3" name="Content Placeholder 2"/>
          <p:cNvSpPr>
            <a:spLocks noGrp="1"/>
          </p:cNvSpPr>
          <p:nvPr>
            <p:ph idx="1"/>
          </p:nvPr>
        </p:nvSpPr>
        <p:spPr>
          <a:xfrm>
            <a:off x="563671" y="939452"/>
            <a:ext cx="11273425" cy="5799552"/>
          </a:xfrm>
        </p:spPr>
        <p:txBody>
          <a:bodyPr>
            <a:normAutofit/>
          </a:bodyPr>
          <a:lstStyle/>
          <a:p>
            <a:r>
              <a:rPr lang="en-US" sz="2400" b="1" i="0" u="none" strike="noStrike" baseline="0" dirty="0">
                <a:solidFill>
                  <a:srgbClr val="FF0000"/>
                </a:solidFill>
                <a:latin typeface="Bookman Old Style" panose="02050604050505020204" pitchFamily="18" charset="0"/>
              </a:rPr>
              <a:t>Dealing with Unstructured data: </a:t>
            </a:r>
            <a:endParaRPr lang="en-US" sz="2400" b="1" i="0" u="none" strike="noStrike" baseline="0" dirty="0">
              <a:solidFill>
                <a:srgbClr val="FF0000"/>
              </a:solidFill>
              <a:latin typeface="Bookman Old Style" panose="02050604050505020204" pitchFamily="18" charset="0"/>
            </a:endParaRPr>
          </a:p>
          <a:p>
            <a:r>
              <a:rPr lang="en-US" sz="2400" b="1" i="0" u="none" strike="noStrike" baseline="0" dirty="0">
                <a:solidFill>
                  <a:srgbClr val="000000"/>
                </a:solidFill>
                <a:latin typeface="Bookman Old Style" panose="02050604050505020204" pitchFamily="18" charset="0"/>
              </a:rPr>
              <a:t>Data Mining: </a:t>
            </a:r>
            <a:r>
              <a:rPr lang="en-US" sz="2400" b="0" i="0" u="none" strike="noStrike" baseline="0" dirty="0">
                <a:solidFill>
                  <a:srgbClr val="000000"/>
                </a:solidFill>
                <a:latin typeface="Bookman Old Style" panose="02050604050505020204" pitchFamily="18" charset="0"/>
              </a:rPr>
              <a:t>Knowledge discovery in databases, popular Mining algorithms are Association rule mining, Regression Analysis, and Collaborative filtering </a:t>
            </a:r>
            <a:endParaRPr lang="en-US" sz="2400" b="0" i="0" u="none" strike="noStrike" baseline="0" dirty="0">
              <a:solidFill>
                <a:srgbClr val="000000"/>
              </a:solidFill>
              <a:latin typeface="Bookman Old Style" panose="02050604050505020204" pitchFamily="18" charset="0"/>
            </a:endParaRPr>
          </a:p>
          <a:p>
            <a:r>
              <a:rPr lang="en-US" sz="2400" b="1" i="0" u="none" strike="noStrike" baseline="0" dirty="0">
                <a:solidFill>
                  <a:srgbClr val="000000"/>
                </a:solidFill>
                <a:latin typeface="Bookman Old Style" panose="02050604050505020204" pitchFamily="18" charset="0"/>
              </a:rPr>
              <a:t>Natural Language Processing: </a:t>
            </a:r>
            <a:r>
              <a:rPr lang="en-US" sz="2400" b="0" i="0" u="none" strike="noStrike" baseline="0" dirty="0">
                <a:solidFill>
                  <a:srgbClr val="000000"/>
                </a:solidFill>
                <a:latin typeface="Bookman Old Style" panose="02050604050505020204" pitchFamily="18" charset="0"/>
              </a:rPr>
              <a:t>It is related to HCI. It is about enabling computers to understand human or natural language input. </a:t>
            </a:r>
            <a:endParaRPr lang="en-US" sz="2400" b="0" i="0" u="none" strike="noStrike" baseline="0" dirty="0">
              <a:solidFill>
                <a:srgbClr val="000000"/>
              </a:solidFill>
              <a:latin typeface="Bookman Old Style" panose="02050604050505020204" pitchFamily="18" charset="0"/>
            </a:endParaRPr>
          </a:p>
          <a:p>
            <a:r>
              <a:rPr lang="en-US" sz="2400" b="1" i="0" u="none" strike="noStrike" baseline="0" dirty="0">
                <a:solidFill>
                  <a:srgbClr val="000000"/>
                </a:solidFill>
                <a:latin typeface="Bookman Old Style" panose="02050604050505020204" pitchFamily="18" charset="0"/>
              </a:rPr>
              <a:t>Text Analytics: </a:t>
            </a:r>
            <a:r>
              <a:rPr lang="en-US" sz="2400" b="0" i="0" u="none" strike="noStrike" baseline="0" dirty="0">
                <a:solidFill>
                  <a:srgbClr val="000000"/>
                </a:solidFill>
                <a:latin typeface="Bookman Old Style" panose="02050604050505020204" pitchFamily="18" charset="0"/>
              </a:rPr>
              <a:t>Text mining is the process of gleaning high quality and meaningful information from text. It includes tasks such as text categorization, text clustering, sentiment analysis and concept/entity extraction. </a:t>
            </a:r>
            <a:endParaRPr lang="en-US" sz="2400" b="0" i="0" u="none" strike="noStrike" baseline="0" dirty="0">
              <a:solidFill>
                <a:srgbClr val="000000"/>
              </a:solidFill>
              <a:latin typeface="Bookman Old Style" panose="02050604050505020204" pitchFamily="18" charset="0"/>
            </a:endParaRPr>
          </a:p>
          <a:p>
            <a:r>
              <a:rPr lang="en-US" sz="2400" b="1" i="0" u="none" strike="noStrike" baseline="0" dirty="0">
                <a:solidFill>
                  <a:srgbClr val="000000"/>
                </a:solidFill>
                <a:latin typeface="Bookman Old Style" panose="02050604050505020204" pitchFamily="18" charset="0"/>
              </a:rPr>
              <a:t>Noisy text analytics: </a:t>
            </a:r>
            <a:r>
              <a:rPr lang="en-US" sz="2400" b="0" i="0" u="none" strike="noStrike" baseline="0" dirty="0">
                <a:solidFill>
                  <a:srgbClr val="000000"/>
                </a:solidFill>
                <a:latin typeface="Bookman Old Style" panose="02050604050505020204" pitchFamily="18" charset="0"/>
              </a:rPr>
              <a:t>Process of extraction structured or semi-structured from noisy unstructured data such as chats, blogs, wikis, emails, Spelling mistakes, abbreviations, uh, hm, non standard words. </a:t>
            </a:r>
            <a:endParaRPr lang="en-US" sz="2400" b="0" i="0" u="none" strike="noStrike" baseline="0" dirty="0">
              <a:solidFill>
                <a:srgbClr val="000000"/>
              </a:solidFill>
              <a:latin typeface="Bookman Old Style" panose="020506040505050202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583" y="214812"/>
            <a:ext cx="10515600" cy="724639"/>
          </a:xfrm>
        </p:spPr>
        <p:txBody>
          <a:bodyPr>
            <a:noAutofit/>
          </a:bodyPr>
          <a:lstStyle/>
          <a:p>
            <a:pPr algn="ctr"/>
            <a:r>
              <a:rPr lang="en-US" sz="3600" b="1" i="0" u="none" strike="noStrike" baseline="0" dirty="0">
                <a:solidFill>
                  <a:srgbClr val="FF0000"/>
                </a:solidFill>
              </a:rPr>
              <a:t>Define Big Data. </a:t>
            </a:r>
            <a:endParaRPr lang="en-US" sz="7200" b="1" dirty="0">
              <a:solidFill>
                <a:srgbClr val="FF0000"/>
              </a:solidFill>
            </a:endParaRPr>
          </a:p>
        </p:txBody>
      </p:sp>
      <p:sp>
        <p:nvSpPr>
          <p:cNvPr id="3" name="Content Placeholder 2"/>
          <p:cNvSpPr>
            <a:spLocks noGrp="1"/>
          </p:cNvSpPr>
          <p:nvPr>
            <p:ph idx="1"/>
          </p:nvPr>
        </p:nvSpPr>
        <p:spPr>
          <a:xfrm>
            <a:off x="563671" y="1052186"/>
            <a:ext cx="11273425" cy="5591002"/>
          </a:xfrm>
        </p:spPr>
        <p:txBody>
          <a:bodyPr>
            <a:normAutofit/>
          </a:bodyPr>
          <a:lstStyle/>
          <a:p>
            <a:pPr algn="l"/>
            <a:r>
              <a:rPr lang="en-US" b="1" i="0" u="none" strike="noStrike" baseline="0" dirty="0">
                <a:solidFill>
                  <a:srgbClr val="FF0000"/>
                </a:solidFill>
                <a:latin typeface="Times New Roman" panose="02020603050405020304" pitchFamily="18" charset="0"/>
              </a:rPr>
              <a:t>What is Big Data?</a:t>
            </a:r>
            <a:endParaRPr lang="en-US" b="1" i="0" u="none" strike="noStrike" baseline="0" dirty="0">
              <a:solidFill>
                <a:srgbClr val="FF0000"/>
              </a:solidFill>
              <a:latin typeface="Times New Roman" panose="02020603050405020304" pitchFamily="18" charset="0"/>
            </a:endParaRPr>
          </a:p>
          <a:p>
            <a:pPr algn="just"/>
            <a:r>
              <a:rPr lang="en-US" sz="2400" b="1" i="0" dirty="0">
                <a:solidFill>
                  <a:srgbClr val="222222"/>
                </a:solidFill>
                <a:effectLst/>
                <a:latin typeface="Times New Roman" panose="02020603050405020304" pitchFamily="18" charset="0"/>
                <a:cs typeface="Times New Roman" panose="02020603050405020304" pitchFamily="18" charset="0"/>
              </a:rPr>
              <a:t>Big Data</a:t>
            </a:r>
            <a:r>
              <a:rPr lang="en-US" sz="2400" b="0" i="0" dirty="0">
                <a:solidFill>
                  <a:srgbClr val="222222"/>
                </a:solidFill>
                <a:effectLst/>
                <a:latin typeface="Times New Roman" panose="02020603050405020304" pitchFamily="18" charset="0"/>
                <a:cs typeface="Times New Roman" panose="02020603050405020304" pitchFamily="18" charset="0"/>
              </a:rPr>
              <a:t> is a collection of data that is huge in volume, yet growing exponentially with time. It is a data with so large size and complexity that none of traditional data management tools can store it or process it efficiently. Big data is also a data but with huge size.</a:t>
            </a:r>
            <a:endParaRPr lang="en-US" sz="2400" b="0" i="0" u="none" strike="noStrike" baseline="0" dirty="0">
              <a:latin typeface="Times New Roman" panose="02020603050405020304" pitchFamily="18" charset="0"/>
              <a:cs typeface="Times New Roman" panose="02020603050405020304" pitchFamily="18" charset="0"/>
            </a:endParaRPr>
          </a:p>
          <a:p>
            <a:pPr algn="just"/>
            <a:r>
              <a:rPr lang="en-US" sz="2400" b="0" i="0" u="none" strike="noStrike" baseline="0" dirty="0">
                <a:latin typeface="Times New Roman" panose="02020603050405020304" pitchFamily="18" charset="0"/>
                <a:cs typeface="Times New Roman" panose="02020603050405020304" pitchFamily="18" charset="0"/>
              </a:rPr>
              <a:t>Big data is not merely a data, rather it has become a complete subject, which involves various tools, techniques and frameworks.</a:t>
            </a:r>
            <a:endParaRPr lang="en-US" sz="2400" b="0" i="0" u="none" strike="noStrike" baseline="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583" y="214812"/>
            <a:ext cx="10515600" cy="724639"/>
          </a:xfrm>
        </p:spPr>
        <p:txBody>
          <a:bodyPr>
            <a:noAutofit/>
          </a:bodyPr>
          <a:lstStyle/>
          <a:p>
            <a:r>
              <a:rPr lang="en-US" sz="3600" b="1" i="0" u="none" strike="noStrike" baseline="0" dirty="0">
                <a:solidFill>
                  <a:srgbClr val="FF0000"/>
                </a:solidFill>
              </a:rPr>
              <a:t>Cont..</a:t>
            </a:r>
            <a:endParaRPr lang="en-US" sz="7200" b="1" dirty="0">
              <a:solidFill>
                <a:srgbClr val="FF0000"/>
              </a:solidFill>
            </a:endParaRPr>
          </a:p>
        </p:txBody>
      </p:sp>
      <p:sp>
        <p:nvSpPr>
          <p:cNvPr id="3" name="Content Placeholder 2"/>
          <p:cNvSpPr>
            <a:spLocks noGrp="1"/>
          </p:cNvSpPr>
          <p:nvPr>
            <p:ph idx="1"/>
          </p:nvPr>
        </p:nvSpPr>
        <p:spPr>
          <a:xfrm>
            <a:off x="563671" y="1052186"/>
            <a:ext cx="11273425" cy="5591002"/>
          </a:xfrm>
        </p:spPr>
        <p:txBody>
          <a:bodyPr>
            <a:normAutofit lnSpcReduction="10000"/>
          </a:bodyPr>
          <a:lstStyle/>
          <a:p>
            <a:pPr algn="l"/>
            <a:r>
              <a:rPr lang="en-US" sz="2400" b="1" i="0" u="none" strike="noStrike" baseline="0" dirty="0">
                <a:solidFill>
                  <a:srgbClr val="FF0000"/>
                </a:solidFill>
                <a:latin typeface="Times New Roman" panose="02020603050405020304" pitchFamily="18" charset="0"/>
              </a:rPr>
              <a:t>What Comes Under Big Data?</a:t>
            </a:r>
            <a:endParaRPr lang="en-US" sz="2400" b="1" i="0" u="none" strike="noStrike" baseline="0" dirty="0">
              <a:solidFill>
                <a:srgbClr val="FF0000"/>
              </a:solidFill>
              <a:latin typeface="Times New Roman" panose="02020603050405020304" pitchFamily="18" charset="0"/>
            </a:endParaRPr>
          </a:p>
          <a:p>
            <a:pPr algn="l"/>
            <a:r>
              <a:rPr lang="en-US" sz="2400" b="0" i="0" u="none" strike="noStrike" baseline="0" dirty="0">
                <a:latin typeface="Times New Roman" panose="02020603050405020304" pitchFamily="18" charset="0"/>
              </a:rPr>
              <a:t>Big data involves the data produced by different devices and applications. Given below are some of the fields that come under the umbrella of Big Data.</a:t>
            </a:r>
            <a:endParaRPr lang="en-US" sz="2400" b="0" i="0" u="none" strike="noStrike" baseline="0" dirty="0">
              <a:latin typeface="Times New Roman" panose="02020603050405020304" pitchFamily="18" charset="0"/>
            </a:endParaRPr>
          </a:p>
          <a:p>
            <a:pPr algn="l"/>
            <a:r>
              <a:rPr lang="en-US" sz="2400" b="1" i="0" u="none" strike="noStrike" baseline="0" dirty="0">
                <a:latin typeface="Times New Roman" panose="02020603050405020304" pitchFamily="18" charset="0"/>
              </a:rPr>
              <a:t>Black Box Data</a:t>
            </a:r>
            <a:r>
              <a:rPr lang="en-US" sz="2400" b="0" i="0" u="none" strike="noStrike" baseline="0" dirty="0">
                <a:latin typeface="Times New Roman" panose="02020603050405020304" pitchFamily="18" charset="0"/>
              </a:rPr>
              <a:t>: It is a component of helicopter, airplanes, and jets, etc. It captures voices of the flight crew, recordings of microphones and earphones, and the performance information of the aircraft.</a:t>
            </a:r>
            <a:endParaRPr lang="en-US" sz="2400" b="0" i="0" u="none" strike="noStrike" baseline="0" dirty="0">
              <a:latin typeface="Times New Roman" panose="02020603050405020304" pitchFamily="18" charset="0"/>
            </a:endParaRPr>
          </a:p>
          <a:p>
            <a:pPr algn="l"/>
            <a:r>
              <a:rPr lang="en-US" sz="2400" b="1" i="0" u="none" strike="noStrike" baseline="0" dirty="0">
                <a:latin typeface="Times New Roman" panose="02020603050405020304" pitchFamily="18" charset="0"/>
              </a:rPr>
              <a:t>Social Media Data</a:t>
            </a:r>
            <a:r>
              <a:rPr lang="en-US" sz="2400" b="0" i="0" u="none" strike="noStrike" baseline="0" dirty="0">
                <a:latin typeface="Times New Roman" panose="02020603050405020304" pitchFamily="18" charset="0"/>
              </a:rPr>
              <a:t>: Social media such as Facebook and Twitter hold information and the views posted by millions of people across the globe.</a:t>
            </a:r>
            <a:endParaRPr lang="en-US" sz="2400" b="0" i="0" u="none" strike="noStrike" baseline="0" dirty="0">
              <a:latin typeface="Times New Roman" panose="02020603050405020304" pitchFamily="18" charset="0"/>
            </a:endParaRPr>
          </a:p>
          <a:p>
            <a:pPr algn="l"/>
            <a:r>
              <a:rPr lang="en-US" sz="2400" b="1" i="0" u="none" strike="noStrike" baseline="0" dirty="0">
                <a:latin typeface="Times New Roman" panose="02020603050405020304" pitchFamily="18" charset="0"/>
              </a:rPr>
              <a:t>Stock Exchange Data</a:t>
            </a:r>
            <a:r>
              <a:rPr lang="en-US" sz="2400" b="0" i="0" u="none" strike="noStrike" baseline="0" dirty="0">
                <a:latin typeface="Times New Roman" panose="02020603050405020304" pitchFamily="18" charset="0"/>
              </a:rPr>
              <a:t>: </a:t>
            </a:r>
            <a:r>
              <a:rPr lang="en-US" sz="2400" b="0" i="0" u="none" strike="noStrike" baseline="0" dirty="0">
                <a:latin typeface="TimesNewRomanPSMT"/>
              </a:rPr>
              <a:t>The stock exchange data holds information about the ‘buy’ and ‘sell’ </a:t>
            </a:r>
            <a:r>
              <a:rPr lang="en-US" sz="2400" b="0" i="0" u="none" strike="noStrike" baseline="0" dirty="0">
                <a:latin typeface="Times New Roman" panose="02020603050405020304" pitchFamily="18" charset="0"/>
              </a:rPr>
              <a:t>decisions made on a share of different companies made by the customers.</a:t>
            </a:r>
            <a:endParaRPr lang="en-US" sz="2400" b="0" i="0" u="none" strike="noStrike" baseline="0" dirty="0">
              <a:latin typeface="Times New Roman" panose="02020603050405020304" pitchFamily="18" charset="0"/>
            </a:endParaRPr>
          </a:p>
          <a:p>
            <a:pPr algn="l"/>
            <a:r>
              <a:rPr lang="en-US" sz="2400" b="1" i="0" u="none" strike="noStrike" baseline="0" dirty="0">
                <a:latin typeface="Times New Roman" panose="02020603050405020304" pitchFamily="18" charset="0"/>
              </a:rPr>
              <a:t>Power Grid Data</a:t>
            </a:r>
            <a:r>
              <a:rPr lang="en-US" sz="2400" b="0" i="0" u="none" strike="noStrike" baseline="0" dirty="0">
                <a:latin typeface="Times New Roman" panose="02020603050405020304" pitchFamily="18" charset="0"/>
              </a:rPr>
              <a:t>: The power grid data holds information consumed by a particular node with respect to a base station.</a:t>
            </a:r>
            <a:endParaRPr lang="en-US" sz="2400" b="0" i="0" u="none" strike="noStrike" baseline="0" dirty="0">
              <a:latin typeface="Times New Roman" panose="02020603050405020304" pitchFamily="18" charset="0"/>
            </a:endParaRPr>
          </a:p>
          <a:p>
            <a:pPr algn="l"/>
            <a:r>
              <a:rPr lang="en-US" sz="2400" b="1" i="0" u="none" strike="noStrike" baseline="0" dirty="0">
                <a:latin typeface="Times New Roman" panose="02020603050405020304" pitchFamily="18" charset="0"/>
              </a:rPr>
              <a:t>Transport Data</a:t>
            </a:r>
            <a:r>
              <a:rPr lang="en-US" sz="2400" b="0" i="0" u="none" strike="noStrike" baseline="0" dirty="0">
                <a:latin typeface="Times New Roman" panose="02020603050405020304" pitchFamily="18" charset="0"/>
              </a:rPr>
              <a:t>: Transport data includes model, capacity, distance and availability of a vehicle.</a:t>
            </a:r>
            <a:endParaRPr lang="en-US" sz="2400" b="0" i="0" u="none" strike="noStrike" baseline="0" dirty="0">
              <a:latin typeface="Times New Roman" panose="02020603050405020304" pitchFamily="18" charset="0"/>
            </a:endParaRPr>
          </a:p>
          <a:p>
            <a:pPr algn="l"/>
            <a:r>
              <a:rPr lang="en-US" sz="2400" b="1" i="0" u="none" strike="noStrike" baseline="0" dirty="0">
                <a:latin typeface="Times New Roman" panose="02020603050405020304" pitchFamily="18" charset="0"/>
              </a:rPr>
              <a:t>Search Engine Data</a:t>
            </a:r>
            <a:r>
              <a:rPr lang="en-US" sz="2400" b="0" i="0" u="none" strike="noStrike" baseline="0" dirty="0">
                <a:latin typeface="Times New Roman" panose="02020603050405020304" pitchFamily="18" charset="0"/>
              </a:rPr>
              <a:t>: Search engines retrieve lots of data from different databases.</a:t>
            </a:r>
            <a:endParaRPr lang="en-US" sz="4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583" y="214812"/>
            <a:ext cx="10515600" cy="724639"/>
          </a:xfrm>
        </p:spPr>
        <p:txBody>
          <a:bodyPr>
            <a:noAutofit/>
          </a:bodyPr>
          <a:lstStyle/>
          <a:p>
            <a:pPr algn="l"/>
            <a:r>
              <a:rPr lang="en-US" sz="3200" b="1" i="0" u="none" strike="noStrike" baseline="0" dirty="0">
                <a:solidFill>
                  <a:srgbClr val="FF0000"/>
                </a:solidFill>
                <a:latin typeface="Times New Roman" panose="02020603050405020304" pitchFamily="18" charset="0"/>
              </a:rPr>
              <a:t>Benefits of Big Data</a:t>
            </a:r>
            <a:endParaRPr lang="en-US" sz="3200" b="1" i="0" u="none" strike="noStrike" baseline="0" dirty="0">
              <a:solidFill>
                <a:srgbClr val="FF0000"/>
              </a:solidFill>
              <a:latin typeface="Times New Roman" panose="02020603050405020304" pitchFamily="18" charset="0"/>
            </a:endParaRPr>
          </a:p>
        </p:txBody>
      </p:sp>
      <p:sp>
        <p:nvSpPr>
          <p:cNvPr id="3" name="Content Placeholder 2"/>
          <p:cNvSpPr>
            <a:spLocks noGrp="1"/>
          </p:cNvSpPr>
          <p:nvPr>
            <p:ph idx="1"/>
          </p:nvPr>
        </p:nvSpPr>
        <p:spPr>
          <a:xfrm>
            <a:off x="563671" y="1052186"/>
            <a:ext cx="11273425" cy="5591002"/>
          </a:xfrm>
        </p:spPr>
        <p:txBody>
          <a:bodyPr>
            <a:normAutofit/>
          </a:bodyPr>
          <a:lstStyle/>
          <a:p>
            <a:pPr algn="l"/>
            <a:r>
              <a:rPr lang="en-US" sz="2400" b="0" i="0" u="none" strike="noStrike" baseline="0" dirty="0">
                <a:latin typeface="Times New Roman" panose="02020603050405020304" pitchFamily="18" charset="0"/>
                <a:cs typeface="Times New Roman" panose="02020603050405020304" pitchFamily="18" charset="0"/>
              </a:rPr>
              <a:t>Big data is really critical to our life and its emerging as one of the most important technologies in modern world. Follow are just few benefits which are very much known to all of us:</a:t>
            </a:r>
            <a:endParaRPr lang="en-US" sz="2400" b="0" i="0" u="none" strike="noStrike" baseline="0" dirty="0">
              <a:latin typeface="Times New Roman" panose="02020603050405020304" pitchFamily="18" charset="0"/>
              <a:cs typeface="Times New Roman" panose="02020603050405020304" pitchFamily="18" charset="0"/>
            </a:endParaRPr>
          </a:p>
          <a:p>
            <a:pPr algn="l"/>
            <a:r>
              <a:rPr lang="en-US" sz="2400" b="0" i="0" u="none" strike="noStrike" baseline="0" dirty="0">
                <a:latin typeface="Times New Roman" panose="02020603050405020304" pitchFamily="18" charset="0"/>
                <a:cs typeface="Times New Roman" panose="02020603050405020304" pitchFamily="18" charset="0"/>
              </a:rPr>
              <a:t>Using the information kept in the social network like Facebook, the marketing agencies are learning about the response for their campaigns, promotions, and other advertising mediums.</a:t>
            </a:r>
            <a:endParaRPr lang="en-US" sz="2400" b="0" i="0" u="none" strike="noStrike" baseline="0" dirty="0">
              <a:latin typeface="Times New Roman" panose="02020603050405020304" pitchFamily="18" charset="0"/>
              <a:cs typeface="Times New Roman" panose="02020603050405020304" pitchFamily="18" charset="0"/>
            </a:endParaRPr>
          </a:p>
          <a:p>
            <a:pPr algn="l"/>
            <a:r>
              <a:rPr lang="en-US" sz="2400" b="0" i="0" u="none" strike="noStrike" baseline="0" dirty="0">
                <a:latin typeface="Times New Roman" panose="02020603050405020304" pitchFamily="18" charset="0"/>
                <a:cs typeface="Times New Roman" panose="02020603050405020304" pitchFamily="18" charset="0"/>
              </a:rPr>
              <a:t>Using the information in the social media like preferences and product perception of their</a:t>
            </a:r>
            <a:r>
              <a:rPr lang="en-US" sz="2400" dirty="0">
                <a:latin typeface="Times New Roman" panose="02020603050405020304" pitchFamily="18" charset="0"/>
                <a:cs typeface="Times New Roman" panose="02020603050405020304" pitchFamily="18" charset="0"/>
              </a:rPr>
              <a:t> </a:t>
            </a:r>
            <a:r>
              <a:rPr lang="en-US" sz="2400" b="0" i="0" u="none" strike="noStrike" baseline="0" dirty="0">
                <a:latin typeface="Times New Roman" panose="02020603050405020304" pitchFamily="18" charset="0"/>
                <a:cs typeface="Times New Roman" panose="02020603050405020304" pitchFamily="18" charset="0"/>
              </a:rPr>
              <a:t>consumers, product companies and retail organizations are planning their production.</a:t>
            </a:r>
            <a:endParaRPr lang="en-US" sz="2400" b="0" i="0" u="none" strike="noStrike" baseline="0" dirty="0">
              <a:latin typeface="Times New Roman" panose="02020603050405020304" pitchFamily="18" charset="0"/>
              <a:cs typeface="Times New Roman" panose="02020603050405020304" pitchFamily="18" charset="0"/>
            </a:endParaRPr>
          </a:p>
          <a:p>
            <a:pPr algn="l"/>
            <a:r>
              <a:rPr lang="en-US" sz="2400" b="0" i="0" u="none" strike="noStrike" baseline="0" dirty="0">
                <a:latin typeface="Times New Roman" panose="02020603050405020304" pitchFamily="18" charset="0"/>
                <a:cs typeface="Times New Roman" panose="02020603050405020304" pitchFamily="18" charset="0"/>
              </a:rPr>
              <a:t>Using the data regarding the previous medical history of patients, hospitals are providing better and quick service.</a:t>
            </a:r>
            <a:endParaRPr lang="en-US" sz="5400" b="0" i="0" u="none" strike="noStrike" baseline="0" dirty="0">
              <a:latin typeface="Times New Roman" panose="02020603050405020304" pitchFamily="18" charset="0"/>
              <a:cs typeface="Times New Roman" panose="02020603050405020304" pitchFamily="18" charset="0"/>
            </a:endParaRPr>
          </a:p>
          <a:p>
            <a:pPr algn="l"/>
            <a:r>
              <a:rPr lang="en-US" sz="2400" b="0" i="0" u="none" strike="noStrike" baseline="0" dirty="0">
                <a:latin typeface="Times New Roman" panose="02020603050405020304" pitchFamily="18" charset="0"/>
                <a:cs typeface="Times New Roman" panose="02020603050405020304" pitchFamily="18" charset="0"/>
              </a:rPr>
              <a:t>Traditional customer feedback systems are getting replaced by new systems designed with Big Data technologies. In these new systems, Big Data and natural language processing technologies are being used to read and evaluate consumer responses.</a:t>
            </a:r>
            <a:endParaRPr lang="en-US" sz="2400" b="0" i="0" u="none" strike="noStrike" baseline="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583" y="214812"/>
            <a:ext cx="10515600" cy="724639"/>
          </a:xfrm>
        </p:spPr>
        <p:txBody>
          <a:bodyPr>
            <a:noAutofit/>
          </a:bodyPr>
          <a:lstStyle/>
          <a:p>
            <a:pPr algn="l"/>
            <a:r>
              <a:rPr lang="en-US" sz="3200" b="1" i="0" u="none" strike="noStrike" baseline="0" dirty="0">
                <a:solidFill>
                  <a:srgbClr val="FF0000"/>
                </a:solidFill>
                <a:latin typeface="Times New Roman" panose="02020603050405020304" pitchFamily="18" charset="0"/>
              </a:rPr>
              <a:t>What is an Example of Big Data? </a:t>
            </a:r>
            <a:endParaRPr lang="en-US" sz="3200" b="1" i="0" u="none" strike="noStrike" baseline="0" dirty="0">
              <a:solidFill>
                <a:srgbClr val="FF0000"/>
              </a:solidFill>
              <a:latin typeface="Times New Roman" panose="02020603050405020304" pitchFamily="18" charset="0"/>
            </a:endParaRPr>
          </a:p>
        </p:txBody>
      </p:sp>
      <p:sp>
        <p:nvSpPr>
          <p:cNvPr id="3" name="Content Placeholder 2"/>
          <p:cNvSpPr>
            <a:spLocks noGrp="1"/>
          </p:cNvSpPr>
          <p:nvPr>
            <p:ph idx="1"/>
          </p:nvPr>
        </p:nvSpPr>
        <p:spPr>
          <a:xfrm>
            <a:off x="563671" y="1052186"/>
            <a:ext cx="7573164" cy="5591002"/>
          </a:xfrm>
        </p:spPr>
        <p:txBody>
          <a:bodyPr>
            <a:normAutofit/>
          </a:bodyPr>
          <a:lstStyle/>
          <a:p>
            <a:pPr algn="just"/>
            <a:r>
              <a:rPr lang="en-US" sz="2400" b="0" i="0" dirty="0">
                <a:solidFill>
                  <a:srgbClr val="222222"/>
                </a:solidFill>
                <a:effectLst/>
                <a:latin typeface="Times New Roman" panose="02020603050405020304" pitchFamily="18" charset="0"/>
                <a:cs typeface="Times New Roman" panose="02020603050405020304" pitchFamily="18" charset="0"/>
              </a:rPr>
              <a:t>The </a:t>
            </a:r>
            <a:r>
              <a:rPr lang="en-US" sz="2400" b="0" i="0" dirty="0">
                <a:solidFill>
                  <a:srgbClr val="FF0000"/>
                </a:solidFill>
                <a:effectLst/>
                <a:latin typeface="Times New Roman" panose="02020603050405020304" pitchFamily="18" charset="0"/>
                <a:cs typeface="Times New Roman" panose="02020603050405020304" pitchFamily="18" charset="0"/>
              </a:rPr>
              <a:t>New York Stock Exchange </a:t>
            </a:r>
            <a:r>
              <a:rPr lang="en-US" sz="2400" b="0" i="0" dirty="0">
                <a:solidFill>
                  <a:srgbClr val="222222"/>
                </a:solidFill>
                <a:effectLst/>
                <a:latin typeface="Times New Roman" panose="02020603050405020304" pitchFamily="18" charset="0"/>
                <a:cs typeface="Times New Roman" panose="02020603050405020304" pitchFamily="18" charset="0"/>
              </a:rPr>
              <a:t>is an example of Big Data that generates about one terabyte of new trade data per day.</a:t>
            </a:r>
            <a:endParaRPr lang="en-US" sz="2400" b="0" i="0" dirty="0">
              <a:solidFill>
                <a:srgbClr val="222222"/>
              </a:solidFill>
              <a:effectLst/>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Social Media</a:t>
            </a:r>
            <a:r>
              <a:rPr lang="en-US" sz="2400" dirty="0">
                <a:latin typeface="Times New Roman" panose="02020603050405020304" pitchFamily="18" charset="0"/>
                <a:cs typeface="Times New Roman" panose="02020603050405020304" pitchFamily="18" charset="0"/>
              </a:rPr>
              <a:t>: The statistic shows that 500+terabytes of new data get ingested into the databases of social media site Facebook, every day. This data is mainly generated in terms of photo and video uploads, message exchanges, putting comments etc.</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A single Jet engine can generate 10+terabytes of data in 30 minutes of flight time. With many thousand flights per day, generation of data reaches up to many Petabytes.</a:t>
            </a:r>
            <a:endParaRPr lang="en-US" sz="24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stretch>
            <a:fillRect/>
          </a:stretch>
        </p:blipFill>
        <p:spPr>
          <a:xfrm>
            <a:off x="8258674" y="356291"/>
            <a:ext cx="3721291" cy="2048823"/>
          </a:xfrm>
          <a:prstGeom prst="rect">
            <a:avLst/>
          </a:prstGeom>
        </p:spPr>
      </p:pic>
      <p:pic>
        <p:nvPicPr>
          <p:cNvPr id="7" name="Picture 6"/>
          <p:cNvPicPr>
            <a:picLocks noChangeAspect="1"/>
          </p:cNvPicPr>
          <p:nvPr/>
        </p:nvPicPr>
        <p:blipFill>
          <a:blip r:embed="rId2"/>
          <a:stretch>
            <a:fillRect/>
          </a:stretch>
        </p:blipFill>
        <p:spPr>
          <a:xfrm>
            <a:off x="8573151" y="2808152"/>
            <a:ext cx="2883048" cy="1644735"/>
          </a:xfrm>
          <a:prstGeom prst="rect">
            <a:avLst/>
          </a:prstGeom>
        </p:spPr>
      </p:pic>
      <p:pic>
        <p:nvPicPr>
          <p:cNvPr id="9" name="Picture 8"/>
          <p:cNvPicPr>
            <a:picLocks noChangeAspect="1"/>
          </p:cNvPicPr>
          <p:nvPr/>
        </p:nvPicPr>
        <p:blipFill>
          <a:blip r:embed="rId3"/>
          <a:stretch>
            <a:fillRect/>
          </a:stretch>
        </p:blipFill>
        <p:spPr>
          <a:xfrm>
            <a:off x="7595072" y="4947651"/>
            <a:ext cx="3124361" cy="169553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583" y="214812"/>
            <a:ext cx="10515600" cy="724639"/>
          </a:xfrm>
        </p:spPr>
        <p:txBody>
          <a:bodyPr>
            <a:noAutofit/>
          </a:bodyPr>
          <a:lstStyle/>
          <a:p>
            <a:pPr algn="l"/>
            <a:r>
              <a:rPr lang="en-US" sz="3200" b="1" i="0" u="none" strike="noStrike" baseline="0" dirty="0">
                <a:solidFill>
                  <a:srgbClr val="FF0000"/>
                </a:solidFill>
              </a:rPr>
              <a:t>Characteristics of Big Data</a:t>
            </a:r>
            <a:endParaRPr lang="en-US" sz="3200" b="1" i="0" u="none" strike="noStrike" baseline="0" dirty="0">
              <a:solidFill>
                <a:srgbClr val="FF0000"/>
              </a:solidFill>
              <a:latin typeface="Times New Roman" panose="02020603050405020304" pitchFamily="18" charset="0"/>
            </a:endParaRPr>
          </a:p>
        </p:txBody>
      </p:sp>
      <p:pic>
        <p:nvPicPr>
          <p:cNvPr id="5" name="Content Placeholder 4"/>
          <p:cNvPicPr>
            <a:picLocks noGrp="1" noChangeAspect="1"/>
          </p:cNvPicPr>
          <p:nvPr>
            <p:ph idx="1"/>
          </p:nvPr>
        </p:nvPicPr>
        <p:blipFill>
          <a:blip r:embed="rId1"/>
          <a:stretch>
            <a:fillRect/>
          </a:stretch>
        </p:blipFill>
        <p:spPr>
          <a:xfrm>
            <a:off x="789709" y="1054107"/>
            <a:ext cx="10266217" cy="5589081"/>
          </a:xfr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583" y="214812"/>
            <a:ext cx="10515600" cy="724639"/>
          </a:xfrm>
        </p:spPr>
        <p:txBody>
          <a:bodyPr>
            <a:noAutofit/>
          </a:bodyPr>
          <a:lstStyle/>
          <a:p>
            <a:pPr algn="l"/>
            <a:r>
              <a:rPr lang="en-US" sz="3200" b="1" i="0" u="none" strike="noStrike" baseline="0" dirty="0">
                <a:solidFill>
                  <a:srgbClr val="FF0000"/>
                </a:solidFill>
              </a:rPr>
              <a:t>Cont..</a:t>
            </a:r>
            <a:endParaRPr lang="en-US" sz="3200" b="1" i="0" u="none" strike="noStrike" baseline="0" dirty="0">
              <a:solidFill>
                <a:srgbClr val="FF0000"/>
              </a:solidFill>
              <a:latin typeface="Times New Roman" panose="02020603050405020304" pitchFamily="18" charset="0"/>
            </a:endParaRPr>
          </a:p>
        </p:txBody>
      </p:sp>
      <p:sp>
        <p:nvSpPr>
          <p:cNvPr id="3" name="Content Placeholder 2"/>
          <p:cNvSpPr>
            <a:spLocks noGrp="1"/>
          </p:cNvSpPr>
          <p:nvPr>
            <p:ph idx="1"/>
          </p:nvPr>
        </p:nvSpPr>
        <p:spPr>
          <a:xfrm>
            <a:off x="563671" y="1052186"/>
            <a:ext cx="11273425" cy="5591002"/>
          </a:xfrm>
        </p:spPr>
        <p:txBody>
          <a:bodyPr>
            <a:normAutofit/>
          </a:bodyPr>
          <a:lstStyle/>
          <a:p>
            <a:pPr marL="0" indent="0">
              <a:buNone/>
            </a:pPr>
            <a:r>
              <a:rPr lang="en-US" sz="1800" b="0" i="0" u="none" strike="noStrike" baseline="0" dirty="0">
                <a:solidFill>
                  <a:srgbClr val="000000"/>
                </a:solidFill>
                <a:latin typeface="Bookman Old Style" panose="02050604050505020204" pitchFamily="18" charset="0"/>
              </a:rPr>
              <a:t>1. </a:t>
            </a:r>
            <a:r>
              <a:rPr lang="en-US" sz="1800" b="1" i="0" u="none" strike="noStrike" baseline="0" dirty="0">
                <a:solidFill>
                  <a:srgbClr val="000000"/>
                </a:solidFill>
                <a:latin typeface="Bookman Old Style" panose="02050604050505020204" pitchFamily="18" charset="0"/>
              </a:rPr>
              <a:t>Volume: </a:t>
            </a:r>
            <a:r>
              <a:rPr lang="en-US" sz="1800" b="0" i="0" u="none" strike="noStrike" baseline="0" dirty="0">
                <a:solidFill>
                  <a:srgbClr val="000000"/>
                </a:solidFill>
                <a:latin typeface="Bookman Old Style" panose="02050604050505020204" pitchFamily="18" charset="0"/>
              </a:rPr>
              <a:t>It refers to the amount of the data. The size of the data is being increased from Bits to Yottabytes. </a:t>
            </a:r>
            <a:endParaRPr lang="en-US" sz="1800" b="0" i="0" u="none" strike="noStrike" baseline="0" dirty="0">
              <a:solidFill>
                <a:srgbClr val="000000"/>
              </a:solidFill>
              <a:latin typeface="Bookman Old Style" panose="02050604050505020204" pitchFamily="18" charset="0"/>
            </a:endParaRPr>
          </a:p>
          <a:p>
            <a:r>
              <a:rPr lang="en-US" sz="1800" b="0" i="0" u="none" strike="noStrike" baseline="0" dirty="0">
                <a:solidFill>
                  <a:srgbClr val="000000"/>
                </a:solidFill>
                <a:latin typeface="Bookman Old Style" panose="02050604050505020204" pitchFamily="18" charset="0"/>
              </a:rPr>
              <a:t>Bits-&gt; Bytes-&gt; KBs-&gt; MBs-&gt; GBs-&gt; TBs-&gt; PBs-&gt; Exabytes-&gt; Zettabytes-&gt; Yottabytes </a:t>
            </a:r>
            <a:endParaRPr lang="en-US" sz="1800" b="0" i="0" u="none" strike="noStrike" baseline="0" dirty="0">
              <a:solidFill>
                <a:srgbClr val="000000"/>
              </a:solidFill>
              <a:latin typeface="Bookman Old Style" panose="02050604050505020204" pitchFamily="18" charset="0"/>
            </a:endParaRPr>
          </a:p>
          <a:p>
            <a:r>
              <a:rPr lang="en-US" sz="1800" b="0" i="0" u="none" strike="noStrike" baseline="0" dirty="0">
                <a:solidFill>
                  <a:srgbClr val="000000"/>
                </a:solidFill>
                <a:latin typeface="Bookman Old Style" panose="02050604050505020204" pitchFamily="18" charset="0"/>
              </a:rPr>
              <a:t>There are different sources of data like doc, pdf, YouTube, a chat conversation on internet messenger, a customer feedback form on an online retail website, CCTV coverage and weather forecast. </a:t>
            </a:r>
            <a:endParaRPr lang="en-US" sz="1800" b="0" i="0" u="none" strike="noStrike" baseline="0" dirty="0">
              <a:solidFill>
                <a:srgbClr val="000000"/>
              </a:solidFill>
              <a:latin typeface="Bookman Old Style" panose="02050604050505020204" pitchFamily="18" charset="0"/>
            </a:endParaRPr>
          </a:p>
          <a:p>
            <a:r>
              <a:rPr lang="en-US" sz="1800" b="1" i="0" u="none" strike="noStrike" baseline="0" dirty="0">
                <a:solidFill>
                  <a:srgbClr val="FF0000"/>
                </a:solidFill>
                <a:latin typeface="Bookman Old Style" panose="02050604050505020204" pitchFamily="18" charset="0"/>
              </a:rPr>
              <a:t>The sources of Big data: </a:t>
            </a:r>
            <a:endParaRPr lang="en-US" sz="1800" b="1" i="0" u="none" strike="noStrike" baseline="0" dirty="0">
              <a:solidFill>
                <a:srgbClr val="FF0000"/>
              </a:solidFill>
              <a:latin typeface="Bookman Old Style" panose="02050604050505020204" pitchFamily="18" charset="0"/>
            </a:endParaRPr>
          </a:p>
          <a:p>
            <a:pPr marL="0" indent="0">
              <a:buNone/>
            </a:pPr>
            <a:r>
              <a:rPr lang="en-US" sz="1800" b="0" i="0" u="none" strike="noStrike" baseline="0" dirty="0">
                <a:solidFill>
                  <a:srgbClr val="000000"/>
                </a:solidFill>
                <a:latin typeface="Bookman Old Style" panose="02050604050505020204" pitchFamily="18" charset="0"/>
              </a:rPr>
              <a:t>1. Typical internal data sources: data present within an organization’s firewall. </a:t>
            </a:r>
            <a:endParaRPr lang="en-US" sz="1800" b="0" i="0" u="none" strike="noStrike" baseline="0" dirty="0">
              <a:solidFill>
                <a:srgbClr val="000000"/>
              </a:solidFill>
              <a:latin typeface="Bookman Old Style" panose="02050604050505020204" pitchFamily="18" charset="0"/>
            </a:endParaRPr>
          </a:p>
          <a:p>
            <a:r>
              <a:rPr lang="en-US" sz="1800" b="0" i="0" u="none" strike="noStrike" baseline="0" dirty="0">
                <a:solidFill>
                  <a:srgbClr val="000000"/>
                </a:solidFill>
                <a:latin typeface="Bookman Old Style" panose="02050604050505020204" pitchFamily="18" charset="0"/>
              </a:rPr>
              <a:t>Data storage: File systems, SQL (RDBMSs- oracle, MS SQL server, DB2, MySQL, PostgreSQL etc.) NoSQL, (</a:t>
            </a:r>
            <a:r>
              <a:rPr lang="en-US" sz="1800" b="0" i="0" u="none" strike="noStrike" baseline="0" dirty="0" err="1">
                <a:solidFill>
                  <a:srgbClr val="000000"/>
                </a:solidFill>
                <a:latin typeface="Bookman Old Style" panose="02050604050505020204" pitchFamily="18" charset="0"/>
              </a:rPr>
              <a:t>MangoDB</a:t>
            </a:r>
            <a:r>
              <a:rPr lang="en-US" sz="1800" b="0" i="0" u="none" strike="noStrike" baseline="0" dirty="0">
                <a:solidFill>
                  <a:srgbClr val="000000"/>
                </a:solidFill>
                <a:latin typeface="Bookman Old Style" panose="02050604050505020204" pitchFamily="18" charset="0"/>
              </a:rPr>
              <a:t>, Cassandra </a:t>
            </a:r>
            <a:r>
              <a:rPr lang="en-US" sz="1800" b="0" i="0" u="none" strike="noStrike" baseline="0" dirty="0" err="1">
                <a:solidFill>
                  <a:srgbClr val="000000"/>
                </a:solidFill>
                <a:latin typeface="Bookman Old Style" panose="02050604050505020204" pitchFamily="18" charset="0"/>
              </a:rPr>
              <a:t>etc</a:t>
            </a:r>
            <a:r>
              <a:rPr lang="en-US" sz="1800" b="0" i="0" u="none" strike="noStrike" baseline="0" dirty="0">
                <a:solidFill>
                  <a:srgbClr val="000000"/>
                </a:solidFill>
                <a:latin typeface="Bookman Old Style" panose="02050604050505020204" pitchFamily="18" charset="0"/>
              </a:rPr>
              <a:t>) and so on. </a:t>
            </a:r>
            <a:endParaRPr lang="en-US" sz="1800" b="0" i="0" u="none" strike="noStrike" baseline="0" dirty="0">
              <a:solidFill>
                <a:srgbClr val="000000"/>
              </a:solidFill>
              <a:latin typeface="Bookman Old Style" panose="02050604050505020204" pitchFamily="18" charset="0"/>
            </a:endParaRPr>
          </a:p>
          <a:p>
            <a:r>
              <a:rPr lang="en-US" sz="1800" b="0" i="0" u="none" strike="noStrike" baseline="0" dirty="0">
                <a:solidFill>
                  <a:srgbClr val="000000"/>
                </a:solidFill>
                <a:latin typeface="Bookman Old Style" panose="02050604050505020204" pitchFamily="18" charset="0"/>
              </a:rPr>
              <a:t>Archives: Archives of scanned documents, paper archives, customer correspondence records, patient’s health records, student’s admission records, student’s assessment records, and so on. </a:t>
            </a:r>
            <a:endParaRPr lang="en-US" sz="1800" b="0" i="0" u="none" strike="noStrike" baseline="0" dirty="0">
              <a:solidFill>
                <a:srgbClr val="000000"/>
              </a:solidFill>
              <a:latin typeface="Bookman Old Style" panose="02050604050505020204" pitchFamily="18" charset="0"/>
            </a:endParaRPr>
          </a:p>
          <a:p>
            <a:pPr marL="0" indent="0">
              <a:buNone/>
            </a:pPr>
            <a:r>
              <a:rPr lang="en-US" sz="1800" b="0" i="0" u="none" strike="noStrike" baseline="0" dirty="0">
                <a:solidFill>
                  <a:srgbClr val="000000"/>
                </a:solidFill>
                <a:latin typeface="Bookman Old Style" panose="02050604050505020204" pitchFamily="18" charset="0"/>
              </a:rPr>
              <a:t>2. External data sources: data residing outside an organization’s Firewall.  </a:t>
            </a:r>
            <a:endParaRPr lang="en-US" sz="1800" b="0" i="0" u="none" strike="noStrike" baseline="0" dirty="0">
              <a:solidFill>
                <a:srgbClr val="000000"/>
              </a:solidFill>
              <a:latin typeface="Bookman Old Style" panose="02050604050505020204" pitchFamily="18" charset="0"/>
            </a:endParaRPr>
          </a:p>
          <a:p>
            <a:r>
              <a:rPr lang="en-US" sz="1800" b="0" i="0" u="none" strike="noStrike" baseline="0" dirty="0">
                <a:solidFill>
                  <a:srgbClr val="000000"/>
                </a:solidFill>
                <a:latin typeface="Bookman Old Style" panose="02050604050505020204" pitchFamily="18" charset="0"/>
              </a:rPr>
              <a:t>Public web: Wikipedia, regulatory, compliance, weather, census etc., </a:t>
            </a:r>
            <a:endParaRPr lang="en-US" sz="1800" b="0" i="0" u="none" strike="noStrike" baseline="0" dirty="0">
              <a:solidFill>
                <a:srgbClr val="000000"/>
              </a:solidFill>
              <a:latin typeface="Bookman Old Style" panose="02050604050505020204" pitchFamily="18" charset="0"/>
            </a:endParaRPr>
          </a:p>
          <a:p>
            <a:pPr marL="0" indent="0">
              <a:buNone/>
            </a:pPr>
            <a:r>
              <a:rPr lang="en-US" sz="1800" b="0" i="0" u="none" strike="noStrike" baseline="0" dirty="0">
                <a:solidFill>
                  <a:srgbClr val="000000"/>
                </a:solidFill>
                <a:latin typeface="Bookman Old Style" panose="02050604050505020204" pitchFamily="18" charset="0"/>
              </a:rPr>
              <a:t>3. Both (internal + external sources) </a:t>
            </a:r>
            <a:endParaRPr lang="en-US" sz="1800" b="0" i="0" u="none" strike="noStrike" baseline="0" dirty="0">
              <a:solidFill>
                <a:srgbClr val="000000"/>
              </a:solidFill>
              <a:latin typeface="Bookman Old Style" panose="02050604050505020204" pitchFamily="18" charset="0"/>
            </a:endParaRPr>
          </a:p>
          <a:p>
            <a:r>
              <a:rPr lang="en-US" sz="1800" b="0" i="0" u="none" strike="noStrike" baseline="0" dirty="0">
                <a:solidFill>
                  <a:srgbClr val="000000"/>
                </a:solidFill>
                <a:latin typeface="Bookman Old Style" panose="02050604050505020204" pitchFamily="18" charset="0"/>
              </a:rPr>
              <a:t>Sensor data, machine log data, social media, business apps, media and docs.</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583" y="214812"/>
            <a:ext cx="10515600" cy="724639"/>
          </a:xfrm>
        </p:spPr>
        <p:txBody>
          <a:bodyPr>
            <a:noAutofit/>
          </a:bodyPr>
          <a:lstStyle/>
          <a:p>
            <a:pPr algn="l"/>
            <a:r>
              <a:rPr lang="en-US" sz="3200" b="1" i="0" u="none" strike="noStrike" baseline="0" dirty="0">
                <a:solidFill>
                  <a:srgbClr val="FF0000"/>
                </a:solidFill>
              </a:rPr>
              <a:t>Cont..</a:t>
            </a:r>
            <a:endParaRPr lang="en-US" sz="3200" b="1" i="0" u="none" strike="noStrike" baseline="0" dirty="0">
              <a:solidFill>
                <a:srgbClr val="FF0000"/>
              </a:solidFill>
              <a:latin typeface="Times New Roman" panose="02020603050405020304" pitchFamily="18" charset="0"/>
            </a:endParaRPr>
          </a:p>
        </p:txBody>
      </p:sp>
      <p:sp>
        <p:nvSpPr>
          <p:cNvPr id="3" name="Content Placeholder 2"/>
          <p:cNvSpPr>
            <a:spLocks noGrp="1"/>
          </p:cNvSpPr>
          <p:nvPr>
            <p:ph idx="1"/>
          </p:nvPr>
        </p:nvSpPr>
        <p:spPr>
          <a:xfrm>
            <a:off x="563671" y="1052186"/>
            <a:ext cx="11273425" cy="5591002"/>
          </a:xfrm>
        </p:spPr>
        <p:txBody>
          <a:bodyPr>
            <a:normAutofit/>
          </a:bodyPr>
          <a:lstStyle/>
          <a:p>
            <a:pPr marL="0" indent="0">
              <a:buNone/>
            </a:pPr>
            <a:r>
              <a:rPr lang="en-US" sz="2000" b="0" i="0" u="none" strike="noStrike" baseline="0" dirty="0">
                <a:solidFill>
                  <a:srgbClr val="000000"/>
                </a:solidFill>
                <a:latin typeface="Bookman Old Style" panose="02050604050505020204" pitchFamily="18" charset="0"/>
              </a:rPr>
              <a:t>2. </a:t>
            </a:r>
            <a:r>
              <a:rPr lang="en-US" sz="2000" b="1" i="0" u="none" strike="noStrike" baseline="0" dirty="0">
                <a:solidFill>
                  <a:srgbClr val="000000"/>
                </a:solidFill>
                <a:latin typeface="Bookman Old Style" panose="02050604050505020204" pitchFamily="18" charset="0"/>
              </a:rPr>
              <a:t>Variety: </a:t>
            </a:r>
            <a:r>
              <a:rPr lang="en-US" sz="2000" b="0" i="0" u="none" strike="noStrike" baseline="0" dirty="0">
                <a:solidFill>
                  <a:srgbClr val="000000"/>
                </a:solidFill>
                <a:latin typeface="Bookman Old Style" panose="02050604050505020204" pitchFamily="18" charset="0"/>
              </a:rPr>
              <a:t>Variety deals with the wide range of data types and sources of data. Structured, semi-structured and Unstructured. </a:t>
            </a:r>
            <a:endParaRPr lang="en-US" sz="2000" b="0" i="0" u="none" strike="noStrike" baseline="0" dirty="0">
              <a:solidFill>
                <a:srgbClr val="000000"/>
              </a:solidFill>
              <a:latin typeface="Bookman Old Style" panose="02050604050505020204" pitchFamily="18" charset="0"/>
            </a:endParaRPr>
          </a:p>
          <a:p>
            <a:r>
              <a:rPr lang="en-US" sz="2000" b="0" i="0" u="none" strike="noStrike" baseline="0" dirty="0">
                <a:solidFill>
                  <a:srgbClr val="000000"/>
                </a:solidFill>
                <a:latin typeface="Bookman Old Style" panose="02050604050505020204" pitchFamily="18" charset="0"/>
              </a:rPr>
              <a:t>Structured data: From traditional transaction processing systems and RDBMS, etc. </a:t>
            </a:r>
            <a:endParaRPr lang="en-US" sz="2000" b="0" i="0" u="none" strike="noStrike" baseline="0" dirty="0">
              <a:solidFill>
                <a:srgbClr val="000000"/>
              </a:solidFill>
              <a:latin typeface="Bookman Old Style" panose="02050604050505020204" pitchFamily="18" charset="0"/>
            </a:endParaRPr>
          </a:p>
          <a:p>
            <a:r>
              <a:rPr lang="en-US" sz="2000" b="0" i="0" u="none" strike="noStrike" baseline="0" dirty="0">
                <a:solidFill>
                  <a:srgbClr val="000000"/>
                </a:solidFill>
                <a:latin typeface="Bookman Old Style" panose="02050604050505020204" pitchFamily="18" charset="0"/>
              </a:rPr>
              <a:t>Semi-structured data: For example, Hypertext Markup Language (HTML), Extensible Markup Language (XML). </a:t>
            </a:r>
            <a:endParaRPr lang="en-US" sz="2000" b="0" i="0" u="none" strike="noStrike" baseline="0" dirty="0">
              <a:solidFill>
                <a:srgbClr val="000000"/>
              </a:solidFill>
              <a:latin typeface="Bookman Old Style" panose="02050604050505020204" pitchFamily="18" charset="0"/>
            </a:endParaRPr>
          </a:p>
          <a:p>
            <a:r>
              <a:rPr lang="en-US" sz="2000" b="0" i="0" u="none" strike="noStrike" baseline="0" dirty="0">
                <a:solidFill>
                  <a:srgbClr val="000000"/>
                </a:solidFill>
                <a:latin typeface="Bookman Old Style" panose="02050604050505020204" pitchFamily="18" charset="0"/>
              </a:rPr>
              <a:t>Unstructured data: For example, unstructured text documents, audios, videos, emails, photos, PDFs , social media, etc. </a:t>
            </a:r>
            <a:endParaRPr lang="en-US" sz="2000" b="0" i="0" u="none" strike="noStrike" baseline="0" dirty="0">
              <a:solidFill>
                <a:srgbClr val="000000"/>
              </a:solidFill>
              <a:latin typeface="Bookman Old Style" panose="02050604050505020204" pitchFamily="18" charset="0"/>
            </a:endParaRPr>
          </a:p>
          <a:p>
            <a:pPr marL="0" indent="0">
              <a:buNone/>
            </a:pPr>
            <a:r>
              <a:rPr lang="en-US" sz="2000" b="0" i="0" u="none" strike="noStrike" baseline="0" dirty="0">
                <a:solidFill>
                  <a:srgbClr val="000000"/>
                </a:solidFill>
                <a:latin typeface="Bookman Old Style" panose="02050604050505020204" pitchFamily="18" charset="0"/>
              </a:rPr>
              <a:t>3. </a:t>
            </a:r>
            <a:r>
              <a:rPr lang="en-US" sz="2000" b="1" i="0" u="none" strike="noStrike" baseline="0" dirty="0">
                <a:solidFill>
                  <a:srgbClr val="000000"/>
                </a:solidFill>
                <a:latin typeface="Bookman Old Style" panose="02050604050505020204" pitchFamily="18" charset="0"/>
              </a:rPr>
              <a:t>Velocity: </a:t>
            </a:r>
            <a:r>
              <a:rPr lang="en-US" sz="2000" b="0" i="0" u="none" strike="noStrike" baseline="0" dirty="0">
                <a:solidFill>
                  <a:srgbClr val="000000"/>
                </a:solidFill>
                <a:latin typeface="Bookman Old Style" panose="02050604050505020204" pitchFamily="18" charset="0"/>
              </a:rPr>
              <a:t>It refers to the speed of data processing. we have moved from the days of batch processing to Real-time processing. </a:t>
            </a:r>
            <a:endParaRPr lang="en-US" sz="2000" b="0" i="0" u="none" strike="noStrike" baseline="0" dirty="0">
              <a:solidFill>
                <a:srgbClr val="000000"/>
              </a:solidFill>
              <a:latin typeface="Bookman Old Style" panose="02050604050505020204" pitchFamily="18" charset="0"/>
            </a:endParaRPr>
          </a:p>
          <a:p>
            <a:pPr marL="0" indent="0">
              <a:buNone/>
            </a:pPr>
            <a:r>
              <a:rPr lang="en-US" sz="2000" b="0" i="0" u="none" strike="noStrike" baseline="0" dirty="0">
                <a:solidFill>
                  <a:srgbClr val="000000"/>
                </a:solidFill>
                <a:latin typeface="Bookman Old Style" panose="02050604050505020204" pitchFamily="18" charset="0"/>
              </a:rPr>
              <a:t>4. </a:t>
            </a:r>
            <a:r>
              <a:rPr lang="en-US" sz="2000" b="1" i="0" u="none" strike="noStrike" baseline="0" dirty="0">
                <a:solidFill>
                  <a:srgbClr val="000000"/>
                </a:solidFill>
                <a:latin typeface="Bookman Old Style" panose="02050604050505020204" pitchFamily="18" charset="0"/>
              </a:rPr>
              <a:t>Veracity: </a:t>
            </a:r>
            <a:r>
              <a:rPr lang="en-US" sz="2000" b="0" i="0" u="none" strike="noStrike" baseline="0" dirty="0">
                <a:solidFill>
                  <a:srgbClr val="000000"/>
                </a:solidFill>
                <a:latin typeface="Bookman Old Style" panose="02050604050505020204" pitchFamily="18" charset="0"/>
              </a:rPr>
              <a:t>Veracity refers to biases, noise and abnormality in data. The key question is “Is all the data that is being stored, mined and analyzed meaningful and relevant to the problem under consideration”. </a:t>
            </a:r>
            <a:endParaRPr lang="en-US" sz="2000" b="0" i="0" u="none" strike="noStrike" baseline="0" dirty="0">
              <a:solidFill>
                <a:srgbClr val="000000"/>
              </a:solidFill>
              <a:latin typeface="Bookman Old Style" panose="020506040505050202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583" y="214812"/>
            <a:ext cx="10515600" cy="724639"/>
          </a:xfrm>
        </p:spPr>
        <p:txBody>
          <a:bodyPr>
            <a:noAutofit/>
          </a:bodyPr>
          <a:lstStyle/>
          <a:p>
            <a:pPr algn="l"/>
            <a:r>
              <a:rPr lang="en-US" sz="3200" b="1" i="0" u="none" strike="noStrike" baseline="0" dirty="0">
                <a:solidFill>
                  <a:srgbClr val="FF0000"/>
                </a:solidFill>
              </a:rPr>
              <a:t>Data Reliability &amp; Validity, Problem Solving with Analytics</a:t>
            </a:r>
            <a:br>
              <a:rPr lang="en-US" sz="3200" b="1" i="0" u="none" strike="noStrike" baseline="0" dirty="0">
                <a:solidFill>
                  <a:srgbClr val="FF0000"/>
                </a:solidFill>
              </a:rPr>
            </a:br>
            <a:r>
              <a:rPr lang="en-US" sz="3200" b="1" i="0" u="none" strike="noStrike" baseline="0" dirty="0">
                <a:solidFill>
                  <a:srgbClr val="00B050"/>
                </a:solidFill>
              </a:rPr>
              <a:t>Data Quality and The Analytical Mindset</a:t>
            </a:r>
            <a:endParaRPr lang="en-US" sz="3200" b="1" i="0" u="none" strike="noStrike" baseline="0" dirty="0">
              <a:solidFill>
                <a:srgbClr val="00B050"/>
              </a:solidFill>
              <a:latin typeface="Times New Roman" panose="02020603050405020304" pitchFamily="18" charset="0"/>
            </a:endParaRPr>
          </a:p>
        </p:txBody>
      </p:sp>
      <p:sp>
        <p:nvSpPr>
          <p:cNvPr id="3" name="Content Placeholder 2"/>
          <p:cNvSpPr>
            <a:spLocks noGrp="1"/>
          </p:cNvSpPr>
          <p:nvPr>
            <p:ph idx="1"/>
          </p:nvPr>
        </p:nvSpPr>
        <p:spPr>
          <a:xfrm>
            <a:off x="563671" y="1244600"/>
            <a:ext cx="11273425" cy="5398588"/>
          </a:xfrm>
        </p:spPr>
        <p:txBody>
          <a:bodyPr>
            <a:normAutofit/>
          </a:bodyPr>
          <a:lstStyle/>
          <a:p>
            <a:pPr>
              <a:buFont typeface="Arial" panose="020B0604020202020204" pitchFamily="34" charset="0"/>
              <a:buChar char="•"/>
            </a:pPr>
            <a:r>
              <a:rPr lang="en-US" b="1" dirty="0"/>
              <a:t>Data Reliability:</a:t>
            </a:r>
            <a:r>
              <a:rPr lang="en-US" dirty="0"/>
              <a:t> The consistency and stability of data collection. Does the measurement tool produce the same result under the same conditions?</a:t>
            </a:r>
            <a:endParaRPr lang="en-US" dirty="0"/>
          </a:p>
          <a:p>
            <a:pPr>
              <a:buFont typeface="Arial" panose="020B0604020202020204" pitchFamily="34" charset="0"/>
              <a:buChar char="•"/>
            </a:pPr>
            <a:r>
              <a:rPr lang="en-US" b="1" dirty="0"/>
              <a:t>Data Validity:</a:t>
            </a:r>
            <a:r>
              <a:rPr lang="en-US" dirty="0"/>
              <a:t> The accuracy of the measurement. Does the data </a:t>
            </a:r>
            <a:r>
              <a:rPr lang="en-US" i="1" dirty="0"/>
              <a:t>actually</a:t>
            </a:r>
            <a:r>
              <a:rPr lang="en-US" dirty="0"/>
              <a:t> measure what it is intended to measure?</a:t>
            </a:r>
            <a:endParaRPr lang="en-US" dirty="0"/>
          </a:p>
          <a:p>
            <a:pPr>
              <a:buFont typeface="Arial" panose="020B0604020202020204" pitchFamily="34" charset="0"/>
              <a:buChar char="•"/>
            </a:pPr>
            <a:r>
              <a:rPr lang="en-US" b="1" dirty="0"/>
              <a:t>Problem Solving with Analytics:</a:t>
            </a:r>
            <a:r>
              <a:rPr lang="en-US" dirty="0"/>
              <a:t> Framework for defining the business problem, quantifying it with data, applying models, and implementing solutions.</a:t>
            </a:r>
            <a:endParaRPr lang="en-US" dirty="0"/>
          </a:p>
          <a:p>
            <a:pPr>
              <a:buFont typeface="Arial" panose="020B0604020202020204" pitchFamily="34" charset="0"/>
              <a:buChar char="•"/>
            </a:pPr>
            <a:r>
              <a:rPr lang="en-US" b="1" dirty="0"/>
              <a:t>GIGO:</a:t>
            </a:r>
            <a:r>
              <a:rPr lang="en-US" dirty="0"/>
              <a:t> Garbage In, Garbage Out. Low reliability/validity leads to flawed insights and poor decisions.</a:t>
            </a:r>
            <a:endParaRPr lang="en-US" dirty="0"/>
          </a:p>
          <a:p>
            <a:pPr marL="0" indent="0">
              <a:buNone/>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583" y="214812"/>
            <a:ext cx="10515600" cy="724639"/>
          </a:xfrm>
        </p:spPr>
        <p:txBody>
          <a:bodyPr>
            <a:noAutofit/>
          </a:bodyPr>
          <a:lstStyle/>
          <a:p>
            <a:pPr algn="l"/>
            <a:r>
              <a:rPr lang="en-US" sz="3200" b="1" i="0" u="none" strike="noStrike" baseline="0" dirty="0">
                <a:solidFill>
                  <a:srgbClr val="FF0000"/>
                </a:solidFill>
              </a:rPr>
              <a:t>Data Reliability &amp; Validity, Problem Solving with Analytics</a:t>
            </a:r>
            <a:br>
              <a:rPr lang="en-US" sz="3200" b="1" i="0" u="none" strike="noStrike" baseline="0" dirty="0">
                <a:solidFill>
                  <a:srgbClr val="FF0000"/>
                </a:solidFill>
              </a:rPr>
            </a:br>
            <a:r>
              <a:rPr lang="en-US" sz="3200" b="1" i="0" u="none" strike="noStrike" baseline="0" dirty="0">
                <a:solidFill>
                  <a:srgbClr val="00B050"/>
                </a:solidFill>
              </a:rPr>
              <a:t>Data Quality and The Analytical Mindset   Cont..</a:t>
            </a:r>
            <a:endParaRPr lang="en-US" sz="3200" b="1" i="0" u="none" strike="noStrike" baseline="0" dirty="0">
              <a:solidFill>
                <a:srgbClr val="00B050"/>
              </a:solidFill>
              <a:latin typeface="Times New Roman" panose="02020603050405020304" pitchFamily="18" charset="0"/>
            </a:endParaRPr>
          </a:p>
        </p:txBody>
      </p:sp>
      <p:sp>
        <p:nvSpPr>
          <p:cNvPr id="3" name="Content Placeholder 2"/>
          <p:cNvSpPr>
            <a:spLocks noGrp="1"/>
          </p:cNvSpPr>
          <p:nvPr>
            <p:ph idx="1"/>
          </p:nvPr>
        </p:nvSpPr>
        <p:spPr>
          <a:xfrm>
            <a:off x="563671" y="1231900"/>
            <a:ext cx="11273425" cy="5411288"/>
          </a:xfrm>
        </p:spPr>
        <p:txBody>
          <a:bodyPr>
            <a:normAutofit/>
          </a:bodyPr>
          <a:lstStyle/>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Reliable but Invalid: </a:t>
            </a:r>
            <a:r>
              <a:rPr lang="en-US" dirty="0">
                <a:latin typeface="Times New Roman" panose="02020603050405020304" pitchFamily="18" charset="0"/>
                <a:cs typeface="Times New Roman" panose="02020603050405020304" pitchFamily="18" charset="0"/>
              </a:rPr>
              <a:t>The scale always shows the same wrong number (e.g., 5 </a:t>
            </a:r>
            <a:r>
              <a:rPr lang="en-US" dirty="0" err="1">
                <a:latin typeface="Times New Roman" panose="02020603050405020304" pitchFamily="18" charset="0"/>
                <a:cs typeface="Times New Roman" panose="02020603050405020304" pitchFamily="18" charset="0"/>
              </a:rPr>
              <a:t>lbs</a:t>
            </a:r>
            <a:r>
              <a:rPr lang="en-US" dirty="0">
                <a:latin typeface="Times New Roman" panose="02020603050405020304" pitchFamily="18" charset="0"/>
                <a:cs typeface="Times New Roman" panose="02020603050405020304" pitchFamily="18" charset="0"/>
              </a:rPr>
              <a:t> too high every time). It's consistent (reliable), but not accurate (invalid)—so your "progress" looks fake.</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Neither Reliable nor Valid</a:t>
            </a:r>
            <a:r>
              <a:rPr lang="en-US" dirty="0">
                <a:latin typeface="Times New Roman" panose="02020603050405020304" pitchFamily="18" charset="0"/>
                <a:cs typeface="Times New Roman" panose="02020603050405020304" pitchFamily="18" charset="0"/>
              </a:rPr>
              <a:t>: It spits out random numbers each weigh-in (e.g., 150 one day, 120 the next). Totally useless for tracking.</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We Need Both</a:t>
            </a:r>
            <a:r>
              <a:rPr lang="en-US" dirty="0">
                <a:latin typeface="Times New Roman" panose="02020603050405020304" pitchFamily="18" charset="0"/>
                <a:cs typeface="Times New Roman" panose="02020603050405020304" pitchFamily="18" charset="0"/>
              </a:rPr>
              <a:t>: For solid analytics or BI decisions, data must be consistent and accurate—otherwise, your insights (like sales forecasts) are off-base.</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Super helpful for avoiding </a:t>
            </a:r>
            <a:r>
              <a:rPr lang="en-US" dirty="0">
                <a:solidFill>
                  <a:srgbClr val="FF0000"/>
                </a:solidFill>
                <a:latin typeface="Times New Roman" panose="02020603050405020304" pitchFamily="18" charset="0"/>
                <a:cs typeface="Times New Roman" panose="02020603050405020304" pitchFamily="18" charset="0"/>
              </a:rPr>
              <a:t>"garbage in, garbage out," </a:t>
            </a:r>
            <a:endParaRPr lang="en-US" dirty="0">
              <a:solidFill>
                <a:srgbClr val="FF0000"/>
              </a:solidFill>
              <a:latin typeface="Times New Roman" panose="02020603050405020304" pitchFamily="18" charset="0"/>
              <a:cs typeface="Times New Roman" panose="02020603050405020304" pitchFamily="18" charset="0"/>
            </a:endParaRPr>
          </a:p>
          <a:p>
            <a:r>
              <a:rPr lang="en-US" b="1" dirty="0">
                <a:solidFill>
                  <a:srgbClr val="00B050"/>
                </a:solidFill>
              </a:rPr>
              <a:t>Analytics</a:t>
            </a:r>
            <a:r>
              <a:rPr lang="en-US" dirty="0"/>
              <a:t> is not just technical; it's a </a:t>
            </a:r>
            <a:r>
              <a:rPr lang="en-US" b="1" dirty="0"/>
              <a:t>structured problem-solving approach</a:t>
            </a:r>
            <a:r>
              <a:rPr lang="en-US" dirty="0"/>
              <a:t>. It mandates that we clearly state the business objective before diving into data (e.g., "We need to reduce customer churn by 10%," not "Let's look at the customer data").</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583" y="214812"/>
            <a:ext cx="10515600" cy="724639"/>
          </a:xfrm>
        </p:spPr>
        <p:txBody>
          <a:bodyPr>
            <a:noAutofit/>
          </a:bodyPr>
          <a:lstStyle/>
          <a:p>
            <a:pPr algn="l"/>
            <a:r>
              <a:rPr lang="en-US" sz="3200" b="1" i="0" u="none" strike="noStrike" baseline="0" dirty="0">
                <a:solidFill>
                  <a:srgbClr val="FF0000"/>
                </a:solidFill>
              </a:rPr>
              <a:t>How is traditional BI environment different from Big data environment?</a:t>
            </a:r>
            <a:endParaRPr lang="en-US" sz="3200" b="1" i="0" u="none" strike="noStrike" baseline="0" dirty="0">
              <a:solidFill>
                <a:srgbClr val="00B050"/>
              </a:solidFill>
              <a:latin typeface="Times New Roman" panose="02020603050405020304" pitchFamily="18" charset="0"/>
            </a:endParaRPr>
          </a:p>
        </p:txBody>
      </p:sp>
      <p:sp>
        <p:nvSpPr>
          <p:cNvPr id="3" name="Content Placeholder 2"/>
          <p:cNvSpPr>
            <a:spLocks noGrp="1"/>
          </p:cNvSpPr>
          <p:nvPr>
            <p:ph idx="1"/>
          </p:nvPr>
        </p:nvSpPr>
        <p:spPr>
          <a:xfrm>
            <a:off x="563671" y="1231900"/>
            <a:ext cx="11273425" cy="5411288"/>
          </a:xfrm>
        </p:spPr>
        <p:txBody>
          <a:bodyPr>
            <a:normAutofit/>
          </a:bodyPr>
          <a:lstStyle/>
          <a:p>
            <a:pPr marL="0" indent="0">
              <a:buNone/>
            </a:pPr>
            <a:r>
              <a:rPr lang="en-US" dirty="0"/>
              <a:t>   </a:t>
            </a:r>
            <a:endParaRPr lang="en-US" dirty="0"/>
          </a:p>
        </p:txBody>
      </p:sp>
      <p:graphicFrame>
        <p:nvGraphicFramePr>
          <p:cNvPr id="5" name="Table 4"/>
          <p:cNvGraphicFramePr>
            <a:graphicFrameLocks noGrp="1"/>
          </p:cNvGraphicFramePr>
          <p:nvPr/>
        </p:nvGraphicFramePr>
        <p:xfrm>
          <a:off x="663181" y="1663117"/>
          <a:ext cx="10795002" cy="4548853"/>
        </p:xfrm>
        <a:graphic>
          <a:graphicData uri="http://schemas.openxmlformats.org/drawingml/2006/table">
            <a:tbl>
              <a:tblPr firstRow="1" bandRow="1">
                <a:tableStyleId>{5940675A-B579-460E-94D1-54222C63F5DA}</a:tableStyleId>
              </a:tblPr>
              <a:tblGrid>
                <a:gridCol w="4950219"/>
                <a:gridCol w="5844783"/>
              </a:tblGrid>
              <a:tr h="504618">
                <a:tc>
                  <a:txBody>
                    <a:bodyPr/>
                    <a:lstStyle/>
                    <a:p>
                      <a:r>
                        <a:rPr lang="fr-FR" sz="2800" b="1" i="0" u="none" strike="noStrike" baseline="0" dirty="0" err="1">
                          <a:solidFill>
                            <a:srgbClr val="000000"/>
                          </a:solidFill>
                          <a:latin typeface="Times New Roman" panose="02020603050405020304" pitchFamily="18" charset="0"/>
                          <a:cs typeface="Times New Roman" panose="02020603050405020304" pitchFamily="18" charset="0"/>
                        </a:rPr>
                        <a:t>Traditional</a:t>
                      </a:r>
                      <a:r>
                        <a:rPr lang="fr-FR" sz="2800" b="1" i="0" u="none" strike="noStrike" baseline="0" dirty="0">
                          <a:solidFill>
                            <a:srgbClr val="000000"/>
                          </a:solidFill>
                          <a:latin typeface="Times New Roman" panose="02020603050405020304" pitchFamily="18" charset="0"/>
                          <a:cs typeface="Times New Roman" panose="02020603050405020304" pitchFamily="18" charset="0"/>
                        </a:rPr>
                        <a:t> BI </a:t>
                      </a:r>
                      <a:r>
                        <a:rPr lang="fr-FR" sz="2800" b="1" i="0" u="none" strike="noStrike" baseline="0" dirty="0" err="1">
                          <a:solidFill>
                            <a:srgbClr val="000000"/>
                          </a:solidFill>
                          <a:latin typeface="Times New Roman" panose="02020603050405020304" pitchFamily="18" charset="0"/>
                          <a:cs typeface="Times New Roman" panose="02020603050405020304" pitchFamily="18" charset="0"/>
                        </a:rPr>
                        <a:t>Environment</a:t>
                      </a:r>
                      <a:r>
                        <a:rPr lang="fr-FR" sz="2800" b="1" i="0" u="none" strike="noStrike" baseline="0" dirty="0">
                          <a:solidFill>
                            <a:srgbClr val="000000"/>
                          </a:solidFill>
                          <a:latin typeface="Times New Roman" panose="02020603050405020304" pitchFamily="18" charset="0"/>
                          <a:cs typeface="Times New Roman" panose="02020603050405020304" pitchFamily="18" charset="0"/>
                        </a:rPr>
                        <a:t> </a:t>
                      </a:r>
                      <a:endParaRPr lang="en-US" sz="2800" dirty="0">
                        <a:latin typeface="Times New Roman" panose="02020603050405020304" pitchFamily="18" charset="0"/>
                        <a:cs typeface="Times New Roman" panose="02020603050405020304" pitchFamily="18" charset="0"/>
                      </a:endParaRPr>
                    </a:p>
                  </a:txBody>
                  <a:tcPr/>
                </a:tc>
                <a:tc>
                  <a:txBody>
                    <a:bodyPr/>
                    <a:lstStyle/>
                    <a:p>
                      <a:r>
                        <a:rPr lang="fr-FR" sz="2800" b="1" i="0" u="none" strike="noStrike" baseline="0" dirty="0">
                          <a:solidFill>
                            <a:srgbClr val="000000"/>
                          </a:solidFill>
                          <a:latin typeface="Times New Roman" panose="02020603050405020304" pitchFamily="18" charset="0"/>
                          <a:cs typeface="Times New Roman" panose="02020603050405020304" pitchFamily="18" charset="0"/>
                        </a:rPr>
                        <a:t>Big Data </a:t>
                      </a:r>
                      <a:r>
                        <a:rPr lang="fr-FR" sz="2800" b="1" i="0" u="none" strike="noStrike" baseline="0" dirty="0" err="1">
                          <a:solidFill>
                            <a:srgbClr val="000000"/>
                          </a:solidFill>
                          <a:latin typeface="Times New Roman" panose="02020603050405020304" pitchFamily="18" charset="0"/>
                          <a:cs typeface="Times New Roman" panose="02020603050405020304" pitchFamily="18" charset="0"/>
                        </a:rPr>
                        <a:t>Environment</a:t>
                      </a:r>
                      <a:r>
                        <a:rPr lang="fr-FR" sz="2800" b="1" i="0" u="none" strike="noStrike" baseline="0" dirty="0">
                          <a:solidFill>
                            <a:srgbClr val="000000"/>
                          </a:solidFill>
                          <a:latin typeface="Times New Roman" panose="02020603050405020304" pitchFamily="18" charset="0"/>
                          <a:cs typeface="Times New Roman" panose="02020603050405020304" pitchFamily="18" charset="0"/>
                        </a:rPr>
                        <a:t> </a:t>
                      </a:r>
                      <a:endParaRPr lang="en-US" sz="2800" dirty="0">
                        <a:latin typeface="Times New Roman" panose="02020603050405020304" pitchFamily="18" charset="0"/>
                        <a:cs typeface="Times New Roman" panose="02020603050405020304" pitchFamily="18" charset="0"/>
                      </a:endParaRPr>
                    </a:p>
                  </a:txBody>
                  <a:tcPr/>
                </a:tc>
              </a:tr>
              <a:tr h="920186">
                <a:tc>
                  <a:txBody>
                    <a:bodyPr/>
                    <a:lstStyle/>
                    <a:p>
                      <a:r>
                        <a:rPr lang="en-US" sz="2800" b="0" i="0" u="none" strike="noStrike" baseline="0" dirty="0">
                          <a:solidFill>
                            <a:srgbClr val="000000"/>
                          </a:solidFill>
                          <a:latin typeface="Times New Roman" panose="02020603050405020304" pitchFamily="18" charset="0"/>
                          <a:cs typeface="Times New Roman" panose="02020603050405020304" pitchFamily="18" charset="0"/>
                        </a:rPr>
                        <a:t>Data is stored in central server </a:t>
                      </a:r>
                      <a:endParaRPr lang="en-US" sz="2800" dirty="0">
                        <a:latin typeface="Times New Roman" panose="02020603050405020304" pitchFamily="18" charset="0"/>
                        <a:cs typeface="Times New Roman" panose="02020603050405020304" pitchFamily="18" charset="0"/>
                      </a:endParaRPr>
                    </a:p>
                  </a:txBody>
                  <a:tcPr/>
                </a:tc>
                <a:tc>
                  <a:txBody>
                    <a:bodyPr/>
                    <a:lstStyle/>
                    <a:p>
                      <a:r>
                        <a:rPr lang="en-US" sz="2800" b="0" i="0" u="none" strike="noStrike" baseline="0" dirty="0">
                          <a:solidFill>
                            <a:srgbClr val="000000"/>
                          </a:solidFill>
                          <a:latin typeface="Times New Roman" panose="02020603050405020304" pitchFamily="18" charset="0"/>
                          <a:cs typeface="Times New Roman" panose="02020603050405020304" pitchFamily="18" charset="0"/>
                        </a:rPr>
                        <a:t>Data is stored in a distributed file system</a:t>
                      </a:r>
                      <a:endParaRPr lang="en-US" sz="2800" dirty="0">
                        <a:latin typeface="Times New Roman" panose="02020603050405020304" pitchFamily="18" charset="0"/>
                        <a:cs typeface="Times New Roman" panose="02020603050405020304" pitchFamily="18" charset="0"/>
                      </a:endParaRPr>
                    </a:p>
                  </a:txBody>
                  <a:tcPr/>
                </a:tc>
              </a:tr>
              <a:tr h="920186">
                <a:tc>
                  <a:txBody>
                    <a:bodyPr/>
                    <a:lstStyle/>
                    <a:p>
                      <a:r>
                        <a:rPr lang="en-US" sz="2800" b="0" i="0" u="none" strike="noStrike" baseline="0" dirty="0">
                          <a:solidFill>
                            <a:srgbClr val="000000"/>
                          </a:solidFill>
                          <a:latin typeface="Times New Roman" panose="02020603050405020304" pitchFamily="18" charset="0"/>
                          <a:cs typeface="Times New Roman" panose="02020603050405020304" pitchFamily="18" charset="0"/>
                        </a:rPr>
                        <a:t>Server scales vertically </a:t>
                      </a:r>
                      <a:endParaRPr lang="en-US" sz="2800" dirty="0">
                        <a:latin typeface="Times New Roman" panose="02020603050405020304" pitchFamily="18" charset="0"/>
                        <a:cs typeface="Times New Roman" panose="02020603050405020304" pitchFamily="18" charset="0"/>
                      </a:endParaRPr>
                    </a:p>
                  </a:txBody>
                  <a:tcPr/>
                </a:tc>
                <a:tc>
                  <a:txBody>
                    <a:bodyPr/>
                    <a:lstStyle/>
                    <a:p>
                      <a:r>
                        <a:rPr lang="en-US" sz="2800" b="0" i="0" u="none" strike="noStrike" baseline="0" dirty="0">
                          <a:solidFill>
                            <a:srgbClr val="000000"/>
                          </a:solidFill>
                          <a:latin typeface="Times New Roman" panose="02020603050405020304" pitchFamily="18" charset="0"/>
                          <a:cs typeface="Times New Roman" panose="02020603050405020304" pitchFamily="18" charset="0"/>
                        </a:rPr>
                        <a:t>Distributed file system scales by horizontally. </a:t>
                      </a:r>
                      <a:endParaRPr lang="en-US" sz="2800" dirty="0">
                        <a:latin typeface="Times New Roman" panose="02020603050405020304" pitchFamily="18" charset="0"/>
                        <a:cs typeface="Times New Roman" panose="02020603050405020304" pitchFamily="18" charset="0"/>
                      </a:endParaRPr>
                    </a:p>
                  </a:txBody>
                  <a:tcPr/>
                </a:tc>
              </a:tr>
              <a:tr h="805179">
                <a:tc>
                  <a:txBody>
                    <a:bodyPr/>
                    <a:lstStyle/>
                    <a:p>
                      <a:r>
                        <a:rPr lang="en-US" sz="2800" b="0" i="0" u="none" strike="noStrike" baseline="0" dirty="0">
                          <a:solidFill>
                            <a:srgbClr val="000000"/>
                          </a:solidFill>
                          <a:latin typeface="Times New Roman" panose="02020603050405020304" pitchFamily="18" charset="0"/>
                          <a:cs typeface="Times New Roman" panose="02020603050405020304" pitchFamily="18" charset="0"/>
                        </a:rPr>
                        <a:t>Analyzes offline or historic data </a:t>
                      </a:r>
                      <a:endParaRPr lang="en-US" sz="28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2800" b="0" i="0" u="none" strike="noStrike" baseline="0" dirty="0">
                          <a:solidFill>
                            <a:srgbClr val="000000"/>
                          </a:solidFill>
                          <a:latin typeface="Times New Roman" panose="02020603050405020304" pitchFamily="18" charset="0"/>
                          <a:cs typeface="Times New Roman" panose="02020603050405020304" pitchFamily="18" charset="0"/>
                        </a:rPr>
                        <a:t>Analyzes real or streaming data</a:t>
                      </a:r>
                      <a:endParaRPr lang="en-US" sz="2800" b="0" i="0" u="none" strike="noStrike" baseline="0" dirty="0">
                        <a:solidFill>
                          <a:srgbClr val="000000"/>
                        </a:solidFill>
                        <a:latin typeface="Times New Roman" panose="02020603050405020304" pitchFamily="18" charset="0"/>
                        <a:cs typeface="Times New Roman" panose="02020603050405020304" pitchFamily="18" charset="0"/>
                      </a:endParaRPr>
                    </a:p>
                  </a:txBody>
                  <a:tcPr/>
                </a:tc>
              </a:tr>
              <a:tr h="1335754">
                <a:tc>
                  <a:txBody>
                    <a:bodyPr/>
                    <a:lstStyle/>
                    <a:p>
                      <a:r>
                        <a:rPr lang="en-US" sz="2800" b="0" i="0" u="none" strike="noStrike" baseline="0" dirty="0">
                          <a:solidFill>
                            <a:srgbClr val="000000"/>
                          </a:solidFill>
                          <a:latin typeface="Times New Roman" panose="02020603050405020304" pitchFamily="18" charset="0"/>
                          <a:cs typeface="Times New Roman" panose="02020603050405020304" pitchFamily="18" charset="0"/>
                        </a:rPr>
                        <a:t>Supports Structured data only </a:t>
                      </a:r>
                      <a:endParaRPr lang="en-US" sz="28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2800" b="0" i="0" u="none" strike="noStrike" baseline="0" dirty="0">
                          <a:solidFill>
                            <a:srgbClr val="000000"/>
                          </a:solidFill>
                          <a:latin typeface="Times New Roman" panose="02020603050405020304" pitchFamily="18" charset="0"/>
                          <a:cs typeface="Times New Roman" panose="02020603050405020304" pitchFamily="18" charset="0"/>
                        </a:rPr>
                        <a:t>Supports variety of data </a:t>
                      </a:r>
                      <a:r>
                        <a:rPr lang="en-US" sz="2800" b="0" i="0" u="none" strike="noStrike" baseline="0" dirty="0" err="1">
                          <a:solidFill>
                            <a:srgbClr val="000000"/>
                          </a:solidFill>
                          <a:latin typeface="Times New Roman" panose="02020603050405020304" pitchFamily="18" charset="0"/>
                          <a:cs typeface="Times New Roman" panose="02020603050405020304" pitchFamily="18" charset="0"/>
                        </a:rPr>
                        <a:t>ie</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 structured, semi-structured and unstructured data.	</a:t>
                      </a:r>
                      <a:endParaRPr lang="en-US" sz="2800" b="0" i="0" u="none" strike="noStrike" baseline="0" dirty="0">
                        <a:solidFill>
                          <a:srgbClr val="000000"/>
                        </a:solidFill>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583" y="214812"/>
            <a:ext cx="10515600" cy="724639"/>
          </a:xfrm>
        </p:spPr>
        <p:txBody>
          <a:bodyPr>
            <a:noAutofit/>
          </a:bodyPr>
          <a:lstStyle/>
          <a:p>
            <a:pPr algn="l"/>
            <a:r>
              <a:rPr lang="en-US" sz="3200" b="1" i="0" u="none" strike="noStrike" baseline="0" dirty="0">
                <a:solidFill>
                  <a:srgbClr val="FF0000"/>
                </a:solidFill>
              </a:rPr>
              <a:t>Phases of Analytics in the Business and Data Science Domain</a:t>
            </a:r>
            <a:br>
              <a:rPr lang="en-US" sz="3200" b="1" i="0" u="none" strike="noStrike" baseline="0" dirty="0">
                <a:solidFill>
                  <a:srgbClr val="FF0000"/>
                </a:solidFill>
              </a:rPr>
            </a:br>
            <a:r>
              <a:rPr lang="en-US" sz="3200" b="1" i="0" u="none" strike="noStrike" baseline="0" dirty="0">
                <a:solidFill>
                  <a:srgbClr val="FF0000"/>
                </a:solidFill>
              </a:rPr>
              <a:t>📚 </a:t>
            </a:r>
            <a:r>
              <a:rPr lang="en-US" sz="3200" b="1" i="0" u="none" strike="noStrike" baseline="0" dirty="0">
                <a:solidFill>
                  <a:srgbClr val="00B050"/>
                </a:solidFill>
              </a:rPr>
              <a:t>The Data Science Process Pipeline</a:t>
            </a:r>
            <a:endParaRPr lang="en-US" sz="3200" b="1" i="0" u="none" strike="noStrike" baseline="0" dirty="0">
              <a:solidFill>
                <a:srgbClr val="00B050"/>
              </a:solidFill>
              <a:latin typeface="Times New Roman" panose="02020603050405020304" pitchFamily="18" charset="0"/>
            </a:endParaRPr>
          </a:p>
        </p:txBody>
      </p:sp>
      <p:sp>
        <p:nvSpPr>
          <p:cNvPr id="3" name="Content Placeholder 2"/>
          <p:cNvSpPr>
            <a:spLocks noGrp="1"/>
          </p:cNvSpPr>
          <p:nvPr>
            <p:ph idx="1"/>
          </p:nvPr>
        </p:nvSpPr>
        <p:spPr>
          <a:xfrm>
            <a:off x="563671" y="1231900"/>
            <a:ext cx="11273425" cy="5411288"/>
          </a:xfrm>
        </p:spPr>
        <p:txBody>
          <a:bodyPr>
            <a:normAutofit fontScale="92500" lnSpcReduction="20000"/>
          </a:bodyPr>
          <a:lstStyle/>
          <a:p>
            <a:pPr>
              <a:buFont typeface="Arial" panose="020B0604020202020204" pitchFamily="34" charset="0"/>
              <a:buChar char="•"/>
            </a:pPr>
            <a:r>
              <a:rPr lang="en-US" dirty="0"/>
              <a:t>This is like a step-by-step guide for using data to solve problems. It has two parts: one for </a:t>
            </a:r>
            <a:r>
              <a:rPr lang="en-US" dirty="0">
                <a:solidFill>
                  <a:srgbClr val="FF0000"/>
                </a:solidFill>
              </a:rPr>
              <a:t>business people </a:t>
            </a:r>
            <a:r>
              <a:rPr lang="en-US" dirty="0"/>
              <a:t>(focusing on goals) and one for </a:t>
            </a:r>
            <a:r>
              <a:rPr lang="en-US" dirty="0">
                <a:solidFill>
                  <a:srgbClr val="FF0000"/>
                </a:solidFill>
              </a:rPr>
              <a:t>data experts</a:t>
            </a:r>
            <a:r>
              <a:rPr lang="en-US" dirty="0"/>
              <a:t> (focusing on the work). They team up to make smart choices.</a:t>
            </a:r>
            <a:endParaRPr lang="en-US" dirty="0"/>
          </a:p>
          <a:p>
            <a:pPr marL="0" indent="0">
              <a:buNone/>
            </a:pPr>
            <a:r>
              <a:rPr lang="en-US" dirty="0"/>
              <a:t>🔖 </a:t>
            </a:r>
            <a:r>
              <a:rPr lang="en-US" b="1" dirty="0">
                <a:solidFill>
                  <a:srgbClr val="FF0000"/>
                </a:solidFill>
              </a:rPr>
              <a:t>Business Part (The Goal-Setting Steps)</a:t>
            </a:r>
            <a:endParaRPr lang="en-US" b="1" dirty="0">
              <a:solidFill>
                <a:srgbClr val="FF0000"/>
              </a:solidFill>
            </a:endParaRPr>
          </a:p>
          <a:p>
            <a:pPr>
              <a:buFont typeface="Arial" panose="020B0604020202020204" pitchFamily="34" charset="0"/>
              <a:buChar char="•"/>
            </a:pPr>
            <a:r>
              <a:rPr lang="en-US" dirty="0"/>
              <a:t>These help decide what to fix and how to check if it worked.</a:t>
            </a:r>
            <a:endParaRPr lang="en-US" dirty="0"/>
          </a:p>
          <a:p>
            <a:pPr>
              <a:buFont typeface="Arial" panose="020B0604020202020204" pitchFamily="34" charset="0"/>
              <a:buChar char="•"/>
            </a:pPr>
            <a:r>
              <a:rPr lang="en-US" b="1" dirty="0"/>
              <a:t>Framing the Question</a:t>
            </a:r>
            <a:r>
              <a:rPr lang="en-US" dirty="0"/>
              <a:t>: Pick the main business goal and how to measure if it's a win. Example: "How can we sell more? We'll track sales numbers.“</a:t>
            </a:r>
            <a:endParaRPr lang="en-US" dirty="0"/>
          </a:p>
          <a:p>
            <a:pPr>
              <a:buFont typeface="Arial" panose="020B0604020202020204" pitchFamily="34" charset="0"/>
              <a:buChar char="•"/>
            </a:pPr>
            <a:r>
              <a:rPr lang="en-US" dirty="0"/>
              <a:t>Framing means clearly defining what problem you want to solve, and how you’ll know if you’ve solved it. It’s setting up the question in the right way before you start looking at data.</a:t>
            </a:r>
            <a:endParaRPr lang="en-US" dirty="0"/>
          </a:p>
          <a:p>
            <a:pPr>
              <a:buFont typeface="Arial" panose="020B0604020202020204" pitchFamily="34" charset="0"/>
              <a:buChar char="•"/>
            </a:pPr>
            <a:r>
              <a:rPr lang="en-US" dirty="0"/>
              <a:t>For example, instead of just saying “Let’s improve sales,” you frame it more specifically: “How can we increase online sales by 10% in the next three months?”  </a:t>
            </a:r>
            <a:endParaRPr lang="en-US" dirty="0"/>
          </a:p>
          <a:p>
            <a:pPr>
              <a:buFont typeface="Arial" panose="020B0604020202020204" pitchFamily="34" charset="0"/>
              <a:buChar char="•"/>
            </a:pPr>
            <a:r>
              <a:rPr lang="en-US" dirty="0"/>
              <a:t>It’s like choosing your goal and deciding what success looks like—makes the rest of the analysis much easier.</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583" y="214812"/>
            <a:ext cx="10515600" cy="724639"/>
          </a:xfrm>
        </p:spPr>
        <p:txBody>
          <a:bodyPr>
            <a:noAutofit/>
          </a:bodyPr>
          <a:lstStyle/>
          <a:p>
            <a:pPr algn="l"/>
            <a:r>
              <a:rPr lang="en-US" sz="3200" b="1" i="0" u="none" strike="noStrike" baseline="0" dirty="0">
                <a:solidFill>
                  <a:srgbClr val="FF0000"/>
                </a:solidFill>
              </a:rPr>
              <a:t>Phases of Analytics in the Business and Data Science Domain</a:t>
            </a:r>
            <a:br>
              <a:rPr lang="en-US" sz="3200" b="1" i="0" u="none" strike="noStrike" baseline="0" dirty="0">
                <a:solidFill>
                  <a:srgbClr val="FF0000"/>
                </a:solidFill>
              </a:rPr>
            </a:br>
            <a:r>
              <a:rPr lang="en-US" sz="3200" b="1" i="0" u="none" strike="noStrike" baseline="0" dirty="0">
                <a:solidFill>
                  <a:srgbClr val="FF0000"/>
                </a:solidFill>
              </a:rPr>
              <a:t>📚 </a:t>
            </a:r>
            <a:r>
              <a:rPr lang="en-US" sz="3200" b="1" i="0" u="none" strike="noStrike" baseline="0" dirty="0">
                <a:solidFill>
                  <a:srgbClr val="00B050"/>
                </a:solidFill>
              </a:rPr>
              <a:t>The Data Science Process Pipeline</a:t>
            </a:r>
            <a:endParaRPr lang="en-US" sz="3200" b="1" i="0" u="none" strike="noStrike" baseline="0" dirty="0">
              <a:solidFill>
                <a:srgbClr val="00B050"/>
              </a:solidFill>
              <a:latin typeface="Times New Roman" panose="02020603050405020304" pitchFamily="18" charset="0"/>
            </a:endParaRPr>
          </a:p>
        </p:txBody>
      </p:sp>
      <p:sp>
        <p:nvSpPr>
          <p:cNvPr id="3" name="Content Placeholder 2"/>
          <p:cNvSpPr>
            <a:spLocks noGrp="1"/>
          </p:cNvSpPr>
          <p:nvPr>
            <p:ph idx="1"/>
          </p:nvPr>
        </p:nvSpPr>
        <p:spPr>
          <a:xfrm>
            <a:off x="563671" y="1231900"/>
            <a:ext cx="11273425" cy="5411288"/>
          </a:xfrm>
        </p:spPr>
        <p:txBody>
          <a:bodyPr>
            <a:normAutofit/>
          </a:bodyPr>
          <a:lstStyle/>
          <a:p>
            <a:pPr>
              <a:buFont typeface="Arial" panose="020B0604020202020204" pitchFamily="34" charset="0"/>
              <a:buChar char="•"/>
            </a:pPr>
            <a:r>
              <a:rPr lang="en-US" b="1" dirty="0"/>
              <a:t>Hypothesis Generation</a:t>
            </a:r>
            <a:r>
              <a:rPr lang="en-US" dirty="0"/>
              <a:t>: Come up with ideas based on data about why something's wrong or how to fix it. Example: "Maybe customers leave because prices are too high—let's check the data."</a:t>
            </a:r>
            <a:endParaRPr lang="en-US" dirty="0"/>
          </a:p>
          <a:p>
            <a:pPr>
              <a:buFont typeface="Arial" panose="020B0604020202020204" pitchFamily="34" charset="0"/>
              <a:buChar char="•"/>
            </a:pPr>
            <a:r>
              <a:rPr lang="en-US" b="1" dirty="0"/>
              <a:t>Action &amp; Decision</a:t>
            </a:r>
            <a:r>
              <a:rPr lang="en-US" dirty="0"/>
              <a:t>: Use the data findings to make changes and see if they help. Example: Lower prices, then watch if sales go up.</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583" y="214812"/>
            <a:ext cx="10515600" cy="724639"/>
          </a:xfrm>
        </p:spPr>
        <p:txBody>
          <a:bodyPr>
            <a:noAutofit/>
          </a:bodyPr>
          <a:lstStyle/>
          <a:p>
            <a:pPr algn="l"/>
            <a:r>
              <a:rPr lang="en-US" sz="3200" b="1" i="0" u="none" strike="noStrike" baseline="0" dirty="0">
                <a:solidFill>
                  <a:srgbClr val="FF0000"/>
                </a:solidFill>
              </a:rPr>
              <a:t>Phases of Analytics in the Business and Data Science Domain</a:t>
            </a:r>
            <a:br>
              <a:rPr lang="en-US" sz="3200" b="1" i="0" u="none" strike="noStrike" baseline="0" dirty="0">
                <a:solidFill>
                  <a:srgbClr val="FF0000"/>
                </a:solidFill>
              </a:rPr>
            </a:br>
            <a:r>
              <a:rPr lang="en-US" sz="3200" b="1" i="0" u="none" strike="noStrike" baseline="0" dirty="0">
                <a:solidFill>
                  <a:srgbClr val="FF0000"/>
                </a:solidFill>
              </a:rPr>
              <a:t>📚 </a:t>
            </a:r>
            <a:r>
              <a:rPr lang="en-US" sz="3200" b="1" i="0" u="none" strike="noStrike" baseline="0" dirty="0">
                <a:solidFill>
                  <a:srgbClr val="00B050"/>
                </a:solidFill>
              </a:rPr>
              <a:t>The Data Science Process Pipeline Cont..</a:t>
            </a:r>
            <a:endParaRPr lang="en-US" sz="3200" b="1" i="0" u="none" strike="noStrike" baseline="0" dirty="0">
              <a:solidFill>
                <a:srgbClr val="00B050"/>
              </a:solidFill>
              <a:latin typeface="Times New Roman" panose="02020603050405020304" pitchFamily="18" charset="0"/>
            </a:endParaRPr>
          </a:p>
        </p:txBody>
      </p:sp>
      <p:sp>
        <p:nvSpPr>
          <p:cNvPr id="3" name="Content Placeholder 2"/>
          <p:cNvSpPr>
            <a:spLocks noGrp="1"/>
          </p:cNvSpPr>
          <p:nvPr>
            <p:ph idx="1"/>
          </p:nvPr>
        </p:nvSpPr>
        <p:spPr>
          <a:xfrm>
            <a:off x="563671" y="1231900"/>
            <a:ext cx="11273425" cy="5411288"/>
          </a:xfrm>
        </p:spPr>
        <p:txBody>
          <a:bodyPr>
            <a:normAutofit fontScale="92500" lnSpcReduction="20000"/>
          </a:bodyPr>
          <a:lstStyle/>
          <a:p>
            <a:pPr marL="0" indent="0">
              <a:buNone/>
            </a:pPr>
            <a:r>
              <a:rPr lang="en-US" dirty="0">
                <a:solidFill>
                  <a:srgbClr val="FF0000"/>
                </a:solidFill>
              </a:rPr>
              <a:t>🔖 </a:t>
            </a:r>
            <a:r>
              <a:rPr lang="en-US" b="1" dirty="0">
                <a:solidFill>
                  <a:srgbClr val="FF0000"/>
                </a:solidFill>
              </a:rPr>
              <a:t>Data Science Part (The OSEMN Steps)</a:t>
            </a:r>
            <a:endParaRPr lang="en-US" b="1" dirty="0">
              <a:solidFill>
                <a:srgbClr val="FF0000"/>
              </a:solidFill>
            </a:endParaRPr>
          </a:p>
          <a:p>
            <a:pPr>
              <a:buFont typeface="Arial" panose="020B0604020202020204" pitchFamily="34" charset="0"/>
              <a:buChar char="•"/>
            </a:pPr>
            <a:r>
              <a:rPr lang="en-US" b="1" dirty="0">
                <a:solidFill>
                  <a:srgbClr val="FF0000"/>
                </a:solidFill>
              </a:rPr>
              <a:t>OSEMN</a:t>
            </a:r>
            <a:r>
              <a:rPr lang="en-US" dirty="0"/>
              <a:t> is a cycle for handling data: Get it, clean it, look at it, build tools with it, and share it. (O = Obtain, S = Scrub, E = Explore, M = Model, N = Narrate.)</a:t>
            </a:r>
            <a:endParaRPr lang="en-US" dirty="0"/>
          </a:p>
          <a:p>
            <a:pPr>
              <a:buFont typeface="Arial" panose="020B0604020202020204" pitchFamily="34" charset="0"/>
              <a:buChar char="•"/>
            </a:pPr>
            <a:r>
              <a:rPr lang="en-US" b="1" dirty="0"/>
              <a:t>Obtain</a:t>
            </a:r>
            <a:r>
              <a:rPr lang="en-US" dirty="0"/>
              <a:t>: Get the data from places like files, websites, or databases. Example: Pull customer info from a company's records.</a:t>
            </a:r>
            <a:endParaRPr lang="en-US" dirty="0"/>
          </a:p>
          <a:p>
            <a:pPr>
              <a:buFont typeface="Arial" panose="020B0604020202020204" pitchFamily="34" charset="0"/>
              <a:buChar char="•"/>
            </a:pPr>
            <a:r>
              <a:rPr lang="en-US" b="1" dirty="0"/>
              <a:t>Scrub</a:t>
            </a:r>
            <a:r>
              <a:rPr lang="en-US" dirty="0"/>
              <a:t>: Clean and fix the data so it's neat and ready to use. This means removing junk, fixing mistakes, and mixing different types together. It takes most of the time!</a:t>
            </a:r>
            <a:endParaRPr lang="en-US" dirty="0"/>
          </a:p>
          <a:p>
            <a:pPr>
              <a:buFont typeface="Arial" panose="020B0604020202020204" pitchFamily="34" charset="0"/>
              <a:buChar char="•"/>
            </a:pPr>
            <a:r>
              <a:rPr lang="en-US" b="1" dirty="0"/>
              <a:t>Explore</a:t>
            </a:r>
            <a:r>
              <a:rPr lang="en-US" dirty="0"/>
              <a:t>: Look closely at the data to find patterns. Use charts and simple math to understand it. Example: "Sales are higher on weekends—why?"</a:t>
            </a:r>
            <a:endParaRPr lang="en-US" dirty="0"/>
          </a:p>
          <a:p>
            <a:r>
              <a:rPr lang="en-US" b="1" dirty="0"/>
              <a:t>Model</a:t>
            </a:r>
            <a:r>
              <a:rPr lang="en-US" dirty="0"/>
              <a:t>: Building the predictive or prescriptive tool. Create tools or predictions from the data. Example: Build a simple program that guesses future sales.</a:t>
            </a:r>
            <a:endParaRPr lang="en-US" dirty="0"/>
          </a:p>
          <a:p>
            <a:r>
              <a:rPr lang="en-US" b="1" dirty="0"/>
              <a:t>Narrate</a:t>
            </a:r>
            <a:r>
              <a:rPr lang="en-US" dirty="0"/>
              <a:t>: Communicating results. Tell others what you found in an easy way, like with pictures or reports. Example: Make a colorful chart for bosses to see the key points.</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583" y="214812"/>
            <a:ext cx="10515600" cy="724639"/>
          </a:xfrm>
        </p:spPr>
        <p:txBody>
          <a:bodyPr>
            <a:noAutofit/>
          </a:bodyPr>
          <a:lstStyle/>
          <a:p>
            <a:pPr algn="l"/>
            <a:r>
              <a:rPr lang="en-US" sz="3200" b="1" i="0" u="none" strike="noStrike" baseline="0" dirty="0">
                <a:solidFill>
                  <a:srgbClr val="FF0000"/>
                </a:solidFill>
              </a:rPr>
              <a:t>Phases of Analytics in the Business and Data Science Domain</a:t>
            </a:r>
            <a:br>
              <a:rPr lang="en-US" sz="3200" b="1" i="0" u="none" strike="noStrike" baseline="0" dirty="0">
                <a:solidFill>
                  <a:srgbClr val="FF0000"/>
                </a:solidFill>
              </a:rPr>
            </a:br>
            <a:r>
              <a:rPr lang="en-US" sz="3200" b="1" i="0" u="none" strike="noStrike" baseline="0" dirty="0">
                <a:solidFill>
                  <a:srgbClr val="FF0000"/>
                </a:solidFill>
              </a:rPr>
              <a:t>📚 </a:t>
            </a:r>
            <a:r>
              <a:rPr lang="en-US" sz="3200" b="1" i="0" u="none" strike="noStrike" baseline="0" dirty="0">
                <a:solidFill>
                  <a:srgbClr val="00B050"/>
                </a:solidFill>
              </a:rPr>
              <a:t>The Data Science Process Pipeline Cont..</a:t>
            </a:r>
            <a:endParaRPr lang="en-US" sz="3200" b="1" i="0" u="none" strike="noStrike" baseline="0" dirty="0">
              <a:solidFill>
                <a:srgbClr val="00B050"/>
              </a:solidFill>
              <a:latin typeface="Times New Roman" panose="02020603050405020304" pitchFamily="18" charset="0"/>
            </a:endParaRPr>
          </a:p>
        </p:txBody>
      </p:sp>
      <p:sp>
        <p:nvSpPr>
          <p:cNvPr id="3" name="Content Placeholder 2"/>
          <p:cNvSpPr>
            <a:spLocks noGrp="1"/>
          </p:cNvSpPr>
          <p:nvPr>
            <p:ph idx="1"/>
          </p:nvPr>
        </p:nvSpPr>
        <p:spPr>
          <a:xfrm>
            <a:off x="563671" y="1231900"/>
            <a:ext cx="11273425" cy="5411288"/>
          </a:xfrm>
        </p:spPr>
        <p:txBody>
          <a:bodyPr>
            <a:normAutofit/>
          </a:bodyPr>
          <a:lstStyle/>
          <a:p>
            <a:pPr algn="just">
              <a:buFont typeface="Arial" panose="020B0604020202020204" pitchFamily="34" charset="0"/>
              <a:buChar char="•"/>
            </a:pPr>
            <a:r>
              <a:rPr lang="en-US" dirty="0"/>
              <a:t>The key? Business sets the goals (the "what"), data folks do the work (the "how"). Together, they turn data into real help for decisions, like in business reports or apps.</a:t>
            </a:r>
            <a:endParaRPr lang="en-US" dirty="0"/>
          </a:p>
          <a:p>
            <a:pPr algn="just">
              <a:buFont typeface="Arial" panose="020B0604020202020204" pitchFamily="34" charset="0"/>
              <a:buChar char="•"/>
            </a:pPr>
            <a:r>
              <a:rPr lang="en-US" dirty="0"/>
              <a:t>Emphasize the </a:t>
            </a:r>
            <a:r>
              <a:rPr lang="en-US" b="1" dirty="0"/>
              <a:t>Scrub/Preparation</a:t>
            </a:r>
            <a:r>
              <a:rPr lang="en-US" dirty="0"/>
              <a:t> phase, which often takes 70-80% of a data scientist's time: extracting, cleansing, consolidating, and transforming data from diverse, heterogeneous sources (like SQL, NoSQL, and flat files) into a single, usable enterprise data warehouse or structure.</a:t>
            </a:r>
            <a:endParaRPr lang="en-US" dirty="0"/>
          </a:p>
          <a:p>
            <a:pPr algn="just">
              <a:buFont typeface="Arial" panose="020B0604020202020204" pitchFamily="34" charset="0"/>
              <a:buChar char="•"/>
            </a:pPr>
            <a:r>
              <a:rPr lang="en-US" dirty="0"/>
              <a:t>The </a:t>
            </a:r>
            <a:r>
              <a:rPr lang="en-US" b="1" dirty="0"/>
              <a:t>Narrate</a:t>
            </a:r>
            <a:r>
              <a:rPr lang="en-US" dirty="0"/>
              <a:t> phase is where we build BI portals and visualizations to analyze data, generating information and knowledge for informed decisions.</a:t>
            </a:r>
            <a:endParaRPr lang="en-US" dirty="0"/>
          </a:p>
          <a:p>
            <a:pPr algn="just">
              <a:buFont typeface="Arial" panose="020B0604020202020204" pitchFamily="34" charset="0"/>
              <a:buChar char="•"/>
            </a:pP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583" y="214812"/>
            <a:ext cx="10515600" cy="724639"/>
          </a:xfrm>
        </p:spPr>
        <p:txBody>
          <a:bodyPr>
            <a:noAutofit/>
          </a:bodyPr>
          <a:lstStyle/>
          <a:p>
            <a:pPr algn="l"/>
            <a:r>
              <a:rPr lang="en-US" sz="3200" b="1" i="0" u="none" strike="noStrike" baseline="0" dirty="0">
                <a:solidFill>
                  <a:srgbClr val="FF0000"/>
                </a:solidFill>
              </a:rPr>
              <a:t>Descriptive, Predictive, and Prescriptive Analytics</a:t>
            </a:r>
            <a:br>
              <a:rPr lang="en-US" sz="3200" b="1" i="0" u="none" strike="noStrike" baseline="0" dirty="0">
                <a:solidFill>
                  <a:srgbClr val="FF0000"/>
                </a:solidFill>
              </a:rPr>
            </a:br>
            <a:r>
              <a:rPr lang="en-US" sz="3200" b="1" i="0" u="none" strike="noStrike" baseline="0" dirty="0">
                <a:solidFill>
                  <a:srgbClr val="00B050"/>
                </a:solidFill>
              </a:rPr>
              <a:t>The Three Levels of Analytical Insight</a:t>
            </a:r>
            <a:endParaRPr lang="en-US" sz="3200" b="1" i="0" u="none" strike="noStrike" baseline="0" dirty="0">
              <a:solidFill>
                <a:srgbClr val="00B050"/>
              </a:solidFill>
              <a:latin typeface="Times New Roman" panose="02020603050405020304" pitchFamily="18" charset="0"/>
            </a:endParaRPr>
          </a:p>
        </p:txBody>
      </p:sp>
      <p:sp>
        <p:nvSpPr>
          <p:cNvPr id="3" name="Content Placeholder 2"/>
          <p:cNvSpPr>
            <a:spLocks noGrp="1"/>
          </p:cNvSpPr>
          <p:nvPr>
            <p:ph idx="1"/>
          </p:nvPr>
        </p:nvSpPr>
        <p:spPr>
          <a:xfrm>
            <a:off x="563671" y="1231900"/>
            <a:ext cx="11273425" cy="5411288"/>
          </a:xfrm>
        </p:spPr>
        <p:txBody>
          <a:bodyPr>
            <a:normAutofit/>
          </a:bodyPr>
          <a:lstStyle/>
          <a:p>
            <a:pPr marL="0" indent="0" algn="just">
              <a:buNone/>
            </a:pPr>
            <a:r>
              <a:rPr lang="en-US" b="1" dirty="0"/>
              <a:t>1. Descriptive Analytics (Looking at the Past)</a:t>
            </a:r>
            <a:endParaRPr lang="en-US" b="1" dirty="0"/>
          </a:p>
          <a:p>
            <a:pPr algn="just">
              <a:buFont typeface="Arial" panose="020B0604020202020204" pitchFamily="34" charset="0"/>
              <a:buChar char="•"/>
            </a:pPr>
            <a:r>
              <a:rPr lang="en-US" dirty="0"/>
              <a:t>What happened?</a:t>
            </a:r>
            <a:endParaRPr lang="en-US" dirty="0"/>
          </a:p>
          <a:p>
            <a:pPr algn="just">
              <a:buFont typeface="Arial" panose="020B0604020202020204" pitchFamily="34" charset="0"/>
              <a:buChar char="•"/>
            </a:pPr>
            <a:r>
              <a:rPr lang="en-US" dirty="0"/>
              <a:t>Uses things like dashboards and reports to show past results.</a:t>
            </a:r>
            <a:endParaRPr lang="en-US" dirty="0"/>
          </a:p>
          <a:p>
            <a:pPr algn="just">
              <a:buFont typeface="Arial" panose="020B0604020202020204" pitchFamily="34" charset="0"/>
              <a:buChar char="•"/>
            </a:pPr>
            <a:r>
              <a:rPr lang="en-US" dirty="0"/>
              <a:t>Example: Checking last year’s sales numbers or viewing a summary of customer visits.</a:t>
            </a:r>
            <a:endParaRPr lang="en-US" dirty="0"/>
          </a:p>
          <a:p>
            <a:pPr marL="0" indent="0" algn="just">
              <a:buNone/>
            </a:pPr>
            <a:r>
              <a:rPr lang="en-US" b="1" dirty="0"/>
              <a:t>2. Predictive Analytics (Looking at the Future)</a:t>
            </a:r>
            <a:endParaRPr lang="en-US" b="1" dirty="0"/>
          </a:p>
          <a:p>
            <a:pPr algn="just">
              <a:buFont typeface="Arial" panose="020B0604020202020204" pitchFamily="34" charset="0"/>
              <a:buChar char="•"/>
            </a:pPr>
            <a:r>
              <a:rPr lang="en-US" dirty="0"/>
              <a:t>What will happen?</a:t>
            </a:r>
            <a:endParaRPr lang="en-US" dirty="0"/>
          </a:p>
          <a:p>
            <a:pPr algn="just">
              <a:buFont typeface="Arial" panose="020B0604020202020204" pitchFamily="34" charset="0"/>
              <a:buChar char="•"/>
            </a:pPr>
            <a:r>
              <a:rPr lang="en-US" dirty="0"/>
              <a:t>Uses math, statistics, and machine learning to guess what might happen next.</a:t>
            </a:r>
            <a:endParaRPr lang="en-US" dirty="0"/>
          </a:p>
          <a:p>
            <a:pPr algn="just">
              <a:buFont typeface="Arial" panose="020B0604020202020204" pitchFamily="34" charset="0"/>
              <a:buChar char="•"/>
            </a:pPr>
            <a:r>
              <a:rPr lang="en-US" dirty="0"/>
              <a:t>Example: Forecasting next month’s revenue or predicting which customers might leave soon.</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583" y="214812"/>
            <a:ext cx="10515600" cy="724639"/>
          </a:xfrm>
        </p:spPr>
        <p:txBody>
          <a:bodyPr>
            <a:noAutofit/>
          </a:bodyPr>
          <a:lstStyle/>
          <a:p>
            <a:pPr algn="l"/>
            <a:r>
              <a:rPr lang="en-US" sz="3200" b="1" i="0" u="none" strike="noStrike" baseline="0" dirty="0">
                <a:solidFill>
                  <a:srgbClr val="FF0000"/>
                </a:solidFill>
              </a:rPr>
              <a:t>Descriptive, Predictive, and Prescriptive Analytics</a:t>
            </a:r>
            <a:br>
              <a:rPr lang="en-US" sz="3200" b="1" i="0" u="none" strike="noStrike" baseline="0" dirty="0">
                <a:solidFill>
                  <a:srgbClr val="FF0000"/>
                </a:solidFill>
              </a:rPr>
            </a:br>
            <a:r>
              <a:rPr lang="en-US" sz="3200" b="1" i="0" u="none" strike="noStrike" baseline="0" dirty="0">
                <a:solidFill>
                  <a:srgbClr val="00B050"/>
                </a:solidFill>
              </a:rPr>
              <a:t>The Three Levels of Analytical Insight Cont..</a:t>
            </a:r>
            <a:endParaRPr lang="en-US" sz="3200" b="1" i="0" u="none" strike="noStrike" baseline="0" dirty="0">
              <a:solidFill>
                <a:srgbClr val="00B050"/>
              </a:solidFill>
              <a:latin typeface="Times New Roman" panose="02020603050405020304" pitchFamily="18" charset="0"/>
            </a:endParaRPr>
          </a:p>
        </p:txBody>
      </p:sp>
      <p:sp>
        <p:nvSpPr>
          <p:cNvPr id="3" name="Content Placeholder 2"/>
          <p:cNvSpPr>
            <a:spLocks noGrp="1"/>
          </p:cNvSpPr>
          <p:nvPr>
            <p:ph idx="1"/>
          </p:nvPr>
        </p:nvSpPr>
        <p:spPr>
          <a:xfrm>
            <a:off x="563671" y="1231900"/>
            <a:ext cx="11273425" cy="5537200"/>
          </a:xfrm>
        </p:spPr>
        <p:txBody>
          <a:bodyPr>
            <a:normAutofit/>
          </a:bodyPr>
          <a:lstStyle/>
          <a:p>
            <a:pPr marL="0" indent="0" algn="just">
              <a:buNone/>
            </a:pPr>
            <a:r>
              <a:rPr lang="en-US" b="1" dirty="0"/>
              <a:t>3. Prescriptive Analytics (Taking Action)</a:t>
            </a:r>
            <a:endParaRPr lang="en-US" b="1" dirty="0"/>
          </a:p>
          <a:p>
            <a:pPr marL="0" indent="0" algn="just">
              <a:buNone/>
            </a:pPr>
            <a:r>
              <a:rPr lang="en-US" dirty="0"/>
              <a:t>⦁ What should we do?</a:t>
            </a:r>
            <a:endParaRPr lang="en-US" dirty="0"/>
          </a:p>
          <a:p>
            <a:pPr marL="0" indent="0" algn="just">
              <a:buNone/>
            </a:pPr>
            <a:r>
              <a:rPr lang="en-US" dirty="0"/>
              <a:t>⦁ Uses smart algorithms to suggest the best actions to take.</a:t>
            </a:r>
            <a:endParaRPr lang="en-US" dirty="0"/>
          </a:p>
          <a:p>
            <a:pPr marL="0" indent="0" algn="just">
              <a:buNone/>
            </a:pPr>
            <a:r>
              <a:rPr lang="en-US" dirty="0"/>
              <a:t>⦁ Example: Finding the fastest delivery route for a truck, or setting product prices to boost profits.</a:t>
            </a:r>
            <a:endParaRPr lang="en-US" dirty="0"/>
          </a:p>
          <a:p>
            <a:pPr algn="just">
              <a:buFont typeface="Wingdings" panose="05000000000000000000" pitchFamily="2" charset="2"/>
              <a:buChar char="à"/>
            </a:pPr>
            <a:r>
              <a:rPr lang="en-US" dirty="0"/>
              <a:t>So, first you study the past, then you forecast the future, and finally you decide the best move to make—like having a smart helper for business!</a:t>
            </a:r>
            <a:endParaRPr lang="en-US" dirty="0"/>
          </a:p>
          <a:p>
            <a:pPr algn="just">
              <a:buFont typeface="Wingdings" panose="05000000000000000000" pitchFamily="2" charset="2"/>
              <a:buChar char="à"/>
            </a:pPr>
            <a:r>
              <a:rPr lang="en-US" dirty="0"/>
              <a:t>All businesses start with Descriptive, but the true competitive advantage comes from mastering Predictive and Prescriptive analytics.</a:t>
            </a:r>
            <a:endParaRPr lang="en-US" dirty="0"/>
          </a:p>
          <a:p>
            <a:pPr algn="just">
              <a:buFont typeface="Wingdings" panose="05000000000000000000" pitchFamily="2" charset="2"/>
              <a:buChar char="à"/>
            </a:pPr>
            <a:r>
              <a:rPr lang="en-US" b="1" dirty="0"/>
              <a:t>Goal:</a:t>
            </a:r>
            <a:r>
              <a:rPr lang="en-US" dirty="0"/>
              <a:t> The ultimate goal is to reach </a:t>
            </a:r>
            <a:r>
              <a:rPr lang="en-US" b="1" dirty="0"/>
              <a:t>Prescriptive Analytics</a:t>
            </a:r>
            <a:r>
              <a:rPr lang="en-US" dirty="0"/>
              <a:t>—using models to support managerial decision-making and automate the best managerial action.</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583" y="214812"/>
            <a:ext cx="10515600" cy="724639"/>
          </a:xfrm>
        </p:spPr>
        <p:txBody>
          <a:bodyPr>
            <a:noAutofit/>
          </a:bodyPr>
          <a:lstStyle/>
          <a:p>
            <a:pPr algn="l"/>
            <a:r>
              <a:rPr lang="en-US" sz="3200" b="1" i="0" u="none" strike="noStrike" baseline="0" dirty="0">
                <a:solidFill>
                  <a:srgbClr val="FF0000"/>
                </a:solidFill>
              </a:rPr>
              <a:t>Descriptive, Predictive, and Prescriptive Analytics</a:t>
            </a:r>
            <a:br>
              <a:rPr lang="en-US" sz="3200" b="1" i="0" u="none" strike="noStrike" baseline="0" dirty="0">
                <a:solidFill>
                  <a:srgbClr val="FF0000"/>
                </a:solidFill>
              </a:rPr>
            </a:br>
            <a:r>
              <a:rPr lang="en-US" sz="3200" b="1" i="0" u="none" strike="noStrike" baseline="0" dirty="0">
                <a:solidFill>
                  <a:srgbClr val="00B050"/>
                </a:solidFill>
              </a:rPr>
              <a:t>The Three Levels of Analytical Insight Cont..</a:t>
            </a:r>
            <a:endParaRPr lang="en-US" sz="3200" b="1" i="0" u="none" strike="noStrike" baseline="0" dirty="0">
              <a:solidFill>
                <a:srgbClr val="00B050"/>
              </a:solidFill>
              <a:latin typeface="Times New Roman" panose="02020603050405020304" pitchFamily="18" charset="0"/>
            </a:endParaRPr>
          </a:p>
        </p:txBody>
      </p:sp>
      <p:pic>
        <p:nvPicPr>
          <p:cNvPr id="5" name="Content Placeholder 4"/>
          <p:cNvPicPr>
            <a:picLocks noGrp="1" noChangeAspect="1"/>
          </p:cNvPicPr>
          <p:nvPr>
            <p:ph idx="1"/>
          </p:nvPr>
        </p:nvPicPr>
        <p:blipFill>
          <a:blip r:embed="rId1"/>
          <a:stretch>
            <a:fillRect/>
          </a:stretch>
        </p:blipFill>
        <p:spPr>
          <a:xfrm>
            <a:off x="593410" y="1028351"/>
            <a:ext cx="10068253" cy="5703737"/>
          </a:xfr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583" y="214812"/>
            <a:ext cx="10515600" cy="724639"/>
          </a:xfrm>
        </p:spPr>
        <p:txBody>
          <a:bodyPr>
            <a:noAutofit/>
          </a:bodyPr>
          <a:lstStyle/>
          <a:p>
            <a:pPr algn="l"/>
            <a:r>
              <a:rPr lang="en-US" sz="3200" b="1" i="0" u="none" strike="noStrike" baseline="0" dirty="0">
                <a:solidFill>
                  <a:srgbClr val="00B050"/>
                </a:solidFill>
                <a:latin typeface="Times New Roman" panose="02020603050405020304" pitchFamily="18" charset="0"/>
              </a:rPr>
              <a:t>Applications and Skills for Business Analytics</a:t>
            </a:r>
            <a:endParaRPr lang="en-US" sz="3200" b="1" i="0" u="none" strike="noStrike" baseline="0" dirty="0">
              <a:solidFill>
                <a:srgbClr val="00B050"/>
              </a:solidFill>
              <a:latin typeface="Times New Roman" panose="02020603050405020304" pitchFamily="18" charset="0"/>
            </a:endParaRPr>
          </a:p>
        </p:txBody>
      </p:sp>
      <p:sp>
        <p:nvSpPr>
          <p:cNvPr id="3" name="Content Placeholder 2"/>
          <p:cNvSpPr>
            <a:spLocks noGrp="1"/>
          </p:cNvSpPr>
          <p:nvPr>
            <p:ph idx="1"/>
          </p:nvPr>
        </p:nvSpPr>
        <p:spPr>
          <a:xfrm>
            <a:off x="563671" y="1231900"/>
            <a:ext cx="11273425" cy="5537200"/>
          </a:xfrm>
        </p:spPr>
        <p:txBody>
          <a:bodyPr>
            <a:normAutofit/>
          </a:bodyPr>
          <a:lstStyle/>
          <a:p>
            <a:pPr algn="just"/>
            <a:r>
              <a:rPr lang="en-US" b="1" dirty="0">
                <a:solidFill>
                  <a:srgbClr val="FF0000"/>
                </a:solidFill>
              </a:rPr>
              <a:t>Applications:</a:t>
            </a:r>
            <a:endParaRPr lang="en-US" b="1" dirty="0">
              <a:solidFill>
                <a:srgbClr val="FF0000"/>
              </a:solidFill>
            </a:endParaRPr>
          </a:p>
          <a:p>
            <a:pPr algn="just">
              <a:buFont typeface="Arial" panose="020B0604020202020204" pitchFamily="34" charset="0"/>
              <a:buChar char="•"/>
            </a:pPr>
            <a:r>
              <a:rPr lang="en-US" b="1" dirty="0"/>
              <a:t>Business Applications:</a:t>
            </a:r>
            <a:r>
              <a:rPr lang="en-US" dirty="0"/>
              <a:t> Fraud detection (Finance), risk modeling, supply chain optimization (Operations), customer segmentation (Marketing).</a:t>
            </a:r>
            <a:endParaRPr lang="en-US" dirty="0"/>
          </a:p>
          <a:p>
            <a:pPr algn="just">
              <a:buFont typeface="Arial" panose="020B0604020202020204" pitchFamily="34" charset="0"/>
              <a:buChar char="•"/>
            </a:pPr>
            <a:r>
              <a:rPr lang="en-US" b="1" dirty="0"/>
              <a:t>Text Analytics:</a:t>
            </a:r>
            <a:r>
              <a:rPr lang="en-US" dirty="0"/>
              <a:t> Analyzing text data (reviews, emails) for insights like sentiment analysis.</a:t>
            </a:r>
            <a:endParaRPr lang="en-US" dirty="0"/>
          </a:p>
          <a:p>
            <a:pPr algn="just">
              <a:buFont typeface="Arial" panose="020B0604020202020204" pitchFamily="34" charset="0"/>
              <a:buChar char="•"/>
            </a:pPr>
            <a:r>
              <a:rPr lang="en-US" b="1" dirty="0"/>
              <a:t>Web Analytics:</a:t>
            </a:r>
            <a:r>
              <a:rPr lang="en-US" dirty="0"/>
              <a:t> Measuring user activity on web properties (clicks, bounce rate) for optimization.</a:t>
            </a:r>
            <a:endParaRPr lang="en-US" dirty="0"/>
          </a:p>
          <a:p>
            <a:pPr algn="just"/>
            <a:r>
              <a:rPr lang="en-US" b="1" dirty="0"/>
              <a:t>Text &amp; Web Mining</a:t>
            </a:r>
            <a:r>
              <a:rPr lang="en-US" dirty="0"/>
              <a:t> (Data Mining) is critical for unstructured data in the Big Data context, providing value from social media or web logs.</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583" y="214812"/>
            <a:ext cx="10515600" cy="724639"/>
          </a:xfrm>
        </p:spPr>
        <p:txBody>
          <a:bodyPr>
            <a:noAutofit/>
          </a:bodyPr>
          <a:lstStyle/>
          <a:p>
            <a:pPr algn="l"/>
            <a:r>
              <a:rPr lang="en-US" sz="3200" b="1" i="0" u="none" strike="noStrike" baseline="0" dirty="0">
                <a:solidFill>
                  <a:srgbClr val="00B050"/>
                </a:solidFill>
                <a:latin typeface="Times New Roman" panose="02020603050405020304" pitchFamily="18" charset="0"/>
              </a:rPr>
              <a:t>Applications and Skills for Business Analytics Cont..</a:t>
            </a:r>
            <a:endParaRPr lang="en-US" sz="3200" b="1" i="0" u="none" strike="noStrike" baseline="0" dirty="0">
              <a:solidFill>
                <a:srgbClr val="00B050"/>
              </a:solidFill>
              <a:latin typeface="Times New Roman" panose="02020603050405020304" pitchFamily="18" charset="0"/>
            </a:endParaRPr>
          </a:p>
        </p:txBody>
      </p:sp>
      <p:sp>
        <p:nvSpPr>
          <p:cNvPr id="3" name="Content Placeholder 2"/>
          <p:cNvSpPr>
            <a:spLocks noGrp="1"/>
          </p:cNvSpPr>
          <p:nvPr>
            <p:ph idx="1"/>
          </p:nvPr>
        </p:nvSpPr>
        <p:spPr>
          <a:xfrm>
            <a:off x="563671" y="1231900"/>
            <a:ext cx="11273425" cy="5537200"/>
          </a:xfrm>
        </p:spPr>
        <p:txBody>
          <a:bodyPr>
            <a:normAutofit/>
          </a:bodyPr>
          <a:lstStyle/>
          <a:p>
            <a:pPr algn="just">
              <a:buFont typeface="Arial" panose="020B0604020202020204" pitchFamily="34" charset="0"/>
              <a:buChar char="•"/>
            </a:pPr>
            <a:r>
              <a:rPr lang="en-US" b="1" dirty="0">
                <a:solidFill>
                  <a:srgbClr val="FF0000"/>
                </a:solidFill>
              </a:rPr>
              <a:t>Skills for Business Analytics (The Triad):</a:t>
            </a:r>
            <a:endParaRPr lang="en-US" dirty="0">
              <a:solidFill>
                <a:srgbClr val="FF0000"/>
              </a:solidFill>
            </a:endParaRPr>
          </a:p>
          <a:p>
            <a:pPr marL="742950" lvl="1" indent="-285750" algn="just">
              <a:buFont typeface="Arial" panose="020B0604020202020204" pitchFamily="34" charset="0"/>
              <a:buChar char="•"/>
            </a:pPr>
            <a:r>
              <a:rPr lang="en-US" sz="2800" b="1" dirty="0"/>
              <a:t>Business Acumen/Domain Knowledge</a:t>
            </a:r>
            <a:r>
              <a:rPr lang="en-US" sz="2800" dirty="0"/>
              <a:t> (Problem understanding). Simply means understanding how a business works and how it makes money. It’s about seeing the big picture—knowing what helps a company succeed, what customers want, and how to make smart choices for growth.</a:t>
            </a:r>
            <a:endParaRPr lang="en-US" sz="2800" dirty="0"/>
          </a:p>
          <a:p>
            <a:pPr marL="742950" lvl="1" indent="-285750" algn="just">
              <a:buFont typeface="Arial" panose="020B0604020202020204" pitchFamily="34" charset="0"/>
              <a:buChar char="•"/>
            </a:pPr>
            <a:r>
              <a:rPr lang="en-US" sz="2800" b="1" dirty="0"/>
              <a:t>Math/Statistics</a:t>
            </a:r>
            <a:r>
              <a:rPr lang="en-US" sz="2800" dirty="0"/>
              <a:t> (Model building and testing).</a:t>
            </a:r>
            <a:endParaRPr lang="en-US" sz="2800" dirty="0"/>
          </a:p>
          <a:p>
            <a:pPr marL="742950" lvl="1" indent="-285750" algn="just">
              <a:buFont typeface="Arial" panose="020B0604020202020204" pitchFamily="34" charset="0"/>
              <a:buChar char="•"/>
            </a:pPr>
            <a:r>
              <a:rPr lang="en-US" sz="2800" b="1" dirty="0"/>
              <a:t>Computer Science/Programming</a:t>
            </a:r>
            <a:r>
              <a:rPr lang="en-US" sz="2800" dirty="0"/>
              <a:t> (Data manipulation and tool usage).</a:t>
            </a:r>
            <a:endParaRPr lang="en-US" sz="2800" dirty="0"/>
          </a:p>
          <a:p>
            <a:pPr>
              <a:buFont typeface="Arial" panose="020B0604020202020204" pitchFamily="34" charset="0"/>
              <a:buChar char="•"/>
            </a:pPr>
            <a:r>
              <a:rPr lang="en-US" dirty="0"/>
              <a:t>The required skills are not isolated. Data professionals need to be T-shaped: deep in one area (e.g., programming, machine learning) but broad across others (statistics, communication, and business context). This hybrid approach allows managers to formulate and solve business problems effectively.</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583" y="214812"/>
            <a:ext cx="10515600" cy="724639"/>
          </a:xfrm>
        </p:spPr>
        <p:txBody>
          <a:bodyPr>
            <a:noAutofit/>
          </a:bodyPr>
          <a:lstStyle/>
          <a:p>
            <a:pPr algn="l"/>
            <a:r>
              <a:rPr lang="en-US" sz="3200" b="1" i="0" u="none" strike="noStrike" baseline="0" dirty="0">
                <a:solidFill>
                  <a:srgbClr val="00B050"/>
                </a:solidFill>
                <a:latin typeface="Times New Roman" panose="02020603050405020304" pitchFamily="18" charset="0"/>
              </a:rPr>
              <a:t>Concepts of Data Science and Required Basic Skills</a:t>
            </a:r>
            <a:br>
              <a:rPr lang="en-US" sz="3200" b="1" i="0" u="none" strike="noStrike" baseline="0" dirty="0">
                <a:solidFill>
                  <a:srgbClr val="00B050"/>
                </a:solidFill>
                <a:latin typeface="Times New Roman" panose="02020603050405020304" pitchFamily="18" charset="0"/>
              </a:rPr>
            </a:br>
            <a:r>
              <a:rPr lang="en-US" sz="3200" i="0" u="none" strike="noStrike" baseline="0" dirty="0">
                <a:solidFill>
                  <a:srgbClr val="FF0000"/>
                </a:solidFill>
                <a:latin typeface="Times New Roman" panose="02020603050405020304" pitchFamily="18" charset="0"/>
              </a:rPr>
              <a:t>Defining the Data Scientist</a:t>
            </a:r>
            <a:endParaRPr lang="en-US" sz="3200" i="0" u="none" strike="noStrike" baseline="0" dirty="0">
              <a:solidFill>
                <a:srgbClr val="FF0000"/>
              </a:solidFill>
              <a:latin typeface="Times New Roman" panose="02020603050405020304" pitchFamily="18" charset="0"/>
            </a:endParaRPr>
          </a:p>
        </p:txBody>
      </p:sp>
      <p:sp>
        <p:nvSpPr>
          <p:cNvPr id="3" name="Content Placeholder 2"/>
          <p:cNvSpPr>
            <a:spLocks noGrp="1"/>
          </p:cNvSpPr>
          <p:nvPr>
            <p:ph idx="1"/>
          </p:nvPr>
        </p:nvSpPr>
        <p:spPr>
          <a:xfrm>
            <a:off x="563671" y="1231900"/>
            <a:ext cx="11273425" cy="5537200"/>
          </a:xfrm>
        </p:spPr>
        <p:txBody>
          <a:bodyPr>
            <a:normAutofit/>
          </a:bodyPr>
          <a:lstStyle/>
          <a:p>
            <a:pPr>
              <a:buFont typeface="Arial" panose="020B0604020202020204" pitchFamily="34" charset="0"/>
              <a:buChar char="•"/>
            </a:pPr>
            <a:r>
              <a:rPr lang="en-US" b="1" dirty="0"/>
              <a:t>Concepts of Data Science:</a:t>
            </a:r>
            <a:r>
              <a:rPr lang="en-US" dirty="0"/>
              <a:t> An interdisciplinary field combining statistics, computer science, and domain expertise to extract knowledge and insights from data.</a:t>
            </a:r>
            <a:endParaRPr lang="en-US" dirty="0"/>
          </a:p>
          <a:p>
            <a:pPr>
              <a:buFont typeface="Arial" panose="020B0604020202020204" pitchFamily="34" charset="0"/>
              <a:buChar char="•"/>
            </a:pPr>
            <a:r>
              <a:rPr lang="en-US" b="1" dirty="0"/>
              <a:t>Core Difference:</a:t>
            </a:r>
            <a:r>
              <a:rPr lang="en-US" dirty="0"/>
              <a:t> Data Science is often focused on </a:t>
            </a:r>
            <a:r>
              <a:rPr lang="en-US" b="1" dirty="0">
                <a:solidFill>
                  <a:srgbClr val="FF0000"/>
                </a:solidFill>
              </a:rPr>
              <a:t>Predictive</a:t>
            </a:r>
            <a:r>
              <a:rPr lang="en-US" dirty="0"/>
              <a:t> questions and unstructured data, whereas traditional BI focuses on </a:t>
            </a:r>
            <a:r>
              <a:rPr lang="en-US" b="1" dirty="0">
                <a:solidFill>
                  <a:srgbClr val="FF0000"/>
                </a:solidFill>
              </a:rPr>
              <a:t>Descriptive</a:t>
            </a:r>
            <a:r>
              <a:rPr lang="en-US" dirty="0"/>
              <a:t> questions and structured data.</a:t>
            </a:r>
            <a:endParaRPr lang="en-US" dirty="0"/>
          </a:p>
          <a:p>
            <a:pPr>
              <a:buFont typeface="Arial" panose="020B0604020202020204" pitchFamily="34" charset="0"/>
              <a:buChar char="•"/>
            </a:pPr>
            <a:r>
              <a:rPr lang="en-US" b="1" dirty="0"/>
              <a:t>Basic Skills Required for Understanding Data Science:</a:t>
            </a:r>
            <a:endParaRPr lang="en-US" dirty="0"/>
          </a:p>
          <a:p>
            <a:pPr marL="742950" lvl="1" indent="-285750">
              <a:buFont typeface="Arial" panose="020B0604020202020204" pitchFamily="34" charset="0"/>
              <a:buChar char="•"/>
            </a:pPr>
            <a:r>
              <a:rPr lang="en-US" sz="2800" dirty="0"/>
              <a:t>Strong </a:t>
            </a:r>
            <a:r>
              <a:rPr lang="en-US" sz="2800" b="1" dirty="0"/>
              <a:t>Logic &amp; Critical Thinking</a:t>
            </a:r>
            <a:r>
              <a:rPr lang="en-US" sz="2800" dirty="0"/>
              <a:t>.</a:t>
            </a:r>
            <a:endParaRPr lang="en-US" sz="2800" dirty="0"/>
          </a:p>
          <a:p>
            <a:pPr marL="742950" lvl="1" indent="-285750">
              <a:buFont typeface="Arial" panose="020B0604020202020204" pitchFamily="34" charset="0"/>
              <a:buChar char="•"/>
            </a:pPr>
            <a:r>
              <a:rPr lang="en-US" sz="2800" dirty="0"/>
              <a:t>Understanding of </a:t>
            </a:r>
            <a:r>
              <a:rPr lang="en-US" sz="2800" b="1" dirty="0"/>
              <a:t>Probability and Statistics</a:t>
            </a:r>
            <a:r>
              <a:rPr lang="en-US" sz="2800" dirty="0"/>
              <a:t>.</a:t>
            </a:r>
            <a:endParaRPr lang="en-US" sz="2800" dirty="0"/>
          </a:p>
          <a:p>
            <a:pPr marL="742950" lvl="1" indent="-285750">
              <a:buFont typeface="Arial" panose="020B0604020202020204" pitchFamily="34" charset="0"/>
              <a:buChar char="•"/>
            </a:pPr>
            <a:r>
              <a:rPr lang="en-US" sz="2800" dirty="0"/>
              <a:t>Proficiency in at least one </a:t>
            </a:r>
            <a:r>
              <a:rPr lang="en-US" sz="2800" b="1" dirty="0"/>
              <a:t>Programming Language</a:t>
            </a:r>
            <a:r>
              <a:rPr lang="en-US" sz="2800" dirty="0"/>
              <a:t> (Python/R).</a:t>
            </a:r>
            <a:endParaRPr lang="en-US" sz="2800" dirty="0"/>
          </a:p>
          <a:p>
            <a:pPr marL="742950" lvl="1" indent="-285750">
              <a:buFont typeface="Arial" panose="020B0604020202020204" pitchFamily="34" charset="0"/>
              <a:buChar char="•"/>
            </a:pPr>
            <a:r>
              <a:rPr lang="en-US" sz="2800" dirty="0"/>
              <a:t>Knowledge of </a:t>
            </a:r>
            <a:r>
              <a:rPr lang="en-US" sz="2800" b="1" dirty="0"/>
              <a:t>Data Structures and Algorithms</a:t>
            </a:r>
            <a:r>
              <a:rPr lang="en-US" sz="2800" dirty="0"/>
              <a:t>.</a:t>
            </a:r>
            <a:endParaRPr lang="en-US" sz="2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583" y="214812"/>
            <a:ext cx="10515600" cy="724639"/>
          </a:xfrm>
        </p:spPr>
        <p:txBody>
          <a:bodyPr>
            <a:noAutofit/>
          </a:bodyPr>
          <a:lstStyle/>
          <a:p>
            <a:pPr algn="l"/>
            <a:r>
              <a:rPr lang="en-US" sz="3200" b="1" i="0" u="none" strike="noStrike" baseline="0" dirty="0">
                <a:solidFill>
                  <a:srgbClr val="00B050"/>
                </a:solidFill>
                <a:latin typeface="Times New Roman" panose="02020603050405020304" pitchFamily="18" charset="0"/>
              </a:rPr>
              <a:t>Concepts of Data Science and Required Basic Skills</a:t>
            </a:r>
            <a:br>
              <a:rPr lang="en-US" sz="3200" b="1" i="0" u="none" strike="noStrike" baseline="0" dirty="0">
                <a:solidFill>
                  <a:srgbClr val="00B050"/>
                </a:solidFill>
                <a:latin typeface="Times New Roman" panose="02020603050405020304" pitchFamily="18" charset="0"/>
              </a:rPr>
            </a:br>
            <a:r>
              <a:rPr lang="en-US" sz="3200" i="0" u="none" strike="noStrike" baseline="0" dirty="0">
                <a:solidFill>
                  <a:srgbClr val="FF0000"/>
                </a:solidFill>
                <a:latin typeface="Times New Roman" panose="02020603050405020304" pitchFamily="18" charset="0"/>
              </a:rPr>
              <a:t>Defining the Data Scientist Cont..</a:t>
            </a:r>
            <a:endParaRPr lang="en-US" sz="3200" i="0" u="none" strike="noStrike" baseline="0" dirty="0">
              <a:solidFill>
                <a:srgbClr val="FF0000"/>
              </a:solidFill>
              <a:latin typeface="Times New Roman" panose="02020603050405020304" pitchFamily="18" charset="0"/>
            </a:endParaRPr>
          </a:p>
        </p:txBody>
      </p:sp>
      <p:sp>
        <p:nvSpPr>
          <p:cNvPr id="3" name="Content Placeholder 2"/>
          <p:cNvSpPr>
            <a:spLocks noGrp="1"/>
          </p:cNvSpPr>
          <p:nvPr>
            <p:ph idx="1"/>
          </p:nvPr>
        </p:nvSpPr>
        <p:spPr>
          <a:xfrm>
            <a:off x="563671" y="1231900"/>
            <a:ext cx="11273425" cy="5537200"/>
          </a:xfrm>
        </p:spPr>
        <p:txBody>
          <a:bodyPr>
            <a:normAutofit/>
          </a:bodyPr>
          <a:lstStyle/>
          <a:p>
            <a:pPr algn="just">
              <a:buFont typeface="Arial" panose="020B0604020202020204" pitchFamily="34" charset="0"/>
              <a:buChar char="•"/>
            </a:pPr>
            <a:r>
              <a:rPr lang="en-US" b="1" dirty="0"/>
              <a:t>Data Science</a:t>
            </a:r>
            <a:r>
              <a:rPr lang="en-US" dirty="0"/>
              <a:t> is the umbrella term for the most advanced analytical practices.</a:t>
            </a:r>
            <a:endParaRPr lang="en-US" dirty="0"/>
          </a:p>
          <a:p>
            <a:pPr algn="just">
              <a:buFont typeface="Arial" panose="020B0604020202020204" pitchFamily="34" charset="0"/>
              <a:buChar char="•"/>
            </a:pPr>
            <a:r>
              <a:rPr lang="en-US" dirty="0"/>
              <a:t>The skillset is demanding: it requires not just math or code, but the ability to translate a complex, messy real-world problem into a quantitative model and then back into a managerial recommendation.</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19933</Words>
  <Application>WPS Presentation</Application>
  <PresentationFormat>Widescreen</PresentationFormat>
  <Paragraphs>271</Paragraphs>
  <Slides>32</Slides>
  <Notes>7</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32</vt:i4>
      </vt:variant>
    </vt:vector>
  </HeadingPairs>
  <TitlesOfParts>
    <vt:vector size="45" baseType="lpstr">
      <vt:lpstr>Arial</vt:lpstr>
      <vt:lpstr>SimSun</vt:lpstr>
      <vt:lpstr>Wingdings</vt:lpstr>
      <vt:lpstr>Calibri</vt:lpstr>
      <vt:lpstr>Google Sans</vt:lpstr>
      <vt:lpstr>Segoe Print</vt:lpstr>
      <vt:lpstr>Bookman Old Style</vt:lpstr>
      <vt:lpstr>Calibri Light</vt:lpstr>
      <vt:lpstr>Microsoft YaHei</vt:lpstr>
      <vt:lpstr>Arial Unicode MS</vt:lpstr>
      <vt:lpstr>Times New Roman</vt:lpstr>
      <vt:lpstr>TimesNewRomanPSMT</vt:lpstr>
      <vt:lpstr>Office Theme</vt:lpstr>
      <vt:lpstr>Fundamentals of Bigdata Analytics and Business Intelligence(BI)</vt:lpstr>
      <vt:lpstr>Def:</vt:lpstr>
      <vt:lpstr>The Analytical Imperative: From Data to Decisions</vt:lpstr>
      <vt:lpstr>Cont..</vt:lpstr>
      <vt:lpstr>Cont..</vt:lpstr>
      <vt:lpstr>Define Data, characteristics of data?</vt:lpstr>
      <vt:lpstr>What is digital data? Explain different types of digital data.</vt:lpstr>
      <vt:lpstr>Cont..</vt:lpstr>
      <vt:lpstr>Cont..</vt:lpstr>
      <vt:lpstr>Cont..</vt:lpstr>
      <vt:lpstr>Cont..</vt:lpstr>
      <vt:lpstr>Define Big Data. </vt:lpstr>
      <vt:lpstr>Cont..</vt:lpstr>
      <vt:lpstr>Benefits of Big Data</vt:lpstr>
      <vt:lpstr>What is an Example of Big Data? </vt:lpstr>
      <vt:lpstr>Characteristics of Big Data</vt:lpstr>
      <vt:lpstr>Cont..</vt:lpstr>
      <vt:lpstr>Cont..</vt:lpstr>
      <vt:lpstr>Data Reliability &amp; Validity, Problem Solving with Analytics Data Quality and The Analytical Mindset</vt:lpstr>
      <vt:lpstr>Data Reliability &amp; Validity, Problem Solving with Analytics Data Quality and The Analytical Mindset   Cont..</vt:lpstr>
      <vt:lpstr>How is traditional BI environment different from Big data environment?</vt:lpstr>
      <vt:lpstr>Phases of Analytics in the Business and Data Science Domain 📚 The Data Science Process Pipeline</vt:lpstr>
      <vt:lpstr>Phases of Analytics in the Business and Data Science Domain 📚 The Data Science Process Pipeline</vt:lpstr>
      <vt:lpstr>Phases of Analytics in the Business and Data Science Domain 📚 The Data Science Process Pipeline Cont..</vt:lpstr>
      <vt:lpstr>Phases of Analytics in the Business and Data Science Domain 📚 The Data Science Process Pipeline Cont..</vt:lpstr>
      <vt:lpstr>Descriptive, Predictive, and Prescriptive Analytics The Three Levels of Analytical Insight</vt:lpstr>
      <vt:lpstr>Descriptive, Predictive, and Prescriptive Analytics The Three Levels of Analytical Insight Cont..</vt:lpstr>
      <vt:lpstr>Descriptive, Predictive, and Prescriptive Analytics The Three Levels of Analytical Insight Cont..</vt:lpstr>
      <vt:lpstr>Applications and Skills for Business Analytics</vt:lpstr>
      <vt:lpstr>Applications and Skills for Business Analytics Cont..</vt:lpstr>
      <vt:lpstr>Concepts of Data Science and Required Basic Skills Defining the Data Scientist</vt:lpstr>
      <vt:lpstr>Concepts of Data Science and Required Basic Skills Defining the Data Scientist Cont..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Binyam Tesfahun</dc:creator>
  <cp:lastModifiedBy>hp</cp:lastModifiedBy>
  <cp:revision>42</cp:revision>
  <dcterms:created xsi:type="dcterms:W3CDTF">2025-10-21T05:46:00Z</dcterms:created>
  <dcterms:modified xsi:type="dcterms:W3CDTF">2025-11-25T08:58:01Z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2358C045276342E4BC86FE69DAFB078E_12</vt:lpwstr>
  </property>
  <property fmtid="{D5CDD505-2E9C-101B-9397-08002B2CF9AE}" pid="3" name="KSOProductBuildVer">
    <vt:lpwstr>1033-12.2.0.23155</vt:lpwstr>
  </property>
</Properties>
</file>