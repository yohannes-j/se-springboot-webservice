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8" r:id="rId3"/>
    <p:sldId id="257" r:id="rId4"/>
    <p:sldId id="259" r:id="rId5"/>
    <p:sldId id="260" r:id="rId6"/>
    <p:sldId id="261" r:id="rId7"/>
    <p:sldId id="263" r:id="rId8"/>
    <p:sldId id="264" r:id="rId9"/>
    <p:sldId id="265" r:id="rId10"/>
    <p:sldId id="266" r:id="rId11"/>
    <p:sldId id="267" r:id="rId12"/>
    <p:sldId id="262" r:id="rId13"/>
    <p:sldId id="268" r:id="rId14"/>
    <p:sldId id="269" r:id="rId15"/>
    <p:sldId id="272" r:id="rId16"/>
    <p:sldId id="271" r:id="rId17"/>
    <p:sldId id="270" r:id="rId18"/>
    <p:sldId id="273" r:id="rId19"/>
    <p:sldId id="274" r:id="rId20"/>
    <p:sldId id="275" r:id="rId21"/>
    <p:sldId id="276" r:id="rId22"/>
    <p:sldId id="277" r:id="rId23"/>
    <p:sldId id="287" r:id="rId24"/>
    <p:sldId id="278" r:id="rId25"/>
    <p:sldId id="279" r:id="rId26"/>
    <p:sldId id="280" r:id="rId27"/>
    <p:sldId id="281" r:id="rId28"/>
    <p:sldId id="286" r:id="rId29"/>
    <p:sldId id="282" r:id="rId30"/>
    <p:sldId id="283" r:id="rId31"/>
    <p:sldId id="284" r:id="rId32"/>
    <p:sldId id="28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08" autoAdjust="0"/>
    <p:restoredTop sz="94660"/>
  </p:normalViewPr>
  <p:slideViewPr>
    <p:cSldViewPr snapToGrid="0">
      <p:cViewPr varScale="1">
        <p:scale>
          <a:sx n="70" d="100"/>
          <a:sy n="70" d="100"/>
        </p:scale>
        <p:origin x="23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7A4F1-008E-4453-99D7-2D411EBA497C}"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354DC-221E-4395-B206-B15661733B30}" type="slidenum">
              <a:rPr lang="en-US" smtClean="0"/>
              <a:t>‹#›</a:t>
            </a:fld>
            <a:endParaRPr lang="en-US"/>
          </a:p>
        </p:txBody>
      </p:sp>
    </p:spTree>
    <p:extLst>
      <p:ext uri="{BB962C8B-B14F-4D97-AF65-F5344CB8AC3E}">
        <p14:creationId xmlns:p14="http://schemas.microsoft.com/office/powerpoint/2010/main" val="2610983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t>6</a:t>
            </a:fld>
            <a:endParaRPr lang="en-US"/>
          </a:p>
        </p:txBody>
      </p:sp>
    </p:spTree>
    <p:extLst>
      <p:ext uri="{BB962C8B-B14F-4D97-AF65-F5344CB8AC3E}">
        <p14:creationId xmlns:p14="http://schemas.microsoft.com/office/powerpoint/2010/main" val="489425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3154E-9A93-9CFF-BB6F-0C27B3ADB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D171E-6FC7-9DB9-2EBD-AF2EA50F6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C58BA-EE0D-1BA9-A926-8ABF3D483C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30A811-E3D3-E868-5DA0-E29EB4E3A36D}"/>
              </a:ext>
            </a:extLst>
          </p:cNvPr>
          <p:cNvSpPr>
            <a:spLocks noGrp="1"/>
          </p:cNvSpPr>
          <p:nvPr>
            <p:ph type="sldNum" sz="quarter" idx="5"/>
          </p:nvPr>
        </p:nvSpPr>
        <p:spPr/>
        <p:txBody>
          <a:bodyPr/>
          <a:lstStyle/>
          <a:p>
            <a:fld id="{E2B354DC-221E-4395-B206-B15661733B30}" type="slidenum">
              <a:rPr lang="en-US" smtClean="0"/>
              <a:t>7</a:t>
            </a:fld>
            <a:endParaRPr lang="en-US"/>
          </a:p>
        </p:txBody>
      </p:sp>
    </p:spTree>
    <p:extLst>
      <p:ext uri="{BB962C8B-B14F-4D97-AF65-F5344CB8AC3E}">
        <p14:creationId xmlns:p14="http://schemas.microsoft.com/office/powerpoint/2010/main" val="4256478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51850-74D1-8FD9-079D-6B32AE5FA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E0C71-B153-38B2-3381-8906CBDBC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1ACDF-F1F2-0337-2B02-188D1035B8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106820-F820-87C2-8605-F98D55CE1EA6}"/>
              </a:ext>
            </a:extLst>
          </p:cNvPr>
          <p:cNvSpPr>
            <a:spLocks noGrp="1"/>
          </p:cNvSpPr>
          <p:nvPr>
            <p:ph type="sldNum" sz="quarter" idx="5"/>
          </p:nvPr>
        </p:nvSpPr>
        <p:spPr/>
        <p:txBody>
          <a:bodyPr/>
          <a:lstStyle/>
          <a:p>
            <a:fld id="{E2B354DC-221E-4395-B206-B15661733B30}" type="slidenum">
              <a:rPr lang="en-US" smtClean="0"/>
              <a:t>8</a:t>
            </a:fld>
            <a:endParaRPr lang="en-US"/>
          </a:p>
        </p:txBody>
      </p:sp>
    </p:spTree>
    <p:extLst>
      <p:ext uri="{BB962C8B-B14F-4D97-AF65-F5344CB8AC3E}">
        <p14:creationId xmlns:p14="http://schemas.microsoft.com/office/powerpoint/2010/main" val="683551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873D-33AA-B894-B500-6D21E2F36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B9FA8-EEF7-1303-970D-E3D8E0875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23F3B-4405-14F2-AC34-2140602DE8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59268D-D04E-803D-D17E-799D6631002B}"/>
              </a:ext>
            </a:extLst>
          </p:cNvPr>
          <p:cNvSpPr>
            <a:spLocks noGrp="1"/>
          </p:cNvSpPr>
          <p:nvPr>
            <p:ph type="sldNum" sz="quarter" idx="5"/>
          </p:nvPr>
        </p:nvSpPr>
        <p:spPr/>
        <p:txBody>
          <a:bodyPr/>
          <a:lstStyle/>
          <a:p>
            <a:fld id="{E2B354DC-221E-4395-B206-B15661733B30}" type="slidenum">
              <a:rPr lang="en-US" smtClean="0"/>
              <a:t>9</a:t>
            </a:fld>
            <a:endParaRPr lang="en-US"/>
          </a:p>
        </p:txBody>
      </p:sp>
    </p:spTree>
    <p:extLst>
      <p:ext uri="{BB962C8B-B14F-4D97-AF65-F5344CB8AC3E}">
        <p14:creationId xmlns:p14="http://schemas.microsoft.com/office/powerpoint/2010/main" val="3512422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8028A-8EBF-28F7-B6D5-78791E5DA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FBB34-387B-A5B2-E12C-7950BA19D9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EA785-6EC3-C9D9-C995-E41A6738A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635FCC-EFFB-E100-FA5B-4932B05B207D}"/>
              </a:ext>
            </a:extLst>
          </p:cNvPr>
          <p:cNvSpPr>
            <a:spLocks noGrp="1"/>
          </p:cNvSpPr>
          <p:nvPr>
            <p:ph type="sldNum" sz="quarter" idx="5"/>
          </p:nvPr>
        </p:nvSpPr>
        <p:spPr/>
        <p:txBody>
          <a:bodyPr/>
          <a:lstStyle/>
          <a:p>
            <a:fld id="{E2B354DC-221E-4395-B206-B15661733B30}" type="slidenum">
              <a:rPr lang="en-US" smtClean="0"/>
              <a:t>10</a:t>
            </a:fld>
            <a:endParaRPr lang="en-US"/>
          </a:p>
        </p:txBody>
      </p:sp>
    </p:spTree>
    <p:extLst>
      <p:ext uri="{BB962C8B-B14F-4D97-AF65-F5344CB8AC3E}">
        <p14:creationId xmlns:p14="http://schemas.microsoft.com/office/powerpoint/2010/main" val="300023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071C-6860-8A76-53D5-414156DB2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C8887-60D8-6265-0030-4ECAF6388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096A7-2C66-B97B-F0C9-2A72B21342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8FAA77-6B6B-7C00-55D8-577812D6C21B}"/>
              </a:ext>
            </a:extLst>
          </p:cNvPr>
          <p:cNvSpPr>
            <a:spLocks noGrp="1"/>
          </p:cNvSpPr>
          <p:nvPr>
            <p:ph type="sldNum" sz="quarter" idx="5"/>
          </p:nvPr>
        </p:nvSpPr>
        <p:spPr/>
        <p:txBody>
          <a:bodyPr/>
          <a:lstStyle/>
          <a:p>
            <a:fld id="{E2B354DC-221E-4395-B206-B15661733B30}" type="slidenum">
              <a:rPr lang="en-US" smtClean="0"/>
              <a:t>11</a:t>
            </a:fld>
            <a:endParaRPr lang="en-US"/>
          </a:p>
        </p:txBody>
      </p:sp>
    </p:spTree>
    <p:extLst>
      <p:ext uri="{BB962C8B-B14F-4D97-AF65-F5344CB8AC3E}">
        <p14:creationId xmlns:p14="http://schemas.microsoft.com/office/powerpoint/2010/main" val="1069067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354DC-221E-4395-B206-B15661733B30}" type="slidenum">
              <a:rPr lang="en-US" smtClean="0"/>
              <a:t>30</a:t>
            </a:fld>
            <a:endParaRPr lang="en-US"/>
          </a:p>
        </p:txBody>
      </p:sp>
    </p:spTree>
    <p:extLst>
      <p:ext uri="{BB962C8B-B14F-4D97-AF65-F5344CB8AC3E}">
        <p14:creationId xmlns:p14="http://schemas.microsoft.com/office/powerpoint/2010/main" val="3631453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81565-E07D-E1B2-6EC0-3107F9C702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BCC52A-C900-B53A-D15D-48D1EA632C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E883E7-F450-06F6-85F7-32E1C09A3E3F}"/>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5" name="Footer Placeholder 4">
            <a:extLst>
              <a:ext uri="{FF2B5EF4-FFF2-40B4-BE49-F238E27FC236}">
                <a16:creationId xmlns:a16="http://schemas.microsoft.com/office/drawing/2014/main" id="{FAAD35F2-0906-009A-B33E-0B189891C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AFA88-9700-42E7-183E-5F22CF447C73}"/>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358078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2E250-7036-1A08-6EB9-E91F4AA79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7862A-BD5F-7645-885B-26DEDB8171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A2E1FC-288C-022B-C195-D0EF4FDCB142}"/>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5" name="Footer Placeholder 4">
            <a:extLst>
              <a:ext uri="{FF2B5EF4-FFF2-40B4-BE49-F238E27FC236}">
                <a16:creationId xmlns:a16="http://schemas.microsoft.com/office/drawing/2014/main" id="{4AD25ADD-4794-6432-A5B9-C73D1A771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1ECB51-FABC-3D3E-4F90-2416C29C09B8}"/>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1650750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AC10B-45CF-27A0-4186-77009FCFD4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29F2C5-3D56-8136-0DC5-FA57368CA0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C8B768-BC26-13A6-990B-980CA10F1405}"/>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5" name="Footer Placeholder 4">
            <a:extLst>
              <a:ext uri="{FF2B5EF4-FFF2-40B4-BE49-F238E27FC236}">
                <a16:creationId xmlns:a16="http://schemas.microsoft.com/office/drawing/2014/main" id="{051DB5BD-2BD7-A5E4-BCA1-55F8BF4C4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BC753C-189E-62EF-5268-93E5D3A36C22}"/>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1412375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C3F7C-F308-6B61-0CAE-078BA0784E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F8625F-E78B-3B84-FB4F-D9412A8228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DCC535-5408-3B82-689D-E79EE3C7A6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204FC5-206D-6B43-2DCD-8CEE52B30ED2}"/>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6" name="Footer Placeholder 5">
            <a:extLst>
              <a:ext uri="{FF2B5EF4-FFF2-40B4-BE49-F238E27FC236}">
                <a16:creationId xmlns:a16="http://schemas.microsoft.com/office/drawing/2014/main" id="{56551319-2CDF-F966-E6BC-1CC5E2FD8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60FD68-10C1-6070-0C2D-D06C2321E12E}"/>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174764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5BF76-FF62-9013-6E6D-4D0CC3EACA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2BEB8D-BE6F-7681-27C8-7596C265D1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71FB6B-7350-90D9-6203-A41DF48D2B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A1AA03-030D-D04F-9FF3-124BE9EEEA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E2C0E6-402E-CA21-D2AE-1F95CCEAB1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95DA90-0D18-D194-EB11-C3010ACEA59E}"/>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8" name="Footer Placeholder 7">
            <a:extLst>
              <a:ext uri="{FF2B5EF4-FFF2-40B4-BE49-F238E27FC236}">
                <a16:creationId xmlns:a16="http://schemas.microsoft.com/office/drawing/2014/main" id="{CDE8013A-D699-0076-9513-58862B0DC9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09B829-D6A2-8D95-C3AE-83F3E8C58D92}"/>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4182582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0261-23F9-4366-6A57-76D8DA300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FC1C6F-4441-B7FD-E7D3-33BE6AD2A897}"/>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4" name="Footer Placeholder 3">
            <a:extLst>
              <a:ext uri="{FF2B5EF4-FFF2-40B4-BE49-F238E27FC236}">
                <a16:creationId xmlns:a16="http://schemas.microsoft.com/office/drawing/2014/main" id="{5498300D-E06E-FA74-7C64-C19A1D41B7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E28D72-8440-8B0F-F2F0-46CAA4A765A9}"/>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3822122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65FE3-50E7-9C50-9447-4F0823ADFE98}"/>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3" name="Footer Placeholder 2">
            <a:extLst>
              <a:ext uri="{FF2B5EF4-FFF2-40B4-BE49-F238E27FC236}">
                <a16:creationId xmlns:a16="http://schemas.microsoft.com/office/drawing/2014/main" id="{0B47E65F-91D8-A079-D615-9DD3CBD6F1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A5F50E-45F4-E897-499B-32C7DC81E476}"/>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3136402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67DC-523F-B279-D5A7-930C996D9D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13177E-7AA6-CD9D-8DFA-AE5E912E3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3AC478-2A42-6726-EE11-C6229D131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1AB3FD-2011-A0CE-9175-6FAF0AB8F954}"/>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6" name="Footer Placeholder 5">
            <a:extLst>
              <a:ext uri="{FF2B5EF4-FFF2-40B4-BE49-F238E27FC236}">
                <a16:creationId xmlns:a16="http://schemas.microsoft.com/office/drawing/2014/main" id="{64636BEF-4B38-E365-8D15-07A72828F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87034E-9537-F193-1399-6816B768ED72}"/>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409467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104A0-B200-3E8B-8943-567655AC74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D0F97F-7720-5448-8356-0891921CB8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C4184C-605D-825C-0B98-DC1BCD0B9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265369-6520-E3A0-8D96-92F7B9FFAA64}"/>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6" name="Footer Placeholder 5">
            <a:extLst>
              <a:ext uri="{FF2B5EF4-FFF2-40B4-BE49-F238E27FC236}">
                <a16:creationId xmlns:a16="http://schemas.microsoft.com/office/drawing/2014/main" id="{20926F70-1E82-A874-3167-AE6A0137A1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229938-C7DD-9273-6153-29CA8FAF0A0F}"/>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1530441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55953-19ED-CF86-998B-E6351E6A86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1BC683-413B-8E28-CDB9-7D087B3B8B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051683-A6E3-9D5C-5229-E2DC3662ADC3}"/>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5" name="Footer Placeholder 4">
            <a:extLst>
              <a:ext uri="{FF2B5EF4-FFF2-40B4-BE49-F238E27FC236}">
                <a16:creationId xmlns:a16="http://schemas.microsoft.com/office/drawing/2014/main" id="{F6CC59E6-6443-C05C-1DED-66E8EDFA47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BD376-81BD-FF27-0378-6F7121C309A9}"/>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2006216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065F7C-5ED3-05F0-C781-E4A37AC88E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BD4E8E-22F4-BE80-93F7-FAB899A3F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991F9-6137-AD66-5D3F-7C9C3E4DA5A5}"/>
              </a:ext>
            </a:extLst>
          </p:cNvPr>
          <p:cNvSpPr>
            <a:spLocks noGrp="1"/>
          </p:cNvSpPr>
          <p:nvPr>
            <p:ph type="dt" sz="half" idx="10"/>
          </p:nvPr>
        </p:nvSpPr>
        <p:spPr/>
        <p:txBody>
          <a:bodyPr/>
          <a:lstStyle/>
          <a:p>
            <a:fld id="{E4D4DCC4-475E-4005-869B-F9A48EB20B42}" type="datetimeFigureOut">
              <a:rPr lang="en-US" smtClean="0"/>
              <a:t>10/28/2025</a:t>
            </a:fld>
            <a:endParaRPr lang="en-US"/>
          </a:p>
        </p:txBody>
      </p:sp>
      <p:sp>
        <p:nvSpPr>
          <p:cNvPr id="5" name="Footer Placeholder 4">
            <a:extLst>
              <a:ext uri="{FF2B5EF4-FFF2-40B4-BE49-F238E27FC236}">
                <a16:creationId xmlns:a16="http://schemas.microsoft.com/office/drawing/2014/main" id="{92D91A23-0F6F-B7DC-10BF-F028748DA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EF1CED-1B30-F8C9-24B5-318C0E953A24}"/>
              </a:ext>
            </a:extLst>
          </p:cNvPr>
          <p:cNvSpPr>
            <a:spLocks noGrp="1"/>
          </p:cNvSpPr>
          <p:nvPr>
            <p:ph type="sldNum" sz="quarter" idx="12"/>
          </p:nvPr>
        </p:nvSpPr>
        <p:spPr/>
        <p:txBody>
          <a:bodyPr/>
          <a:lstStyle/>
          <a:p>
            <a:fld id="{A64E8342-9211-4BDC-A5DB-2B19F06AD0B7}" type="slidenum">
              <a:rPr lang="en-US" smtClean="0"/>
              <a:t>‹#›</a:t>
            </a:fld>
            <a:endParaRPr lang="en-US"/>
          </a:p>
        </p:txBody>
      </p:sp>
    </p:spTree>
    <p:extLst>
      <p:ext uri="{BB962C8B-B14F-4D97-AF65-F5344CB8AC3E}">
        <p14:creationId xmlns:p14="http://schemas.microsoft.com/office/powerpoint/2010/main" val="44414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8C84C-3013-7692-3A29-61E86245FB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A8D097-86E4-0C99-BB7D-2AB7E32FC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FD8135-E07A-7D75-4BE3-AF7BEFACC5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D4DCC4-475E-4005-869B-F9A48EB20B42}" type="datetimeFigureOut">
              <a:rPr lang="en-US" smtClean="0"/>
              <a:t>10/28/2025</a:t>
            </a:fld>
            <a:endParaRPr lang="en-US"/>
          </a:p>
        </p:txBody>
      </p:sp>
      <p:sp>
        <p:nvSpPr>
          <p:cNvPr id="5" name="Footer Placeholder 4">
            <a:extLst>
              <a:ext uri="{FF2B5EF4-FFF2-40B4-BE49-F238E27FC236}">
                <a16:creationId xmlns:a16="http://schemas.microsoft.com/office/drawing/2014/main" id="{3FA6F097-CEBB-04D3-D91D-599E895A6D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F4534B3-FD61-00F7-C00B-0A529FAD54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4E8342-9211-4BDC-A5DB-2B19F06AD0B7}" type="slidenum">
              <a:rPr lang="en-US" smtClean="0"/>
              <a:t>‹#›</a:t>
            </a:fld>
            <a:endParaRPr lang="en-US"/>
          </a:p>
        </p:txBody>
      </p:sp>
    </p:spTree>
    <p:extLst>
      <p:ext uri="{BB962C8B-B14F-4D97-AF65-F5344CB8AC3E}">
        <p14:creationId xmlns:p14="http://schemas.microsoft.com/office/powerpoint/2010/main" val="532749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6F48-F1AE-A60C-18CC-796C777ECE02}"/>
              </a:ext>
            </a:extLst>
          </p:cNvPr>
          <p:cNvSpPr>
            <a:spLocks noGrp="1"/>
          </p:cNvSpPr>
          <p:nvPr>
            <p:ph type="ctrTitle"/>
          </p:nvPr>
        </p:nvSpPr>
        <p:spPr>
          <a:xfrm>
            <a:off x="1290363" y="1808807"/>
            <a:ext cx="9886122" cy="2387600"/>
          </a:xfrm>
        </p:spPr>
        <p:txBody>
          <a:bodyPr>
            <a:normAutofit fontScale="90000"/>
          </a:bodyPr>
          <a:lstStyle/>
          <a:p>
            <a:r>
              <a:rPr lang="en-US" b="1" dirty="0">
                <a:solidFill>
                  <a:schemeClr val="accent6"/>
                </a:solidFill>
              </a:rPr>
              <a:t>Fundamentals of Bigdata Analytics and Business Intelligence(BI)</a:t>
            </a:r>
          </a:p>
        </p:txBody>
      </p:sp>
      <p:sp>
        <p:nvSpPr>
          <p:cNvPr id="3" name="Subtitle 2">
            <a:extLst>
              <a:ext uri="{FF2B5EF4-FFF2-40B4-BE49-F238E27FC236}">
                <a16:creationId xmlns:a16="http://schemas.microsoft.com/office/drawing/2014/main" id="{85990F84-D283-A899-EC69-791B6871793B}"/>
              </a:ext>
            </a:extLst>
          </p:cNvPr>
          <p:cNvSpPr>
            <a:spLocks noGrp="1"/>
          </p:cNvSpPr>
          <p:nvPr>
            <p:ph type="subTitle" idx="1"/>
          </p:nvPr>
        </p:nvSpPr>
        <p:spPr>
          <a:xfrm>
            <a:off x="1665055" y="4421728"/>
            <a:ext cx="9511430" cy="1655762"/>
          </a:xfrm>
        </p:spPr>
        <p:txBody>
          <a:bodyPr>
            <a:normAutofit/>
          </a:bodyPr>
          <a:lstStyle/>
          <a:p>
            <a:r>
              <a:rPr lang="en-US" sz="4000" b="1" dirty="0">
                <a:solidFill>
                  <a:srgbClr val="FF0000"/>
                </a:solidFill>
              </a:rPr>
              <a:t>Chapter 1 </a:t>
            </a:r>
            <a:r>
              <a:rPr lang="en-US" sz="4000" dirty="0">
                <a:solidFill>
                  <a:srgbClr val="FF0000"/>
                </a:solidFill>
              </a:rPr>
              <a:t>: </a:t>
            </a:r>
            <a:r>
              <a:rPr lang="en-US" sz="4000" b="1" dirty="0">
                <a:solidFill>
                  <a:srgbClr val="FF0000"/>
                </a:solidFill>
                <a:effectLst/>
                <a:ea typeface="Calibri" panose="020F0502020204030204" pitchFamily="34" charset="0"/>
              </a:rPr>
              <a:t>Foundation of Data Analytics &amp; Python Programming</a:t>
            </a:r>
            <a:endParaRPr lang="en-US" sz="4000" dirty="0">
              <a:solidFill>
                <a:srgbClr val="FF0000"/>
              </a:solidFill>
            </a:endParaRPr>
          </a:p>
        </p:txBody>
      </p:sp>
      <p:pic>
        <p:nvPicPr>
          <p:cNvPr id="5" name="Picture 4">
            <a:extLst>
              <a:ext uri="{FF2B5EF4-FFF2-40B4-BE49-F238E27FC236}">
                <a16:creationId xmlns:a16="http://schemas.microsoft.com/office/drawing/2014/main" id="{0FC66200-CBA2-99EC-056F-F1065B90B358}"/>
              </a:ext>
            </a:extLst>
          </p:cNvPr>
          <p:cNvPicPr>
            <a:picLocks noChangeAspect="1"/>
          </p:cNvPicPr>
          <p:nvPr/>
        </p:nvPicPr>
        <p:blipFill>
          <a:blip r:embed="rId2"/>
          <a:stretch>
            <a:fillRect/>
          </a:stretch>
        </p:blipFill>
        <p:spPr>
          <a:xfrm>
            <a:off x="215629" y="217738"/>
            <a:ext cx="4130902" cy="2251232"/>
          </a:xfrm>
          <a:prstGeom prst="rect">
            <a:avLst/>
          </a:prstGeom>
        </p:spPr>
      </p:pic>
    </p:spTree>
    <p:extLst>
      <p:ext uri="{BB962C8B-B14F-4D97-AF65-F5344CB8AC3E}">
        <p14:creationId xmlns:p14="http://schemas.microsoft.com/office/powerpoint/2010/main" val="1601389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3266A-2FA0-EC1B-2ED2-A3CB12940DD4}"/>
              </a:ext>
            </a:extLst>
          </p:cNvPr>
          <p:cNvSpPr>
            <a:spLocks noGrp="1"/>
          </p:cNvSpPr>
          <p:nvPr>
            <p:ph type="title"/>
          </p:nvPr>
        </p:nvSpPr>
        <p:spPr>
          <a:xfrm>
            <a:off x="838200" y="365125"/>
            <a:ext cx="10515600" cy="1225679"/>
          </a:xfrm>
        </p:spPr>
        <p:txBody>
          <a:bodyPr/>
          <a:lstStyle/>
          <a:p>
            <a:r>
              <a:rPr lang="en-US" b="1" dirty="0"/>
              <a:t>Def:</a:t>
            </a:r>
          </a:p>
        </p:txBody>
      </p:sp>
      <p:sp>
        <p:nvSpPr>
          <p:cNvPr id="3" name="Content Placeholder 2">
            <a:extLst>
              <a:ext uri="{FF2B5EF4-FFF2-40B4-BE49-F238E27FC236}">
                <a16:creationId xmlns:a16="http://schemas.microsoft.com/office/drawing/2014/main" id="{C3191CF2-4150-8C75-3315-CC7CC220FF85}"/>
              </a:ext>
            </a:extLst>
          </p:cNvPr>
          <p:cNvSpPr>
            <a:spLocks noGrp="1"/>
          </p:cNvSpPr>
          <p:nvPr>
            <p:ph idx="1"/>
          </p:nvPr>
        </p:nvSpPr>
        <p:spPr>
          <a:xfrm>
            <a:off x="838200" y="1590804"/>
            <a:ext cx="10515600" cy="4351338"/>
          </a:xfrm>
        </p:spPr>
        <p:txBody>
          <a:bodyPr/>
          <a:lstStyle/>
          <a:p>
            <a:pPr algn="just"/>
            <a:r>
              <a:rPr lang="en-US" b="1" dirty="0">
                <a:solidFill>
                  <a:srgbClr val="FF0000"/>
                </a:solidFill>
              </a:rPr>
              <a:t>Data Analytics </a:t>
            </a:r>
            <a:r>
              <a:rPr lang="en-US" dirty="0"/>
              <a:t>is the process of examining data sets to draw conclusions about the information they contain, often with specialized systems and software.</a:t>
            </a:r>
          </a:p>
          <a:p>
            <a:pPr algn="just"/>
            <a:r>
              <a:rPr lang="en-US" dirty="0"/>
              <a:t>Data Analytics isn't new, but its scale is. It started with simple reports, but the explosion of cheap computing and data storage pushed us into the current era of </a:t>
            </a:r>
            <a:r>
              <a:rPr lang="en-US" b="1" dirty="0"/>
              <a:t>Big Data</a:t>
            </a:r>
            <a:r>
              <a:rPr lang="en-US" dirty="0"/>
              <a:t>. The concept is simple: moving from gut-feeling or experience-based decisions to </a:t>
            </a:r>
            <a:r>
              <a:rPr lang="en-US" b="1" dirty="0"/>
              <a:t>fact-based management</a:t>
            </a:r>
            <a:r>
              <a:rPr lang="en-US" dirty="0"/>
              <a:t> using data and rigorous analysis. This discipline is now core to strategic decision-making in every sector."</a:t>
            </a:r>
          </a:p>
        </p:txBody>
      </p:sp>
    </p:spTree>
    <p:extLst>
      <p:ext uri="{BB962C8B-B14F-4D97-AF65-F5344CB8AC3E}">
        <p14:creationId xmlns:p14="http://schemas.microsoft.com/office/powerpoint/2010/main" val="1984120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324D-4AB2-D892-B398-DBF4D44899B0}"/>
              </a:ext>
            </a:extLst>
          </p:cNvPr>
          <p:cNvSpPr>
            <a:spLocks noGrp="1"/>
          </p:cNvSpPr>
          <p:nvPr>
            <p:ph type="title"/>
          </p:nvPr>
        </p:nvSpPr>
        <p:spPr>
          <a:xfrm>
            <a:off x="942583" y="214812"/>
            <a:ext cx="10515600" cy="724639"/>
          </a:xfrm>
        </p:spPr>
        <p:txBody>
          <a:bodyPr>
            <a:noAutofit/>
          </a:bodyPr>
          <a:lstStyle/>
          <a:p>
            <a:pPr algn="ctr"/>
            <a:r>
              <a:rPr lang="en-US" sz="3600" b="1" dirty="0">
                <a:solidFill>
                  <a:srgbClr val="FF0000"/>
                </a:solidFill>
              </a:rPr>
              <a:t>The Analytical Imperative: From Data to Decisions</a:t>
            </a:r>
          </a:p>
        </p:txBody>
      </p:sp>
      <p:sp>
        <p:nvSpPr>
          <p:cNvPr id="3" name="Content Placeholder 2">
            <a:extLst>
              <a:ext uri="{FF2B5EF4-FFF2-40B4-BE49-F238E27FC236}">
                <a16:creationId xmlns:a16="http://schemas.microsoft.com/office/drawing/2014/main" id="{867B652A-FE1F-5CDE-BCF3-122C335A130B}"/>
              </a:ext>
            </a:extLst>
          </p:cNvPr>
          <p:cNvSpPr>
            <a:spLocks noGrp="1"/>
          </p:cNvSpPr>
          <p:nvPr>
            <p:ph idx="1"/>
          </p:nvPr>
        </p:nvSpPr>
        <p:spPr>
          <a:xfrm>
            <a:off x="563671" y="1052186"/>
            <a:ext cx="11273425" cy="5440689"/>
          </a:xfrm>
        </p:spPr>
        <p:txBody>
          <a:bodyPr>
            <a:normAutofit/>
          </a:bodyPr>
          <a:lstStyle/>
          <a:p>
            <a:pPr algn="just">
              <a:buFont typeface="Arial" panose="020B0604020202020204" pitchFamily="34" charset="0"/>
              <a:buChar char="•"/>
            </a:pPr>
            <a:r>
              <a:rPr lang="en-US" b="1" dirty="0"/>
              <a:t>Introduction &amp; Concept:</a:t>
            </a:r>
            <a:r>
              <a:rPr lang="en-US" dirty="0"/>
              <a:t> Fact-based management using data, statistics, and models to drive decisions.</a:t>
            </a:r>
          </a:p>
          <a:p>
            <a:pPr algn="just">
              <a:buFont typeface="Arial" panose="020B0604020202020204" pitchFamily="34" charset="0"/>
              <a:buChar char="•"/>
            </a:pPr>
            <a:r>
              <a:rPr lang="en-US" b="1" dirty="0"/>
              <a:t>Evolution:</a:t>
            </a:r>
            <a:r>
              <a:rPr lang="en-US" dirty="0"/>
              <a:t> Shift from traditional Reporting (What happened?) to advanced Predictive &amp; Prescriptive modeling (What will happen? What should we do?).</a:t>
            </a:r>
          </a:p>
          <a:p>
            <a:pPr algn="just">
              <a:buFont typeface="Arial" panose="020B0604020202020204" pitchFamily="34" charset="0"/>
              <a:buChar char="•"/>
            </a:pPr>
            <a:r>
              <a:rPr lang="en-US" dirty="0"/>
              <a:t>Started with simple reporting (late 20th century) </a:t>
            </a:r>
            <a:r>
              <a:rPr lang="en-US" dirty="0">
                <a:sym typeface="Wingdings" panose="05000000000000000000" pitchFamily="2" charset="2"/>
              </a:rPr>
              <a:t></a:t>
            </a:r>
            <a:r>
              <a:rPr lang="en-US" dirty="0"/>
              <a:t>advanced to BI/Data Warehousing </a:t>
            </a:r>
            <a:r>
              <a:rPr lang="en-US" dirty="0">
                <a:sym typeface="Wingdings" panose="05000000000000000000" pitchFamily="2" charset="2"/>
              </a:rPr>
              <a:t></a:t>
            </a:r>
            <a:r>
              <a:rPr lang="en-US" dirty="0"/>
              <a:t>current era of Big Data and AI-driven insights.</a:t>
            </a:r>
          </a:p>
          <a:p>
            <a:pPr algn="just">
              <a:buFont typeface="Arial" panose="020B0604020202020204" pitchFamily="34" charset="0"/>
              <a:buChar char="•"/>
            </a:pPr>
            <a:r>
              <a:rPr lang="en-US" b="1" dirty="0"/>
              <a:t>Scopes:</a:t>
            </a:r>
            <a:r>
              <a:rPr lang="en-US" dirty="0"/>
              <a:t> Pervasive across all business functions (Marketing, Finance, Operations, HR) and industries (Healthcare, sports, Retail, Government).</a:t>
            </a:r>
          </a:p>
          <a:p>
            <a:pPr algn="just">
              <a:buFont typeface="Arial" panose="020B0604020202020204" pitchFamily="34" charset="0"/>
              <a:buChar char="•"/>
            </a:pPr>
            <a:r>
              <a:rPr lang="en-US" b="1" dirty="0"/>
              <a:t>The Big Picture:</a:t>
            </a:r>
            <a:r>
              <a:rPr lang="en-US" dirty="0"/>
              <a:t> Big Data Analytics is the infrastructure and process; Business Intelligence (BI) is the output and presentation layer.</a:t>
            </a:r>
            <a:endParaRPr lang="en-US" sz="3200" dirty="0"/>
          </a:p>
          <a:p>
            <a:endParaRPr lang="en-US" dirty="0"/>
          </a:p>
        </p:txBody>
      </p:sp>
    </p:spTree>
    <p:extLst>
      <p:ext uri="{BB962C8B-B14F-4D97-AF65-F5344CB8AC3E}">
        <p14:creationId xmlns:p14="http://schemas.microsoft.com/office/powerpoint/2010/main" val="372252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9A5D-6716-5F2A-A2E5-5E4CCE381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1E3C8-8A23-4581-50A9-46B615820155}"/>
              </a:ext>
            </a:extLst>
          </p:cNvPr>
          <p:cNvSpPr>
            <a:spLocks noGrp="1"/>
          </p:cNvSpPr>
          <p:nvPr>
            <p:ph type="title"/>
          </p:nvPr>
        </p:nvSpPr>
        <p:spPr>
          <a:xfrm>
            <a:off x="942583" y="214812"/>
            <a:ext cx="10515600" cy="724639"/>
          </a:xfrm>
        </p:spPr>
        <p:txBody>
          <a:bodyPr>
            <a:noAutofit/>
          </a:bodyPr>
          <a:lstStyle/>
          <a:p>
            <a:r>
              <a:rPr lang="en-US" b="1" dirty="0">
                <a:solidFill>
                  <a:srgbClr val="FF0000"/>
                </a:solidFill>
              </a:rPr>
              <a:t>Cont..</a:t>
            </a:r>
          </a:p>
        </p:txBody>
      </p:sp>
      <p:sp>
        <p:nvSpPr>
          <p:cNvPr id="3" name="Content Placeholder 2">
            <a:extLst>
              <a:ext uri="{FF2B5EF4-FFF2-40B4-BE49-F238E27FC236}">
                <a16:creationId xmlns:a16="http://schemas.microsoft.com/office/drawing/2014/main" id="{95252487-3583-2D63-6D80-62247FB98AD3}"/>
              </a:ext>
            </a:extLst>
          </p:cNvPr>
          <p:cNvSpPr>
            <a:spLocks noGrp="1"/>
          </p:cNvSpPr>
          <p:nvPr>
            <p:ph idx="1"/>
          </p:nvPr>
        </p:nvSpPr>
        <p:spPr>
          <a:xfrm>
            <a:off x="563671" y="1052186"/>
            <a:ext cx="11273425" cy="5440689"/>
          </a:xfrm>
        </p:spPr>
        <p:txBody>
          <a:bodyPr>
            <a:normAutofit/>
          </a:bodyPr>
          <a:lstStyle/>
          <a:p>
            <a:pPr algn="just">
              <a:buFont typeface="Arial" panose="020B0604020202020204" pitchFamily="34" charset="0"/>
              <a:buChar char="•"/>
            </a:pPr>
            <a:r>
              <a:rPr lang="en-US" dirty="0"/>
              <a:t>In the modern business landscape, we are witnessing a dramatic shift, where operational decisions are moving away from traditional reliance on intuition or simple experience toward a system of </a:t>
            </a:r>
            <a:r>
              <a:rPr lang="en-US" b="1" dirty="0"/>
              <a:t>fact-based management</a:t>
            </a:r>
            <a:r>
              <a:rPr lang="en-US" dirty="0"/>
              <a:t>.</a:t>
            </a:r>
          </a:p>
          <a:p>
            <a:pPr algn="just">
              <a:buFont typeface="Arial" panose="020B0604020202020204" pitchFamily="34" charset="0"/>
              <a:buChar char="•"/>
            </a:pPr>
            <a:r>
              <a:rPr lang="en-US" dirty="0"/>
              <a:t>At the heart of this transformation is </a:t>
            </a:r>
            <a:r>
              <a:rPr lang="en-US" b="1" dirty="0"/>
              <a:t>Data Analytics</a:t>
            </a:r>
            <a:r>
              <a:rPr lang="en-US" dirty="0"/>
              <a:t>, which we define as the extensive use of data, statistical methodologies, and quantitative models to generate actionable insights.</a:t>
            </a:r>
          </a:p>
          <a:p>
            <a:pPr algn="just">
              <a:buFont typeface="Arial" panose="020B0604020202020204" pitchFamily="34" charset="0"/>
              <a:buChar char="•"/>
            </a:pPr>
            <a:r>
              <a:rPr lang="en-US" dirty="0"/>
              <a:t>This field has exploded in relevance due to two major factors: the rise of affordable </a:t>
            </a:r>
            <a:r>
              <a:rPr lang="en-US" b="1" dirty="0"/>
              <a:t>cloud computing</a:t>
            </a:r>
            <a:r>
              <a:rPr lang="en-US" dirty="0"/>
              <a:t> and the massive scale of data acquisition, which ushered in the 'Big Data' era, making sophisticated analysis technically and economically feasible for virtually any organization. </a:t>
            </a:r>
          </a:p>
        </p:txBody>
      </p:sp>
    </p:spTree>
    <p:extLst>
      <p:ext uri="{BB962C8B-B14F-4D97-AF65-F5344CB8AC3E}">
        <p14:creationId xmlns:p14="http://schemas.microsoft.com/office/powerpoint/2010/main" val="60816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28E6-242E-9BDC-A9B2-B0132B5F2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678BF-C5FD-44E1-DE03-9506B07FA7B5}"/>
              </a:ext>
            </a:extLst>
          </p:cNvPr>
          <p:cNvSpPr>
            <a:spLocks noGrp="1"/>
          </p:cNvSpPr>
          <p:nvPr>
            <p:ph type="title"/>
          </p:nvPr>
        </p:nvSpPr>
        <p:spPr>
          <a:xfrm>
            <a:off x="942583" y="214812"/>
            <a:ext cx="10515600" cy="724639"/>
          </a:xfrm>
        </p:spPr>
        <p:txBody>
          <a:bodyPr>
            <a:noAutofit/>
          </a:bodyPr>
          <a:lstStyle/>
          <a:p>
            <a:r>
              <a:rPr lang="en-US" b="1" dirty="0">
                <a:solidFill>
                  <a:srgbClr val="FF0000"/>
                </a:solidFill>
              </a:rPr>
              <a:t>Cont..</a:t>
            </a:r>
          </a:p>
        </p:txBody>
      </p:sp>
      <p:sp>
        <p:nvSpPr>
          <p:cNvPr id="3" name="Content Placeholder 2">
            <a:extLst>
              <a:ext uri="{FF2B5EF4-FFF2-40B4-BE49-F238E27FC236}">
                <a16:creationId xmlns:a16="http://schemas.microsoft.com/office/drawing/2014/main" id="{77450FC0-D478-4CCA-4E87-3C3C86BF99EC}"/>
              </a:ext>
            </a:extLst>
          </p:cNvPr>
          <p:cNvSpPr>
            <a:spLocks noGrp="1"/>
          </p:cNvSpPr>
          <p:nvPr>
            <p:ph idx="1"/>
          </p:nvPr>
        </p:nvSpPr>
        <p:spPr>
          <a:xfrm>
            <a:off x="563671" y="1052186"/>
            <a:ext cx="11273425" cy="5440689"/>
          </a:xfrm>
        </p:spPr>
        <p:txBody>
          <a:bodyPr>
            <a:normAutofit/>
          </a:bodyPr>
          <a:lstStyle/>
          <a:p>
            <a:pPr algn="just">
              <a:buFont typeface="Arial" panose="020B0604020202020204" pitchFamily="34" charset="0"/>
              <a:buChar char="•"/>
            </a:pPr>
            <a:r>
              <a:rPr lang="en-US" sz="3200" dirty="0"/>
              <a:t>Consequently, the scope of data analytics is massive and essential across every domain, from optimizing complex logistical routes in a global </a:t>
            </a:r>
            <a:r>
              <a:rPr lang="en-US" sz="3200" b="1" dirty="0"/>
              <a:t>supply chain (Operations)</a:t>
            </a:r>
            <a:r>
              <a:rPr lang="en-US" sz="3200" dirty="0"/>
              <a:t> to accurately predicting which customers are most likely to leave the service </a:t>
            </a:r>
            <a:r>
              <a:rPr lang="en-US" sz="3200" b="1" dirty="0"/>
              <a:t>(Marketing)</a:t>
            </a:r>
            <a:r>
              <a:rPr lang="en-US" sz="3200" dirty="0"/>
              <a:t>.“</a:t>
            </a:r>
          </a:p>
          <a:p>
            <a:pPr algn="just">
              <a:buFont typeface="Arial" panose="020B0604020202020204" pitchFamily="34" charset="0"/>
              <a:buChar char="•"/>
            </a:pPr>
            <a:endParaRPr lang="en-US" sz="3200" dirty="0"/>
          </a:p>
          <a:p>
            <a:pPr algn="just">
              <a:buFont typeface="Arial" panose="020B0604020202020204" pitchFamily="34" charset="0"/>
              <a:buChar char="•"/>
            </a:pPr>
            <a:r>
              <a:rPr lang="en-US" sz="3200" b="1" dirty="0">
                <a:solidFill>
                  <a:srgbClr val="FF0000"/>
                </a:solidFill>
              </a:rPr>
              <a:t>What is Data?</a:t>
            </a:r>
          </a:p>
          <a:p>
            <a:pPr algn="just">
              <a:buFont typeface="Arial" panose="020B0604020202020204" pitchFamily="34" charset="0"/>
              <a:buChar char="•"/>
            </a:pPr>
            <a:r>
              <a:rPr lang="en-US" sz="3200" dirty="0"/>
              <a:t>The quantities, characters, or symbols on which operations are performed by a computer, which may be stored and transmitted in the form of electrical signals and recorded on magnetic, optical, or mechanical recording media.</a:t>
            </a:r>
          </a:p>
        </p:txBody>
      </p:sp>
    </p:spTree>
    <p:extLst>
      <p:ext uri="{BB962C8B-B14F-4D97-AF65-F5344CB8AC3E}">
        <p14:creationId xmlns:p14="http://schemas.microsoft.com/office/powerpoint/2010/main" val="1855336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B2079-63D4-AA0C-1915-16E1B6C7F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8081D-9CD9-A0ED-AA03-F874736C4FB1}"/>
              </a:ext>
            </a:extLst>
          </p:cNvPr>
          <p:cNvSpPr>
            <a:spLocks noGrp="1"/>
          </p:cNvSpPr>
          <p:nvPr>
            <p:ph type="title"/>
          </p:nvPr>
        </p:nvSpPr>
        <p:spPr>
          <a:xfrm>
            <a:off x="942583" y="214812"/>
            <a:ext cx="10515600" cy="724639"/>
          </a:xfrm>
        </p:spPr>
        <p:txBody>
          <a:bodyPr>
            <a:noAutofit/>
          </a:bodyPr>
          <a:lstStyle/>
          <a:p>
            <a:pPr algn="ctr"/>
            <a:r>
              <a:rPr lang="en-US" sz="3600" b="1" i="0" u="none" strike="noStrike" baseline="0" dirty="0">
                <a:solidFill>
                  <a:srgbClr val="FF0000"/>
                </a:solidFill>
              </a:rPr>
              <a:t>Define Data, characteristics of data?</a:t>
            </a:r>
            <a:endParaRPr lang="en-US" sz="7200" b="1" dirty="0">
              <a:solidFill>
                <a:srgbClr val="FF0000"/>
              </a:solidFill>
            </a:endParaRPr>
          </a:p>
        </p:txBody>
      </p:sp>
      <p:sp>
        <p:nvSpPr>
          <p:cNvPr id="3" name="Content Placeholder 2">
            <a:extLst>
              <a:ext uri="{FF2B5EF4-FFF2-40B4-BE49-F238E27FC236}">
                <a16:creationId xmlns:a16="http://schemas.microsoft.com/office/drawing/2014/main" id="{877FDCBD-8BCD-33CC-14E1-20C6305C59C9}"/>
              </a:ext>
            </a:extLst>
          </p:cNvPr>
          <p:cNvSpPr>
            <a:spLocks noGrp="1"/>
          </p:cNvSpPr>
          <p:nvPr>
            <p:ph idx="1"/>
          </p:nvPr>
        </p:nvSpPr>
        <p:spPr>
          <a:xfrm>
            <a:off x="563671" y="939452"/>
            <a:ext cx="11273425" cy="5799552"/>
          </a:xfrm>
        </p:spPr>
        <p:txBody>
          <a:bodyPr>
            <a:normAutofit lnSpcReduction="10000"/>
          </a:bodyPr>
          <a:lstStyle/>
          <a:p>
            <a:pPr algn="just"/>
            <a:r>
              <a:rPr lang="en-US" b="0" i="0" u="none" strike="noStrike" baseline="0" dirty="0">
                <a:solidFill>
                  <a:srgbClr val="000000"/>
                </a:solidFill>
              </a:rPr>
              <a:t>Data is a collection of details in the form of either figures or texts or symbols, or descriptions etc. </a:t>
            </a:r>
          </a:p>
          <a:p>
            <a:pPr algn="just"/>
            <a:r>
              <a:rPr lang="en-US" b="0" i="0" u="none" strike="noStrike" baseline="0" dirty="0">
                <a:solidFill>
                  <a:srgbClr val="000000"/>
                </a:solidFill>
              </a:rPr>
              <a:t>Data contains </a:t>
            </a:r>
            <a:r>
              <a:rPr lang="en-US" b="0" i="0" u="none" strike="noStrike" baseline="0" dirty="0">
                <a:solidFill>
                  <a:srgbClr val="FF0000"/>
                </a:solidFill>
              </a:rPr>
              <a:t>raw figures and facts</a:t>
            </a:r>
            <a:r>
              <a:rPr lang="en-US" b="0" i="0" u="none" strike="noStrike" baseline="0" dirty="0">
                <a:solidFill>
                  <a:srgbClr val="000000"/>
                </a:solidFill>
              </a:rPr>
              <a:t>. Information unlike data provides </a:t>
            </a:r>
            <a:r>
              <a:rPr lang="en-US" b="0" i="0" u="none" strike="noStrike" baseline="0" dirty="0">
                <a:solidFill>
                  <a:srgbClr val="FF0000"/>
                </a:solidFill>
              </a:rPr>
              <a:t>insights analyzed through the data collected</a:t>
            </a:r>
            <a:r>
              <a:rPr lang="en-US" b="0" i="0" u="none" strike="noStrike" baseline="0" dirty="0">
                <a:solidFill>
                  <a:srgbClr val="000000"/>
                </a:solidFill>
              </a:rPr>
              <a:t>. </a:t>
            </a:r>
          </a:p>
          <a:p>
            <a:pPr algn="just"/>
            <a:r>
              <a:rPr lang="en-US" i="0" u="none" strike="noStrike" baseline="0" dirty="0">
                <a:solidFill>
                  <a:srgbClr val="000000"/>
                </a:solidFill>
              </a:rPr>
              <a:t>Data has 3 characteristics:</a:t>
            </a:r>
          </a:p>
          <a:p>
            <a:pPr marL="0" indent="0" algn="just">
              <a:buNone/>
            </a:pPr>
            <a:r>
              <a:rPr lang="en-US" b="0" i="0" u="none" strike="noStrike" baseline="0" dirty="0">
                <a:solidFill>
                  <a:srgbClr val="000000"/>
                </a:solidFill>
              </a:rPr>
              <a:t>1. </a:t>
            </a:r>
            <a:r>
              <a:rPr lang="en-US" b="1" i="0" u="none" strike="noStrike" baseline="0" dirty="0">
                <a:solidFill>
                  <a:srgbClr val="000000"/>
                </a:solidFill>
              </a:rPr>
              <a:t>Composition</a:t>
            </a:r>
            <a:r>
              <a:rPr lang="en-US" b="0" i="0" u="none" strike="noStrike" baseline="0" dirty="0">
                <a:solidFill>
                  <a:srgbClr val="000000"/>
                </a:solidFill>
              </a:rPr>
              <a:t>: The composition of data deals with the structure of data, </a:t>
            </a:r>
            <a:r>
              <a:rPr lang="en-US" b="0" i="0" u="none" strike="noStrike" baseline="0" dirty="0" err="1">
                <a:solidFill>
                  <a:srgbClr val="000000"/>
                </a:solidFill>
              </a:rPr>
              <a:t>i.e</a:t>
            </a:r>
            <a:r>
              <a:rPr lang="en-US" b="0" i="0" u="none" strike="noStrike" baseline="0" dirty="0">
                <a:solidFill>
                  <a:srgbClr val="000000"/>
                </a:solidFill>
              </a:rPr>
              <a:t>; the sources of data, the granularity/detail/</a:t>
            </a:r>
            <a:r>
              <a:rPr lang="en-US" b="0" i="0" dirty="0">
                <a:solidFill>
                  <a:srgbClr val="040C28"/>
                </a:solidFill>
                <a:effectLst/>
                <a:latin typeface="Google Sans"/>
              </a:rPr>
              <a:t>precision</a:t>
            </a:r>
            <a:r>
              <a:rPr lang="en-US" b="0" i="0" u="none" strike="noStrike" baseline="0" dirty="0">
                <a:solidFill>
                  <a:srgbClr val="000000"/>
                </a:solidFill>
              </a:rPr>
              <a:t>, the types and nature of data as to whether it is static or real time streaming.</a:t>
            </a:r>
          </a:p>
          <a:p>
            <a:pPr marL="0" indent="0" algn="just">
              <a:buNone/>
            </a:pPr>
            <a:r>
              <a:rPr lang="en-US" b="0" i="0" u="none" strike="noStrike" baseline="0" dirty="0">
                <a:solidFill>
                  <a:srgbClr val="000000"/>
                </a:solidFill>
              </a:rPr>
              <a:t>2. </a:t>
            </a:r>
            <a:r>
              <a:rPr lang="en-US" b="1" i="0" u="none" strike="noStrike" baseline="0" dirty="0">
                <a:solidFill>
                  <a:srgbClr val="000000"/>
                </a:solidFill>
              </a:rPr>
              <a:t>Condition</a:t>
            </a:r>
            <a:r>
              <a:rPr lang="en-US" b="0" i="0" u="none" strike="noStrike" baseline="0" dirty="0">
                <a:solidFill>
                  <a:srgbClr val="000000"/>
                </a:solidFill>
              </a:rPr>
              <a:t>: The condition of data deals with the state of data, </a:t>
            </a:r>
            <a:r>
              <a:rPr lang="en-US" b="0" i="0" u="none" strike="noStrike" baseline="0" dirty="0" err="1">
                <a:solidFill>
                  <a:srgbClr val="000000"/>
                </a:solidFill>
              </a:rPr>
              <a:t>i.e</a:t>
            </a:r>
            <a:r>
              <a:rPr lang="en-US" b="0" i="0" u="none" strike="noStrike" baseline="0" dirty="0">
                <a:solidFill>
                  <a:srgbClr val="000000"/>
                </a:solidFill>
              </a:rPr>
              <a:t>; “Can one use this data as is for analysis?” or “Does it require cleaning for further enhancement and enrichment?” data?”</a:t>
            </a:r>
          </a:p>
          <a:p>
            <a:pPr marL="0" indent="0" algn="just">
              <a:buNone/>
            </a:pPr>
            <a:r>
              <a:rPr lang="en-US" b="0" i="0" u="none" strike="noStrike" baseline="0" dirty="0">
                <a:solidFill>
                  <a:srgbClr val="000000"/>
                </a:solidFill>
              </a:rPr>
              <a:t>3. </a:t>
            </a:r>
            <a:r>
              <a:rPr lang="en-US" b="1" i="0" u="none" strike="noStrike" baseline="0" dirty="0">
                <a:solidFill>
                  <a:srgbClr val="000000"/>
                </a:solidFill>
              </a:rPr>
              <a:t>Context</a:t>
            </a:r>
            <a:r>
              <a:rPr lang="en-US" b="0" i="0" u="none" strike="noStrike" baseline="0" dirty="0">
                <a:solidFill>
                  <a:srgbClr val="000000"/>
                </a:solidFill>
              </a:rPr>
              <a:t>: The context of data deals with “Where has this data been generated?”. “Why was this data generated?”, “How sensitive is this data?”, “What are the events associated with this”.</a:t>
            </a:r>
          </a:p>
        </p:txBody>
      </p:sp>
    </p:spTree>
    <p:extLst>
      <p:ext uri="{BB962C8B-B14F-4D97-AF65-F5344CB8AC3E}">
        <p14:creationId xmlns:p14="http://schemas.microsoft.com/office/powerpoint/2010/main" val="1147268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3221-BEB6-60F4-0965-B533003AB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2408F-7F7E-50B3-6707-A90867EC1CB9}"/>
              </a:ext>
            </a:extLst>
          </p:cNvPr>
          <p:cNvSpPr>
            <a:spLocks noGrp="1"/>
          </p:cNvSpPr>
          <p:nvPr>
            <p:ph type="title"/>
          </p:nvPr>
        </p:nvSpPr>
        <p:spPr>
          <a:xfrm>
            <a:off x="942583" y="214812"/>
            <a:ext cx="10515600" cy="724639"/>
          </a:xfrm>
        </p:spPr>
        <p:txBody>
          <a:bodyPr>
            <a:noAutofit/>
          </a:bodyPr>
          <a:lstStyle/>
          <a:p>
            <a:pPr algn="ctr"/>
            <a:r>
              <a:rPr lang="en-US" sz="3200" b="1" i="0" u="none" strike="noStrike" baseline="0" dirty="0">
                <a:solidFill>
                  <a:srgbClr val="FF0000"/>
                </a:solidFill>
              </a:rPr>
              <a:t>What is digital data? Explain different types of digital data.</a:t>
            </a:r>
            <a:endParaRPr lang="en-US" sz="6600" b="1" dirty="0">
              <a:solidFill>
                <a:srgbClr val="FF0000"/>
              </a:solidFill>
            </a:endParaRPr>
          </a:p>
        </p:txBody>
      </p:sp>
      <p:sp>
        <p:nvSpPr>
          <p:cNvPr id="3" name="Content Placeholder 2">
            <a:extLst>
              <a:ext uri="{FF2B5EF4-FFF2-40B4-BE49-F238E27FC236}">
                <a16:creationId xmlns:a16="http://schemas.microsoft.com/office/drawing/2014/main" id="{371A3887-5F6F-62EC-7021-72B0EA3A76F6}"/>
              </a:ext>
            </a:extLst>
          </p:cNvPr>
          <p:cNvSpPr>
            <a:spLocks noGrp="1"/>
          </p:cNvSpPr>
          <p:nvPr>
            <p:ph idx="1"/>
          </p:nvPr>
        </p:nvSpPr>
        <p:spPr>
          <a:xfrm>
            <a:off x="563671" y="939452"/>
            <a:ext cx="11273425" cy="5799552"/>
          </a:xfrm>
        </p:spPr>
        <p:txBody>
          <a:bodyPr>
            <a:normAutofit/>
          </a:bodyPr>
          <a:lstStyle/>
          <a:p>
            <a:pPr algn="just"/>
            <a:r>
              <a:rPr lang="en-US" b="0" i="0" u="none" strike="noStrike" baseline="0" dirty="0">
                <a:solidFill>
                  <a:srgbClr val="000000"/>
                </a:solidFill>
                <a:latin typeface="Bookman Old Style" panose="02050604050505020204" pitchFamily="18" charset="0"/>
              </a:rPr>
              <a:t>The data that is stored using specific machine language systems which can be interpreted by various technologies is called digital data.</a:t>
            </a:r>
          </a:p>
          <a:p>
            <a:pPr algn="just"/>
            <a:r>
              <a:rPr lang="en-US" b="0" i="0" u="none" strike="noStrike" baseline="0" dirty="0" err="1">
                <a:solidFill>
                  <a:srgbClr val="000000"/>
                </a:solidFill>
                <a:latin typeface="Bookman Old Style" panose="02050604050505020204" pitchFamily="18" charset="0"/>
              </a:rPr>
              <a:t>Eg.</a:t>
            </a:r>
            <a:r>
              <a:rPr lang="en-US" b="0" i="0" u="none" strike="noStrike" baseline="0" dirty="0">
                <a:solidFill>
                  <a:srgbClr val="000000"/>
                </a:solidFill>
                <a:latin typeface="Bookman Old Style" panose="02050604050505020204" pitchFamily="18" charset="0"/>
              </a:rPr>
              <a:t> Audio, video or text information</a:t>
            </a:r>
          </a:p>
          <a:p>
            <a:pPr algn="just"/>
            <a:r>
              <a:rPr lang="en-US" b="0" i="0" u="none" strike="noStrike" baseline="0" dirty="0">
                <a:solidFill>
                  <a:srgbClr val="000000"/>
                </a:solidFill>
                <a:latin typeface="Bookman Old Style" panose="02050604050505020204" pitchFamily="18" charset="0"/>
              </a:rPr>
              <a:t>Digital Data is classified into three types:</a:t>
            </a:r>
            <a:endParaRPr lang="en-US" sz="18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1. Structured Data:- </a:t>
            </a:r>
            <a:r>
              <a:rPr lang="en-US" sz="2400" b="0" i="0" u="none" strike="noStrike" baseline="0" dirty="0">
                <a:solidFill>
                  <a:srgbClr val="000000"/>
                </a:solidFill>
                <a:latin typeface="Bookman Old Style" panose="02050604050505020204" pitchFamily="18" charset="0"/>
              </a:rPr>
              <a:t>This is the data which is in an organized form, for example in rows and columns. No of rows called Cardinality and No of columns called Degree of a relation </a:t>
            </a:r>
            <a:r>
              <a:rPr lang="en-US" sz="2400" b="1" i="0" u="none" strike="noStrike" baseline="0" dirty="0">
                <a:solidFill>
                  <a:srgbClr val="000000"/>
                </a:solidFill>
                <a:latin typeface="Bookman Old Style" panose="02050604050505020204" pitchFamily="18" charset="0"/>
              </a:rPr>
              <a:t>Sources: </a:t>
            </a:r>
            <a:r>
              <a:rPr lang="en-US" sz="2400" b="0" i="0" u="none" strike="noStrike" baseline="0" dirty="0">
                <a:solidFill>
                  <a:srgbClr val="000000"/>
                </a:solidFill>
                <a:latin typeface="Bookman Old Style" panose="02050604050505020204" pitchFamily="18" charset="0"/>
              </a:rPr>
              <a:t>Database, Spread sheets, OLTP systems. </a:t>
            </a:r>
          </a:p>
          <a:p>
            <a:r>
              <a:rPr lang="en-US" sz="2400" b="1" i="0" u="none" strike="noStrike" baseline="0" dirty="0">
                <a:solidFill>
                  <a:srgbClr val="000000"/>
                </a:solidFill>
                <a:latin typeface="Bookman Old Style" panose="02050604050505020204" pitchFamily="18" charset="0"/>
              </a:rPr>
              <a:t>2. Semi-Structured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This data which doesn’t conform to a data model but has some structure. Metadata for this data is available but is not sufficient. It has inconsistent structure. </a:t>
            </a:r>
            <a:endParaRPr lang="en-US" sz="3200" b="0" i="0" u="none" strike="noStrike" baseline="0" dirty="0">
              <a:solidFill>
                <a:srgbClr val="000000"/>
              </a:solidFill>
              <a:latin typeface="Bookman Old Style" panose="02050604050505020204" pitchFamily="18" charset="0"/>
            </a:endParaRPr>
          </a:p>
          <a:p>
            <a:r>
              <a:rPr lang="en-US" sz="2400" b="1" i="0" u="none" strike="noStrike" baseline="0" dirty="0">
                <a:solidFill>
                  <a:srgbClr val="000000"/>
                </a:solidFill>
                <a:latin typeface="Bookman Old Style" panose="02050604050505020204" pitchFamily="18" charset="0"/>
              </a:rPr>
              <a:t>Sources</a:t>
            </a:r>
            <a:r>
              <a:rPr lang="en-US" sz="2400" b="0" i="0" u="none" strike="noStrike" baseline="0" dirty="0">
                <a:solidFill>
                  <a:srgbClr val="000000"/>
                </a:solidFill>
                <a:latin typeface="Bookman Old Style" panose="02050604050505020204" pitchFamily="18" charset="0"/>
              </a:rPr>
              <a:t>: XML, JSON, E-mail, self describing (label/value pairs) </a:t>
            </a:r>
            <a:endParaRPr lang="en-US" sz="3600" b="0" i="0" u="none" strike="noStrike" baseline="0" dirty="0">
              <a:solidFill>
                <a:srgbClr val="000000"/>
              </a:solidFill>
              <a:latin typeface="Bookman Old Style" panose="02050604050505020204" pitchFamily="18" charset="0"/>
            </a:endParaRPr>
          </a:p>
        </p:txBody>
      </p:sp>
    </p:spTree>
    <p:extLst>
      <p:ext uri="{BB962C8B-B14F-4D97-AF65-F5344CB8AC3E}">
        <p14:creationId xmlns:p14="http://schemas.microsoft.com/office/powerpoint/2010/main" val="892594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64123-30A9-6BB3-6964-0AF6F1D7E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2289A-5BED-6295-C742-A649F5249441}"/>
              </a:ext>
            </a:extLst>
          </p:cNvPr>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sp>
        <p:nvSpPr>
          <p:cNvPr id="3" name="Content Placeholder 2">
            <a:extLst>
              <a:ext uri="{FF2B5EF4-FFF2-40B4-BE49-F238E27FC236}">
                <a16:creationId xmlns:a16="http://schemas.microsoft.com/office/drawing/2014/main" id="{79BE6B5B-FDA6-F105-EF77-ABDAFF979BE1}"/>
              </a:ext>
            </a:extLst>
          </p:cNvPr>
          <p:cNvSpPr>
            <a:spLocks noGrp="1"/>
          </p:cNvSpPr>
          <p:nvPr>
            <p:ph idx="1"/>
          </p:nvPr>
        </p:nvSpPr>
        <p:spPr>
          <a:xfrm>
            <a:off x="563671" y="939452"/>
            <a:ext cx="11273425" cy="5799552"/>
          </a:xfrm>
        </p:spPr>
        <p:txBody>
          <a:bodyPr>
            <a:normAutofit/>
          </a:bodyPr>
          <a:lstStyle/>
          <a:p>
            <a:r>
              <a:rPr lang="en-US" sz="2400" b="1" i="0" u="none" strike="noStrike" baseline="0" dirty="0">
                <a:solidFill>
                  <a:srgbClr val="000000"/>
                </a:solidFill>
                <a:latin typeface="Bookman Old Style" panose="02050604050505020204" pitchFamily="18" charset="0"/>
              </a:rPr>
              <a:t>3. Unstructured Data: </a:t>
            </a:r>
            <a:endParaRPr lang="en-US" sz="24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This is the data which does not conform to a data model or is not in a form which can be used easily by a computer program. </a:t>
            </a:r>
          </a:p>
          <a:p>
            <a:r>
              <a:rPr lang="en-US" sz="2400" b="0" i="0" u="none" strike="noStrike" baseline="0" dirty="0">
                <a:solidFill>
                  <a:srgbClr val="000000"/>
                </a:solidFill>
                <a:latin typeface="Bookman Old Style" panose="02050604050505020204" pitchFamily="18" charset="0"/>
              </a:rPr>
              <a:t>About 80–90% data of an organization is in this format. </a:t>
            </a:r>
          </a:p>
          <a:p>
            <a:r>
              <a:rPr lang="en-US" sz="2400" b="1" i="0" u="none" strike="noStrike" baseline="0" dirty="0">
                <a:solidFill>
                  <a:srgbClr val="000000"/>
                </a:solidFill>
                <a:latin typeface="Bookman Old Style" panose="02050604050505020204" pitchFamily="18" charset="0"/>
              </a:rPr>
              <a:t>Sources: </a:t>
            </a:r>
            <a:r>
              <a:rPr lang="en-US" sz="2400" b="0" i="0" u="none" strike="noStrike" baseline="0" dirty="0">
                <a:solidFill>
                  <a:srgbClr val="000000"/>
                </a:solidFill>
                <a:latin typeface="Bookman Old Style" panose="02050604050505020204" pitchFamily="18" charset="0"/>
              </a:rPr>
              <a:t>memos, chat-rooms, PowerPoint presentations, images, videos, letters, researches, white papers, body of an email, etc. </a:t>
            </a:r>
          </a:p>
          <a:p>
            <a:r>
              <a:rPr lang="en-US" sz="1800" b="1" i="0" u="none" strike="noStrike" baseline="0" dirty="0">
                <a:solidFill>
                  <a:srgbClr val="000000"/>
                </a:solidFill>
                <a:latin typeface="Bookman Old Style" panose="02050604050505020204" pitchFamily="18" charset="0"/>
              </a:rPr>
              <a:t>Characteristics: </a:t>
            </a:r>
            <a:endParaRPr lang="en-US" sz="1800" b="0" i="0" u="none" strike="noStrike" baseline="0" dirty="0">
              <a:solidFill>
                <a:srgbClr val="000000"/>
              </a:solidFill>
              <a:latin typeface="Bookman Old Style" panose="02050604050505020204" pitchFamily="18" charset="0"/>
            </a:endParaRPr>
          </a:p>
          <a:p>
            <a:r>
              <a:rPr lang="en-US" sz="2400" b="0" i="0" u="none" strike="noStrike" baseline="0" dirty="0">
                <a:solidFill>
                  <a:srgbClr val="000000"/>
                </a:solidFill>
                <a:latin typeface="Bookman Old Style" panose="02050604050505020204" pitchFamily="18" charset="0"/>
              </a:rPr>
              <a:t>Does not confirm to any data model </a:t>
            </a:r>
          </a:p>
          <a:p>
            <a:r>
              <a:rPr lang="en-US" sz="2400" b="0" i="0" u="none" strike="noStrike" baseline="0" dirty="0">
                <a:solidFill>
                  <a:srgbClr val="000000"/>
                </a:solidFill>
                <a:latin typeface="Bookman Old Style" panose="02050604050505020204" pitchFamily="18" charset="0"/>
              </a:rPr>
              <a:t>Can’t be stored in the form of rows and columns </a:t>
            </a:r>
          </a:p>
          <a:p>
            <a:r>
              <a:rPr lang="en-US" sz="2400" b="0" i="0" u="none" strike="noStrike" baseline="0" dirty="0">
                <a:solidFill>
                  <a:srgbClr val="000000"/>
                </a:solidFill>
                <a:latin typeface="Bookman Old Style" panose="02050604050505020204" pitchFamily="18" charset="0"/>
              </a:rPr>
              <a:t>Not in any particular format or sequence </a:t>
            </a:r>
          </a:p>
          <a:p>
            <a:r>
              <a:rPr lang="en-US" sz="2400" b="0" i="0" u="none" strike="noStrike" baseline="0" dirty="0">
                <a:solidFill>
                  <a:srgbClr val="000000"/>
                </a:solidFill>
                <a:latin typeface="Bookman Old Style" panose="02050604050505020204" pitchFamily="18" charset="0"/>
              </a:rPr>
              <a:t>Not easily usable by the program </a:t>
            </a:r>
          </a:p>
          <a:p>
            <a:r>
              <a:rPr lang="en-US" sz="2400" b="0" i="0" u="none" strike="noStrike" baseline="0" dirty="0">
                <a:solidFill>
                  <a:srgbClr val="000000"/>
                </a:solidFill>
                <a:latin typeface="Bookman Old Style" panose="02050604050505020204" pitchFamily="18" charset="0"/>
              </a:rPr>
              <a:t>Doesn’t follow any rule or semantics </a:t>
            </a:r>
          </a:p>
          <a:p>
            <a:pPr marL="0" indent="0">
              <a:buNone/>
            </a:pPr>
            <a:endParaRPr lang="en-US" sz="2400" b="0" i="0" u="none" strike="noStrike" baseline="0" dirty="0">
              <a:solidFill>
                <a:srgbClr val="000000"/>
              </a:solidFill>
              <a:latin typeface="Bookman Old Style" panose="02050604050505020204" pitchFamily="18" charset="0"/>
            </a:endParaRPr>
          </a:p>
        </p:txBody>
      </p:sp>
    </p:spTree>
    <p:extLst>
      <p:ext uri="{BB962C8B-B14F-4D97-AF65-F5344CB8AC3E}">
        <p14:creationId xmlns:p14="http://schemas.microsoft.com/office/powerpoint/2010/main" val="1292472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65D7-BE82-CC78-8718-E99536BCD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6EC34-4988-4EE5-0FEB-ADDA66E778BD}"/>
              </a:ext>
            </a:extLst>
          </p:cNvPr>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sp>
        <p:nvSpPr>
          <p:cNvPr id="3" name="Content Placeholder 2">
            <a:extLst>
              <a:ext uri="{FF2B5EF4-FFF2-40B4-BE49-F238E27FC236}">
                <a16:creationId xmlns:a16="http://schemas.microsoft.com/office/drawing/2014/main" id="{7304D852-359C-71EB-AE43-FFCA78180052}"/>
              </a:ext>
            </a:extLst>
          </p:cNvPr>
          <p:cNvSpPr>
            <a:spLocks noGrp="1"/>
          </p:cNvSpPr>
          <p:nvPr>
            <p:ph idx="1"/>
          </p:nvPr>
        </p:nvSpPr>
        <p:spPr>
          <a:xfrm>
            <a:off x="563671" y="939452"/>
            <a:ext cx="11273425" cy="5799552"/>
          </a:xfrm>
        </p:spPr>
        <p:txBody>
          <a:bodyPr>
            <a:normAutofit fontScale="92500" lnSpcReduction="20000"/>
          </a:bodyPr>
          <a:lstStyle/>
          <a:p>
            <a:r>
              <a:rPr lang="en-US" sz="2400" b="1" i="0" u="none" strike="noStrike" baseline="0" dirty="0">
                <a:solidFill>
                  <a:srgbClr val="000000"/>
                </a:solidFill>
                <a:latin typeface="Bookman Old Style" panose="02050604050505020204" pitchFamily="18" charset="0"/>
              </a:rPr>
              <a:t>Challenges</a:t>
            </a:r>
            <a:r>
              <a:rPr lang="en-US" sz="2400" b="0" i="0" u="none" strike="noStrike" baseline="0" dirty="0">
                <a:solidFill>
                  <a:srgbClr val="000000"/>
                </a:solidFill>
                <a:latin typeface="Bookman Old Style" panose="02050604050505020204" pitchFamily="18" charset="0"/>
              </a:rPr>
              <a:t>: </a:t>
            </a:r>
          </a:p>
          <a:p>
            <a:r>
              <a:rPr lang="en-US" sz="2400" b="0" i="0" u="none" strike="noStrike" baseline="0" dirty="0">
                <a:solidFill>
                  <a:srgbClr val="000000"/>
                </a:solidFill>
                <a:latin typeface="Bookman Old Style" panose="02050604050505020204" pitchFamily="18" charset="0"/>
              </a:rPr>
              <a:t>Storage space: Sheer volume of unstructured data and its unprecedented growth makes it difficult to store. Audios, videos, images, etc. acquire huge amount of storage space </a:t>
            </a:r>
          </a:p>
          <a:p>
            <a:r>
              <a:rPr lang="en-US" sz="2400" b="0" i="0" u="none" strike="noStrike" baseline="0" dirty="0">
                <a:solidFill>
                  <a:srgbClr val="000000"/>
                </a:solidFill>
                <a:latin typeface="Bookman Old Style" panose="02050604050505020204" pitchFamily="18" charset="0"/>
              </a:rPr>
              <a:t>Scalability: Scalability becomes an issue with increase in unstructured data </a:t>
            </a:r>
          </a:p>
          <a:p>
            <a:r>
              <a:rPr lang="en-US" sz="2400" b="0" i="0" u="none" strike="noStrike" baseline="0" dirty="0">
                <a:solidFill>
                  <a:srgbClr val="000000"/>
                </a:solidFill>
                <a:latin typeface="Bookman Old Style" panose="02050604050505020204" pitchFamily="18" charset="0"/>
              </a:rPr>
              <a:t>Retrieve information: Retrieving and recovering unstructured data are cumbersome </a:t>
            </a:r>
          </a:p>
          <a:p>
            <a:r>
              <a:rPr lang="en-US" sz="2400" b="0" i="0" u="none" strike="noStrike" baseline="0" dirty="0">
                <a:solidFill>
                  <a:srgbClr val="000000"/>
                </a:solidFill>
                <a:latin typeface="Bookman Old Style" panose="02050604050505020204" pitchFamily="18" charset="0"/>
              </a:rPr>
              <a:t>Security: Ensuring security is difficult due to varied sources of data (e.g. e-mail, web pages) </a:t>
            </a:r>
          </a:p>
          <a:p>
            <a:r>
              <a:rPr lang="en-US" sz="2400" b="0" i="0" u="none" strike="noStrike" baseline="0" dirty="0">
                <a:solidFill>
                  <a:srgbClr val="000000"/>
                </a:solidFill>
                <a:latin typeface="Bookman Old Style" panose="02050604050505020204" pitchFamily="18" charset="0"/>
              </a:rPr>
              <a:t>Update/delete: Updating, deleting, etc. are not easy due to the unstructured form </a:t>
            </a:r>
          </a:p>
          <a:p>
            <a:r>
              <a:rPr lang="en-US" sz="2400" b="0" i="0" u="none" strike="noStrike" baseline="0" dirty="0">
                <a:solidFill>
                  <a:srgbClr val="000000"/>
                </a:solidFill>
                <a:latin typeface="Bookman Old Style" panose="02050604050505020204" pitchFamily="18" charset="0"/>
              </a:rPr>
              <a:t>Indexing and Searching: Indexing becomes difficult with increase in data. </a:t>
            </a:r>
          </a:p>
          <a:p>
            <a:r>
              <a:rPr lang="en-US" sz="2400" b="0" i="0" u="none" strike="noStrike" baseline="0" dirty="0">
                <a:solidFill>
                  <a:srgbClr val="000000"/>
                </a:solidFill>
                <a:latin typeface="Bookman Old Style" panose="02050604050505020204" pitchFamily="18" charset="0"/>
              </a:rPr>
              <a:t>Searching is difficult for non-text data </a:t>
            </a:r>
          </a:p>
          <a:p>
            <a:r>
              <a:rPr lang="en-US" sz="2400" b="0" i="0" u="none" strike="noStrike" baseline="0" dirty="0">
                <a:solidFill>
                  <a:srgbClr val="000000"/>
                </a:solidFill>
                <a:latin typeface="Bookman Old Style" panose="02050604050505020204" pitchFamily="18" charset="0"/>
              </a:rPr>
              <a:t>Interpretation: Unstructured data is not easily interpreted by conventional search algorithm </a:t>
            </a:r>
          </a:p>
          <a:p>
            <a:r>
              <a:rPr lang="en-US" sz="2400" b="0" i="0" u="none" strike="noStrike" baseline="0" dirty="0">
                <a:solidFill>
                  <a:srgbClr val="000000"/>
                </a:solidFill>
                <a:latin typeface="Bookman Old Style" panose="02050604050505020204" pitchFamily="18" charset="0"/>
              </a:rPr>
              <a:t>Tags: As the data grows it is not possible to put tags Manually </a:t>
            </a:r>
          </a:p>
          <a:p>
            <a:r>
              <a:rPr lang="en-US" sz="2400" b="0" i="0" u="none" strike="noStrike" baseline="0" dirty="0">
                <a:solidFill>
                  <a:srgbClr val="000000"/>
                </a:solidFill>
                <a:latin typeface="Bookman Old Style" panose="02050604050505020204" pitchFamily="18" charset="0"/>
              </a:rPr>
              <a:t>Indexing: Designing algorithms to understand the meaning  of the document and then tag or index them accordingly is difficult. </a:t>
            </a:r>
            <a:endParaRPr lang="en-US" sz="2400" dirty="0"/>
          </a:p>
        </p:txBody>
      </p:sp>
    </p:spTree>
    <p:extLst>
      <p:ext uri="{BB962C8B-B14F-4D97-AF65-F5344CB8AC3E}">
        <p14:creationId xmlns:p14="http://schemas.microsoft.com/office/powerpoint/2010/main" val="2608157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8097D-7E2F-F523-8266-78E5A1699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F4994-AD9D-BCEF-0B43-ECF6ECC7D781}"/>
              </a:ext>
            </a:extLst>
          </p:cNvPr>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pic>
        <p:nvPicPr>
          <p:cNvPr id="5" name="Content Placeholder 4">
            <a:extLst>
              <a:ext uri="{FF2B5EF4-FFF2-40B4-BE49-F238E27FC236}">
                <a16:creationId xmlns:a16="http://schemas.microsoft.com/office/drawing/2014/main" id="{E22CD14D-3ED9-170F-E64D-54D96F578B4F}"/>
              </a:ext>
            </a:extLst>
          </p:cNvPr>
          <p:cNvPicPr>
            <a:picLocks noGrp="1" noChangeAspect="1"/>
          </p:cNvPicPr>
          <p:nvPr>
            <p:ph idx="1"/>
          </p:nvPr>
        </p:nvPicPr>
        <p:blipFill>
          <a:blip r:embed="rId3"/>
          <a:stretch>
            <a:fillRect/>
          </a:stretch>
        </p:blipFill>
        <p:spPr>
          <a:xfrm>
            <a:off x="375778" y="1270281"/>
            <a:ext cx="11523948" cy="4842420"/>
          </a:xfrm>
        </p:spPr>
      </p:pic>
    </p:spTree>
    <p:extLst>
      <p:ext uri="{BB962C8B-B14F-4D97-AF65-F5344CB8AC3E}">
        <p14:creationId xmlns:p14="http://schemas.microsoft.com/office/powerpoint/2010/main" val="10409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57D32-4FB4-CFE8-8AE9-05E1F90DE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71781-E5D5-9308-A20C-D7413C727BF3}"/>
              </a:ext>
            </a:extLst>
          </p:cNvPr>
          <p:cNvSpPr>
            <a:spLocks noGrp="1"/>
          </p:cNvSpPr>
          <p:nvPr>
            <p:ph type="title"/>
          </p:nvPr>
        </p:nvSpPr>
        <p:spPr>
          <a:xfrm>
            <a:off x="942583" y="214812"/>
            <a:ext cx="10515600" cy="724639"/>
          </a:xfrm>
        </p:spPr>
        <p:txBody>
          <a:bodyPr>
            <a:noAutofit/>
          </a:bodyPr>
          <a:lstStyle/>
          <a:p>
            <a:r>
              <a:rPr lang="en-US" sz="3200" b="1" i="0" u="none" strike="noStrike" baseline="0" dirty="0">
                <a:solidFill>
                  <a:srgbClr val="FF0000"/>
                </a:solidFill>
              </a:rPr>
              <a:t>Cont..</a:t>
            </a:r>
            <a:endParaRPr lang="en-US" sz="6600" b="1" dirty="0">
              <a:solidFill>
                <a:srgbClr val="FF0000"/>
              </a:solidFill>
            </a:endParaRPr>
          </a:p>
        </p:txBody>
      </p:sp>
      <p:sp>
        <p:nvSpPr>
          <p:cNvPr id="3" name="Content Placeholder 2">
            <a:extLst>
              <a:ext uri="{FF2B5EF4-FFF2-40B4-BE49-F238E27FC236}">
                <a16:creationId xmlns:a16="http://schemas.microsoft.com/office/drawing/2014/main" id="{908FDD0E-6388-C221-0456-D9EB716FE69B}"/>
              </a:ext>
            </a:extLst>
          </p:cNvPr>
          <p:cNvSpPr>
            <a:spLocks noGrp="1"/>
          </p:cNvSpPr>
          <p:nvPr>
            <p:ph idx="1"/>
          </p:nvPr>
        </p:nvSpPr>
        <p:spPr>
          <a:xfrm>
            <a:off x="563671" y="939452"/>
            <a:ext cx="11273425" cy="5799552"/>
          </a:xfrm>
        </p:spPr>
        <p:txBody>
          <a:bodyPr>
            <a:normAutofit/>
          </a:bodyPr>
          <a:lstStyle/>
          <a:p>
            <a:r>
              <a:rPr lang="en-US" sz="2400" b="1" i="0" u="none" strike="noStrike" baseline="0" dirty="0">
                <a:solidFill>
                  <a:srgbClr val="FF0000"/>
                </a:solidFill>
                <a:latin typeface="Bookman Old Style" panose="02050604050505020204" pitchFamily="18" charset="0"/>
              </a:rPr>
              <a:t>Dealing with Unstructured data: </a:t>
            </a:r>
          </a:p>
          <a:p>
            <a:r>
              <a:rPr lang="en-US" sz="2400" b="1" i="0" u="none" strike="noStrike" baseline="0" dirty="0">
                <a:solidFill>
                  <a:srgbClr val="000000"/>
                </a:solidFill>
                <a:latin typeface="Bookman Old Style" panose="02050604050505020204" pitchFamily="18" charset="0"/>
              </a:rPr>
              <a:t>Data Mining: </a:t>
            </a:r>
            <a:r>
              <a:rPr lang="en-US" sz="2400" b="0" i="0" u="none" strike="noStrike" baseline="0" dirty="0">
                <a:solidFill>
                  <a:srgbClr val="000000"/>
                </a:solidFill>
                <a:latin typeface="Bookman Old Style" panose="02050604050505020204" pitchFamily="18" charset="0"/>
              </a:rPr>
              <a:t>Knowledge discovery in databases, popular Mining algorithms are Association rule mining, Regression Analysis, and Collaborative filtering </a:t>
            </a:r>
          </a:p>
          <a:p>
            <a:r>
              <a:rPr lang="en-US" sz="2400" b="1" i="0" u="none" strike="noStrike" baseline="0" dirty="0">
                <a:solidFill>
                  <a:srgbClr val="000000"/>
                </a:solidFill>
                <a:latin typeface="Bookman Old Style" panose="02050604050505020204" pitchFamily="18" charset="0"/>
              </a:rPr>
              <a:t>Natural Language Processing: </a:t>
            </a:r>
            <a:r>
              <a:rPr lang="en-US" sz="2400" b="0" i="0" u="none" strike="noStrike" baseline="0" dirty="0">
                <a:solidFill>
                  <a:srgbClr val="000000"/>
                </a:solidFill>
                <a:latin typeface="Bookman Old Style" panose="02050604050505020204" pitchFamily="18" charset="0"/>
              </a:rPr>
              <a:t>It is related to HCI. It is about enabling computers to understand human or natural language input. </a:t>
            </a:r>
          </a:p>
          <a:p>
            <a:r>
              <a:rPr lang="en-US" sz="2400" b="1" i="0" u="none" strike="noStrike" baseline="0" dirty="0">
                <a:solidFill>
                  <a:srgbClr val="000000"/>
                </a:solidFill>
                <a:latin typeface="Bookman Old Style" panose="02050604050505020204" pitchFamily="18" charset="0"/>
              </a:rPr>
              <a:t>Text Analytics: </a:t>
            </a:r>
            <a:r>
              <a:rPr lang="en-US" sz="2400" b="0" i="0" u="none" strike="noStrike" baseline="0" dirty="0">
                <a:solidFill>
                  <a:srgbClr val="000000"/>
                </a:solidFill>
                <a:latin typeface="Bookman Old Style" panose="02050604050505020204" pitchFamily="18" charset="0"/>
              </a:rPr>
              <a:t>Text mining is the process of gleaning high quality and meaningful information from text. It includes tasks such as text categorization, text clustering, sentiment analysis and concept/entity extraction. </a:t>
            </a:r>
          </a:p>
          <a:p>
            <a:r>
              <a:rPr lang="en-US" sz="2400" b="1" i="0" u="none" strike="noStrike" baseline="0" dirty="0">
                <a:solidFill>
                  <a:srgbClr val="000000"/>
                </a:solidFill>
                <a:latin typeface="Bookman Old Style" panose="02050604050505020204" pitchFamily="18" charset="0"/>
              </a:rPr>
              <a:t>Noisy text analytics: </a:t>
            </a:r>
            <a:r>
              <a:rPr lang="en-US" sz="2400" b="0" i="0" u="none" strike="noStrike" baseline="0" dirty="0">
                <a:solidFill>
                  <a:srgbClr val="000000"/>
                </a:solidFill>
                <a:latin typeface="Bookman Old Style" panose="02050604050505020204" pitchFamily="18" charset="0"/>
              </a:rPr>
              <a:t>Process of extraction structured or semi-structured from noisy unstructured data such as chats, blogs, wikis, emails, Spelling mistakes, abbreviations, uh, hm, non standard words. </a:t>
            </a:r>
          </a:p>
        </p:txBody>
      </p:sp>
    </p:spTree>
    <p:extLst>
      <p:ext uri="{BB962C8B-B14F-4D97-AF65-F5344CB8AC3E}">
        <p14:creationId xmlns:p14="http://schemas.microsoft.com/office/powerpoint/2010/main" val="807243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E487F-46BF-CFA8-1CA2-D44D4DD2A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7DA0D-2DFC-29DE-7B8E-0B18EA1EF11F}"/>
              </a:ext>
            </a:extLst>
          </p:cNvPr>
          <p:cNvSpPr>
            <a:spLocks noGrp="1"/>
          </p:cNvSpPr>
          <p:nvPr>
            <p:ph type="title"/>
          </p:nvPr>
        </p:nvSpPr>
        <p:spPr>
          <a:xfrm>
            <a:off x="942583" y="214812"/>
            <a:ext cx="10515600" cy="724639"/>
          </a:xfrm>
        </p:spPr>
        <p:txBody>
          <a:bodyPr>
            <a:noAutofit/>
          </a:bodyPr>
          <a:lstStyle/>
          <a:p>
            <a:pPr algn="ctr"/>
            <a:r>
              <a:rPr lang="en-US" sz="3600" b="1" i="0" u="none" strike="noStrike" baseline="0" dirty="0">
                <a:solidFill>
                  <a:srgbClr val="FF0000"/>
                </a:solidFill>
              </a:rPr>
              <a:t>Define Big Data. </a:t>
            </a:r>
            <a:endParaRPr lang="en-US" sz="7200" b="1" dirty="0">
              <a:solidFill>
                <a:srgbClr val="FF0000"/>
              </a:solidFill>
            </a:endParaRPr>
          </a:p>
        </p:txBody>
      </p:sp>
      <p:sp>
        <p:nvSpPr>
          <p:cNvPr id="3" name="Content Placeholder 2">
            <a:extLst>
              <a:ext uri="{FF2B5EF4-FFF2-40B4-BE49-F238E27FC236}">
                <a16:creationId xmlns:a16="http://schemas.microsoft.com/office/drawing/2014/main" id="{7723E531-FC92-B27A-0DEB-999D77475759}"/>
              </a:ext>
            </a:extLst>
          </p:cNvPr>
          <p:cNvSpPr>
            <a:spLocks noGrp="1"/>
          </p:cNvSpPr>
          <p:nvPr>
            <p:ph idx="1"/>
          </p:nvPr>
        </p:nvSpPr>
        <p:spPr>
          <a:xfrm>
            <a:off x="563671" y="1052186"/>
            <a:ext cx="11273425" cy="5591002"/>
          </a:xfrm>
        </p:spPr>
        <p:txBody>
          <a:bodyPr>
            <a:normAutofit/>
          </a:bodyPr>
          <a:lstStyle/>
          <a:p>
            <a:pPr algn="l"/>
            <a:r>
              <a:rPr lang="en-US" b="1" i="0" u="none" strike="noStrike" baseline="0" dirty="0">
                <a:solidFill>
                  <a:srgbClr val="FF0000"/>
                </a:solidFill>
                <a:latin typeface="Times New Roman" panose="02020603050405020304" pitchFamily="18" charset="0"/>
              </a:rPr>
              <a:t>What is Big Data?</a:t>
            </a:r>
          </a:p>
          <a:p>
            <a:pPr algn="just"/>
            <a:r>
              <a:rPr lang="en-US" sz="2400" b="1" i="0" dirty="0">
                <a:solidFill>
                  <a:srgbClr val="222222"/>
                </a:solidFill>
                <a:effectLst/>
                <a:latin typeface="Times New Roman" panose="02020603050405020304" pitchFamily="18" charset="0"/>
                <a:cs typeface="Times New Roman" panose="02020603050405020304" pitchFamily="18" charset="0"/>
              </a:rPr>
              <a:t>Big Data</a:t>
            </a:r>
            <a:r>
              <a:rPr lang="en-US" sz="2400" b="0" i="0" dirty="0">
                <a:solidFill>
                  <a:srgbClr val="222222"/>
                </a:solidFill>
                <a:effectLst/>
                <a:latin typeface="Times New Roman" panose="02020603050405020304" pitchFamily="18" charset="0"/>
                <a:cs typeface="Times New Roman" panose="02020603050405020304" pitchFamily="18" charset="0"/>
              </a:rPr>
              <a:t> is a collection of data that is huge in volume, yet growing exponentially with time. It is a data with so large size and complexity that none of traditional data management tools can store it or process it efficiently. Big data is also a data but with huge size.</a:t>
            </a:r>
            <a:endParaRPr lang="en-US" sz="2400" b="0" i="0" u="none" strike="noStrike" baseline="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Big data is not merely a data, rather it has become a complete subject, which involves various tools, techniques and frameworks.</a:t>
            </a:r>
          </a:p>
        </p:txBody>
      </p:sp>
    </p:spTree>
    <p:extLst>
      <p:ext uri="{BB962C8B-B14F-4D97-AF65-F5344CB8AC3E}">
        <p14:creationId xmlns:p14="http://schemas.microsoft.com/office/powerpoint/2010/main" val="47226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545B8-A319-BA2E-9932-0BFCB8D48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C42A4-5094-361D-E509-C91A30F124E0}"/>
              </a:ext>
            </a:extLst>
          </p:cNvPr>
          <p:cNvSpPr>
            <a:spLocks noGrp="1"/>
          </p:cNvSpPr>
          <p:nvPr>
            <p:ph type="title"/>
          </p:nvPr>
        </p:nvSpPr>
        <p:spPr>
          <a:xfrm>
            <a:off x="942583" y="214812"/>
            <a:ext cx="10515600" cy="724639"/>
          </a:xfrm>
        </p:spPr>
        <p:txBody>
          <a:bodyPr>
            <a:noAutofit/>
          </a:bodyPr>
          <a:lstStyle/>
          <a:p>
            <a:r>
              <a:rPr lang="en-US" sz="3600" b="1" i="0" u="none" strike="noStrike" baseline="0" dirty="0">
                <a:solidFill>
                  <a:srgbClr val="FF0000"/>
                </a:solidFill>
              </a:rPr>
              <a:t>Cont..</a:t>
            </a:r>
            <a:endParaRPr lang="en-US" sz="7200" b="1" dirty="0">
              <a:solidFill>
                <a:srgbClr val="FF0000"/>
              </a:solidFill>
            </a:endParaRPr>
          </a:p>
        </p:txBody>
      </p:sp>
      <p:sp>
        <p:nvSpPr>
          <p:cNvPr id="3" name="Content Placeholder 2">
            <a:extLst>
              <a:ext uri="{FF2B5EF4-FFF2-40B4-BE49-F238E27FC236}">
                <a16:creationId xmlns:a16="http://schemas.microsoft.com/office/drawing/2014/main" id="{F7CCE808-07AA-741F-31B8-8C916836489C}"/>
              </a:ext>
            </a:extLst>
          </p:cNvPr>
          <p:cNvSpPr>
            <a:spLocks noGrp="1"/>
          </p:cNvSpPr>
          <p:nvPr>
            <p:ph idx="1"/>
          </p:nvPr>
        </p:nvSpPr>
        <p:spPr>
          <a:xfrm>
            <a:off x="563671" y="1052186"/>
            <a:ext cx="11273425" cy="5591002"/>
          </a:xfrm>
        </p:spPr>
        <p:txBody>
          <a:bodyPr>
            <a:normAutofit lnSpcReduction="10000"/>
          </a:bodyPr>
          <a:lstStyle/>
          <a:p>
            <a:pPr algn="l"/>
            <a:r>
              <a:rPr lang="en-US" sz="2400" b="1" i="0" u="none" strike="noStrike" baseline="0" dirty="0">
                <a:solidFill>
                  <a:srgbClr val="FF0000"/>
                </a:solidFill>
                <a:latin typeface="Times New Roman" panose="02020603050405020304" pitchFamily="18" charset="0"/>
              </a:rPr>
              <a:t>What Comes Under Big Data?</a:t>
            </a:r>
          </a:p>
          <a:p>
            <a:pPr algn="l"/>
            <a:r>
              <a:rPr lang="en-US" sz="2400" b="0" i="0" u="none" strike="noStrike" baseline="0" dirty="0">
                <a:latin typeface="Times New Roman" panose="02020603050405020304" pitchFamily="18" charset="0"/>
              </a:rPr>
              <a:t>Big data involves the data produced by different devices and applications. Given below are some of the fields that come under the umbrella of Big Data.</a:t>
            </a:r>
          </a:p>
          <a:p>
            <a:pPr algn="l"/>
            <a:r>
              <a:rPr lang="en-US" sz="2400" b="1" i="0" u="none" strike="noStrike" baseline="0" dirty="0">
                <a:latin typeface="Times New Roman" panose="02020603050405020304" pitchFamily="18" charset="0"/>
              </a:rPr>
              <a:t>Black Box Data</a:t>
            </a:r>
            <a:r>
              <a:rPr lang="en-US" sz="2400" b="0" i="0" u="none" strike="noStrike" baseline="0" dirty="0">
                <a:latin typeface="Times New Roman" panose="02020603050405020304" pitchFamily="18" charset="0"/>
              </a:rPr>
              <a:t>: It is a component of helicopter, airplanes, and jets, etc. It captures voices of the flight crew, recordings of microphones and earphones, and the performance information of the aircraft.</a:t>
            </a:r>
          </a:p>
          <a:p>
            <a:pPr algn="l"/>
            <a:r>
              <a:rPr lang="en-US" sz="2400" b="1" i="0" u="none" strike="noStrike" baseline="0" dirty="0">
                <a:latin typeface="Times New Roman" panose="02020603050405020304" pitchFamily="18" charset="0"/>
              </a:rPr>
              <a:t>Social Media Data</a:t>
            </a:r>
            <a:r>
              <a:rPr lang="en-US" sz="2400" b="0" i="0" u="none" strike="noStrike" baseline="0" dirty="0">
                <a:latin typeface="Times New Roman" panose="02020603050405020304" pitchFamily="18" charset="0"/>
              </a:rPr>
              <a:t>: Social media such as Facebook and Twitter hold information and the views posted by millions of people across the globe.</a:t>
            </a:r>
          </a:p>
          <a:p>
            <a:pPr algn="l"/>
            <a:r>
              <a:rPr lang="en-US" sz="2400" b="1" i="0" u="none" strike="noStrike" baseline="0" dirty="0">
                <a:latin typeface="Times New Roman" panose="02020603050405020304" pitchFamily="18" charset="0"/>
              </a:rPr>
              <a:t>Stock Exchange Data</a:t>
            </a:r>
            <a:r>
              <a:rPr lang="en-US" sz="2400" b="0" i="0" u="none" strike="noStrike" baseline="0" dirty="0">
                <a:latin typeface="Times New Roman" panose="02020603050405020304" pitchFamily="18" charset="0"/>
              </a:rPr>
              <a:t>: </a:t>
            </a:r>
            <a:r>
              <a:rPr lang="en-US" sz="2400" b="0" i="0" u="none" strike="noStrike" baseline="0" dirty="0">
                <a:latin typeface="TimesNewRomanPSMT"/>
              </a:rPr>
              <a:t>The stock exchange data holds information about the ‘buy’ and ‘sell’ </a:t>
            </a:r>
            <a:r>
              <a:rPr lang="en-US" sz="2400" b="0" i="0" u="none" strike="noStrike" baseline="0" dirty="0">
                <a:latin typeface="Times New Roman" panose="02020603050405020304" pitchFamily="18" charset="0"/>
              </a:rPr>
              <a:t>decisions made on a share of different companies made by the customers.</a:t>
            </a:r>
          </a:p>
          <a:p>
            <a:pPr algn="l"/>
            <a:r>
              <a:rPr lang="en-US" sz="2400" b="1" i="0" u="none" strike="noStrike" baseline="0" dirty="0">
                <a:latin typeface="Times New Roman" panose="02020603050405020304" pitchFamily="18" charset="0"/>
              </a:rPr>
              <a:t>Power Grid Data</a:t>
            </a:r>
            <a:r>
              <a:rPr lang="en-US" sz="2400" b="0" i="0" u="none" strike="noStrike" baseline="0" dirty="0">
                <a:latin typeface="Times New Roman" panose="02020603050405020304" pitchFamily="18" charset="0"/>
              </a:rPr>
              <a:t>: The power grid data holds information consumed by a particular node with respect to a base station.</a:t>
            </a:r>
          </a:p>
          <a:p>
            <a:pPr algn="l"/>
            <a:r>
              <a:rPr lang="en-US" sz="2400" b="1" i="0" u="none" strike="noStrike" baseline="0" dirty="0">
                <a:latin typeface="Times New Roman" panose="02020603050405020304" pitchFamily="18" charset="0"/>
              </a:rPr>
              <a:t>Transport Data</a:t>
            </a:r>
            <a:r>
              <a:rPr lang="en-US" sz="2400" b="0" i="0" u="none" strike="noStrike" baseline="0" dirty="0">
                <a:latin typeface="Times New Roman" panose="02020603050405020304" pitchFamily="18" charset="0"/>
              </a:rPr>
              <a:t>: Transport data includes model, capacity, distance and availability of a vehicle.</a:t>
            </a:r>
          </a:p>
          <a:p>
            <a:pPr algn="l"/>
            <a:r>
              <a:rPr lang="en-US" sz="2400" b="1" i="0" u="none" strike="noStrike" baseline="0" dirty="0">
                <a:latin typeface="Times New Roman" panose="02020603050405020304" pitchFamily="18" charset="0"/>
              </a:rPr>
              <a:t>Search Engine Data</a:t>
            </a:r>
            <a:r>
              <a:rPr lang="en-US" sz="2400" b="0" i="0" u="none" strike="noStrike" baseline="0" dirty="0">
                <a:latin typeface="Times New Roman" panose="02020603050405020304" pitchFamily="18" charset="0"/>
              </a:rPr>
              <a:t>: Search engines retrieve lots of data from different databases.</a:t>
            </a:r>
            <a:endParaRPr lang="en-US" sz="4400" dirty="0"/>
          </a:p>
        </p:txBody>
      </p:sp>
    </p:spTree>
    <p:extLst>
      <p:ext uri="{BB962C8B-B14F-4D97-AF65-F5344CB8AC3E}">
        <p14:creationId xmlns:p14="http://schemas.microsoft.com/office/powerpoint/2010/main" val="2676515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FBD8-D305-8D48-2280-6D4C8DB2A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A6139-5152-CCA3-8120-C81F65D0E841}"/>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latin typeface="Times New Roman" panose="02020603050405020304" pitchFamily="18" charset="0"/>
              </a:rPr>
              <a:t>Benefits of Big Data</a:t>
            </a:r>
          </a:p>
        </p:txBody>
      </p:sp>
      <p:sp>
        <p:nvSpPr>
          <p:cNvPr id="3" name="Content Placeholder 2">
            <a:extLst>
              <a:ext uri="{FF2B5EF4-FFF2-40B4-BE49-F238E27FC236}">
                <a16:creationId xmlns:a16="http://schemas.microsoft.com/office/drawing/2014/main" id="{C4BADCAF-1EF1-B2F4-D5AB-40CBC25D0BF1}"/>
              </a:ext>
            </a:extLst>
          </p:cNvPr>
          <p:cNvSpPr>
            <a:spLocks noGrp="1"/>
          </p:cNvSpPr>
          <p:nvPr>
            <p:ph idx="1"/>
          </p:nvPr>
        </p:nvSpPr>
        <p:spPr>
          <a:xfrm>
            <a:off x="563671" y="1052186"/>
            <a:ext cx="11273425" cy="5591002"/>
          </a:xfrm>
        </p:spPr>
        <p:txBody>
          <a:bodyPr>
            <a:normAutofit/>
          </a:bodyPr>
          <a:lstStyle/>
          <a:p>
            <a:pPr algn="l"/>
            <a:r>
              <a:rPr lang="en-US" sz="2400" b="0" i="0" u="none" strike="noStrike" baseline="0" dirty="0">
                <a:latin typeface="Times New Roman" panose="02020603050405020304" pitchFamily="18" charset="0"/>
                <a:cs typeface="Times New Roman" panose="02020603050405020304" pitchFamily="18" charset="0"/>
              </a:rPr>
              <a:t>Big data is really critical to our life and its emerging as one of the most important technologies in modern world. Follow are just few benefits which are very much known to all of us:</a:t>
            </a:r>
          </a:p>
          <a:p>
            <a:pPr algn="l"/>
            <a:r>
              <a:rPr lang="en-US" sz="2400" b="0" i="0" u="none" strike="noStrike" baseline="0" dirty="0">
                <a:latin typeface="Times New Roman" panose="02020603050405020304" pitchFamily="18" charset="0"/>
                <a:cs typeface="Times New Roman" panose="02020603050405020304" pitchFamily="18" charset="0"/>
              </a:rPr>
              <a:t>Using the information kept in the social network like Facebook, the marketing agencies are learning about the response for their campaigns, promotions, and other advertising mediums.</a:t>
            </a:r>
          </a:p>
          <a:p>
            <a:pPr algn="l"/>
            <a:r>
              <a:rPr lang="en-US" sz="2400" b="0" i="0" u="none" strike="noStrike" baseline="0" dirty="0">
                <a:latin typeface="Times New Roman" panose="02020603050405020304" pitchFamily="18" charset="0"/>
                <a:cs typeface="Times New Roman" panose="02020603050405020304" pitchFamily="18" charset="0"/>
              </a:rPr>
              <a:t>Using the information in the social media like preferences and product perception of their</a:t>
            </a:r>
            <a:r>
              <a:rPr lang="en-US"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consumers, product companies and retail organizations are planning their production.</a:t>
            </a:r>
          </a:p>
          <a:p>
            <a:pPr algn="l"/>
            <a:r>
              <a:rPr lang="en-US" sz="2400" b="0" i="0" u="none" strike="noStrike" baseline="0" dirty="0">
                <a:latin typeface="Times New Roman" panose="02020603050405020304" pitchFamily="18" charset="0"/>
                <a:cs typeface="Times New Roman" panose="02020603050405020304" pitchFamily="18" charset="0"/>
              </a:rPr>
              <a:t>Using the data regarding the previous medical history of patients, hospitals are providing better and quick service.</a:t>
            </a:r>
            <a:endParaRPr lang="en-US" sz="5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Traditional customer feedback systems are getting replaced by new systems designed with Big Data technologies. In these new systems, Big Data and natural language processing technologies are being used to read and evaluate consumer responses.</a:t>
            </a:r>
          </a:p>
        </p:txBody>
      </p:sp>
    </p:spTree>
    <p:extLst>
      <p:ext uri="{BB962C8B-B14F-4D97-AF65-F5344CB8AC3E}">
        <p14:creationId xmlns:p14="http://schemas.microsoft.com/office/powerpoint/2010/main" val="1844545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C6CE6-01B9-5CFA-BE2B-31A5C08F6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3D708-63E6-27D3-35B7-6AF459F4C658}"/>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latin typeface="Times New Roman" panose="02020603050405020304" pitchFamily="18" charset="0"/>
              </a:rPr>
              <a:t>What is an Example of Big Data? </a:t>
            </a:r>
          </a:p>
        </p:txBody>
      </p:sp>
      <p:sp>
        <p:nvSpPr>
          <p:cNvPr id="3" name="Content Placeholder 2">
            <a:extLst>
              <a:ext uri="{FF2B5EF4-FFF2-40B4-BE49-F238E27FC236}">
                <a16:creationId xmlns:a16="http://schemas.microsoft.com/office/drawing/2014/main" id="{E51D1657-568B-37E1-E4E5-4660451C1ADF}"/>
              </a:ext>
            </a:extLst>
          </p:cNvPr>
          <p:cNvSpPr>
            <a:spLocks noGrp="1"/>
          </p:cNvSpPr>
          <p:nvPr>
            <p:ph idx="1"/>
          </p:nvPr>
        </p:nvSpPr>
        <p:spPr>
          <a:xfrm>
            <a:off x="563671" y="1052186"/>
            <a:ext cx="7573164" cy="5591002"/>
          </a:xfrm>
        </p:spPr>
        <p:txBody>
          <a:bodyPr>
            <a:normAutofit/>
          </a:bodyPr>
          <a:lstStyle/>
          <a:p>
            <a:pPr algn="just"/>
            <a:r>
              <a:rPr lang="en-US" sz="2400" b="0" i="0" dirty="0">
                <a:solidFill>
                  <a:srgbClr val="222222"/>
                </a:solidFill>
                <a:effectLst/>
                <a:latin typeface="Times New Roman" panose="02020603050405020304" pitchFamily="18" charset="0"/>
                <a:cs typeface="Times New Roman" panose="02020603050405020304" pitchFamily="18" charset="0"/>
              </a:rPr>
              <a:t>The </a:t>
            </a:r>
            <a:r>
              <a:rPr lang="en-US" sz="2400" b="0" i="0" dirty="0">
                <a:solidFill>
                  <a:srgbClr val="FF0000"/>
                </a:solidFill>
                <a:effectLst/>
                <a:latin typeface="Times New Roman" panose="02020603050405020304" pitchFamily="18" charset="0"/>
                <a:cs typeface="Times New Roman" panose="02020603050405020304" pitchFamily="18" charset="0"/>
              </a:rPr>
              <a:t>New York Stock Exchange </a:t>
            </a:r>
            <a:r>
              <a:rPr lang="en-US" sz="2400" b="0" i="0" dirty="0">
                <a:solidFill>
                  <a:srgbClr val="222222"/>
                </a:solidFill>
                <a:effectLst/>
                <a:latin typeface="Times New Roman" panose="02020603050405020304" pitchFamily="18" charset="0"/>
                <a:cs typeface="Times New Roman" panose="02020603050405020304" pitchFamily="18" charset="0"/>
              </a:rPr>
              <a:t>is an example of Big Data that generates about one terabyte of new trade data per day.</a:t>
            </a:r>
          </a:p>
          <a:p>
            <a:pPr algn="just"/>
            <a:r>
              <a:rPr lang="en-US" sz="2400" b="1" dirty="0">
                <a:latin typeface="Times New Roman" panose="02020603050405020304" pitchFamily="18" charset="0"/>
                <a:cs typeface="Times New Roman" panose="02020603050405020304" pitchFamily="18" charset="0"/>
              </a:rPr>
              <a:t>Social Media</a:t>
            </a:r>
            <a:r>
              <a:rPr lang="en-US" sz="2400" dirty="0">
                <a:latin typeface="Times New Roman" panose="02020603050405020304" pitchFamily="18" charset="0"/>
                <a:cs typeface="Times New Roman" panose="02020603050405020304" pitchFamily="18" charset="0"/>
              </a:rPr>
              <a:t>: The statistic shows that 500+terabytes of new data get ingested into the databases of social media site Facebook, every day. This data is mainly generated in terms of photo and video uploads, message exchanges, putting comments etc.</a:t>
            </a:r>
          </a:p>
          <a:p>
            <a:pPr algn="just"/>
            <a:r>
              <a:rPr lang="en-US" sz="2400" dirty="0">
                <a:latin typeface="Times New Roman" panose="02020603050405020304" pitchFamily="18" charset="0"/>
                <a:cs typeface="Times New Roman" panose="02020603050405020304" pitchFamily="18" charset="0"/>
              </a:rPr>
              <a:t>A single Jet engine can generate 10+terabytes of data in 30 minutes of flight time. With many thousand flights per day, generation of data reaches up to many Petabytes.</a:t>
            </a:r>
          </a:p>
        </p:txBody>
      </p:sp>
      <p:pic>
        <p:nvPicPr>
          <p:cNvPr id="5" name="Picture 4">
            <a:extLst>
              <a:ext uri="{FF2B5EF4-FFF2-40B4-BE49-F238E27FC236}">
                <a16:creationId xmlns:a16="http://schemas.microsoft.com/office/drawing/2014/main" id="{06E40E1D-BDD9-C991-459D-79801EE54C39}"/>
              </a:ext>
            </a:extLst>
          </p:cNvPr>
          <p:cNvPicPr>
            <a:picLocks noChangeAspect="1"/>
          </p:cNvPicPr>
          <p:nvPr/>
        </p:nvPicPr>
        <p:blipFill>
          <a:blip r:embed="rId2"/>
          <a:stretch>
            <a:fillRect/>
          </a:stretch>
        </p:blipFill>
        <p:spPr>
          <a:xfrm>
            <a:off x="8258674" y="356291"/>
            <a:ext cx="3721291" cy="2048823"/>
          </a:xfrm>
          <a:prstGeom prst="rect">
            <a:avLst/>
          </a:prstGeom>
        </p:spPr>
      </p:pic>
      <p:pic>
        <p:nvPicPr>
          <p:cNvPr id="7" name="Picture 6">
            <a:extLst>
              <a:ext uri="{FF2B5EF4-FFF2-40B4-BE49-F238E27FC236}">
                <a16:creationId xmlns:a16="http://schemas.microsoft.com/office/drawing/2014/main" id="{5752C52F-B3D7-8249-B1F9-7A2AEC5770D5}"/>
              </a:ext>
            </a:extLst>
          </p:cNvPr>
          <p:cNvPicPr>
            <a:picLocks noChangeAspect="1"/>
          </p:cNvPicPr>
          <p:nvPr/>
        </p:nvPicPr>
        <p:blipFill>
          <a:blip r:embed="rId3"/>
          <a:stretch>
            <a:fillRect/>
          </a:stretch>
        </p:blipFill>
        <p:spPr>
          <a:xfrm>
            <a:off x="8573151" y="2808152"/>
            <a:ext cx="2883048" cy="1644735"/>
          </a:xfrm>
          <a:prstGeom prst="rect">
            <a:avLst/>
          </a:prstGeom>
        </p:spPr>
      </p:pic>
      <p:pic>
        <p:nvPicPr>
          <p:cNvPr id="9" name="Picture 8">
            <a:extLst>
              <a:ext uri="{FF2B5EF4-FFF2-40B4-BE49-F238E27FC236}">
                <a16:creationId xmlns:a16="http://schemas.microsoft.com/office/drawing/2014/main" id="{9244072A-7C17-7554-5846-B7738D81599E}"/>
              </a:ext>
            </a:extLst>
          </p:cNvPr>
          <p:cNvPicPr>
            <a:picLocks noChangeAspect="1"/>
          </p:cNvPicPr>
          <p:nvPr/>
        </p:nvPicPr>
        <p:blipFill>
          <a:blip r:embed="rId4"/>
          <a:stretch>
            <a:fillRect/>
          </a:stretch>
        </p:blipFill>
        <p:spPr>
          <a:xfrm>
            <a:off x="7595072" y="4947651"/>
            <a:ext cx="3124361" cy="1695537"/>
          </a:xfrm>
          <a:prstGeom prst="rect">
            <a:avLst/>
          </a:prstGeom>
        </p:spPr>
      </p:pic>
    </p:spTree>
    <p:extLst>
      <p:ext uri="{BB962C8B-B14F-4D97-AF65-F5344CB8AC3E}">
        <p14:creationId xmlns:p14="http://schemas.microsoft.com/office/powerpoint/2010/main" val="896376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3A8A-2BC3-9D0D-CB22-12F3163EC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ACE0F-D4E2-5916-7AD0-84F220BEBC42}"/>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Characteristics of Big Data</a:t>
            </a:r>
            <a:endParaRPr lang="en-US" sz="3200" b="1" i="0" u="none" strike="noStrike" baseline="0" dirty="0">
              <a:solidFill>
                <a:srgbClr val="FF0000"/>
              </a:solidFill>
              <a:latin typeface="Times New Roman" panose="02020603050405020304" pitchFamily="18" charset="0"/>
            </a:endParaRPr>
          </a:p>
        </p:txBody>
      </p:sp>
      <p:pic>
        <p:nvPicPr>
          <p:cNvPr id="5" name="Content Placeholder 4">
            <a:extLst>
              <a:ext uri="{FF2B5EF4-FFF2-40B4-BE49-F238E27FC236}">
                <a16:creationId xmlns:a16="http://schemas.microsoft.com/office/drawing/2014/main" id="{BEF67980-C36B-DFAF-4868-DDB1B3AF0969}"/>
              </a:ext>
            </a:extLst>
          </p:cNvPr>
          <p:cNvPicPr>
            <a:picLocks noGrp="1" noChangeAspect="1"/>
          </p:cNvPicPr>
          <p:nvPr>
            <p:ph idx="1"/>
          </p:nvPr>
        </p:nvPicPr>
        <p:blipFill>
          <a:blip r:embed="rId2"/>
          <a:stretch>
            <a:fillRect/>
          </a:stretch>
        </p:blipFill>
        <p:spPr>
          <a:xfrm>
            <a:off x="789709" y="1054107"/>
            <a:ext cx="10266217" cy="5589081"/>
          </a:xfrm>
        </p:spPr>
      </p:pic>
    </p:spTree>
    <p:extLst>
      <p:ext uri="{BB962C8B-B14F-4D97-AF65-F5344CB8AC3E}">
        <p14:creationId xmlns:p14="http://schemas.microsoft.com/office/powerpoint/2010/main" val="677906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E2BC5-D19C-F73D-8ABF-8969D1703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E472E-14DF-8CD0-432C-6A8D7450E266}"/>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Cont..</a:t>
            </a:r>
            <a:endParaRPr lang="en-US" sz="3200" b="1" i="0" u="none" strike="noStrike" baseline="0" dirty="0">
              <a:solidFill>
                <a:srgbClr val="FF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E83E9ABE-DA19-76FB-373C-881771AEF8EB}"/>
              </a:ext>
            </a:extLst>
          </p:cNvPr>
          <p:cNvSpPr>
            <a:spLocks noGrp="1"/>
          </p:cNvSpPr>
          <p:nvPr>
            <p:ph idx="1"/>
          </p:nvPr>
        </p:nvSpPr>
        <p:spPr>
          <a:xfrm>
            <a:off x="563671" y="1052186"/>
            <a:ext cx="11273425" cy="5591002"/>
          </a:xfrm>
        </p:spPr>
        <p:txBody>
          <a:bodyPr>
            <a:normAutofit/>
          </a:bodyPr>
          <a:lstStyle/>
          <a:p>
            <a:pPr marL="0" indent="0">
              <a:buNone/>
            </a:pPr>
            <a:r>
              <a:rPr lang="en-US" sz="1800" b="0" i="0" u="none" strike="noStrike" baseline="0" dirty="0">
                <a:solidFill>
                  <a:srgbClr val="000000"/>
                </a:solidFill>
                <a:latin typeface="Bookman Old Style" panose="02050604050505020204" pitchFamily="18" charset="0"/>
              </a:rPr>
              <a:t>1. </a:t>
            </a:r>
            <a:r>
              <a:rPr lang="en-US" sz="1800" b="1" i="0" u="none" strike="noStrike" baseline="0" dirty="0">
                <a:solidFill>
                  <a:srgbClr val="000000"/>
                </a:solidFill>
                <a:latin typeface="Bookman Old Style" panose="02050604050505020204" pitchFamily="18" charset="0"/>
              </a:rPr>
              <a:t>Volume: </a:t>
            </a:r>
            <a:r>
              <a:rPr lang="en-US" sz="1800" b="0" i="0" u="none" strike="noStrike" baseline="0" dirty="0">
                <a:solidFill>
                  <a:srgbClr val="000000"/>
                </a:solidFill>
                <a:latin typeface="Bookman Old Style" panose="02050604050505020204" pitchFamily="18" charset="0"/>
              </a:rPr>
              <a:t>It refers to the amount of the data. The size of the data is being increased from Bits to Yottabytes. </a:t>
            </a:r>
          </a:p>
          <a:p>
            <a:r>
              <a:rPr lang="en-US" sz="1800" b="0" i="0" u="none" strike="noStrike" baseline="0" dirty="0">
                <a:solidFill>
                  <a:srgbClr val="000000"/>
                </a:solidFill>
                <a:latin typeface="Bookman Old Style" panose="02050604050505020204" pitchFamily="18" charset="0"/>
              </a:rPr>
              <a:t>Bits-&gt; Bytes-&gt; KBs-&gt; MBs-&gt; GBs-&gt; TBs-&gt; PBs-&gt; Exabytes-&gt; Zettabytes-&gt; Yottabytes </a:t>
            </a:r>
          </a:p>
          <a:p>
            <a:r>
              <a:rPr lang="en-US" sz="1800" b="0" i="0" u="none" strike="noStrike" baseline="0" dirty="0">
                <a:solidFill>
                  <a:srgbClr val="000000"/>
                </a:solidFill>
                <a:latin typeface="Bookman Old Style" panose="02050604050505020204" pitchFamily="18" charset="0"/>
              </a:rPr>
              <a:t>There are different sources of data like doc, pdf, YouTube, a chat conversation on internet messenger, a customer feedback form on an online retail website, CCTV coverage and weather forecast. </a:t>
            </a:r>
          </a:p>
          <a:p>
            <a:r>
              <a:rPr lang="en-US" sz="1800" b="1" i="0" u="none" strike="noStrike" baseline="0" dirty="0">
                <a:solidFill>
                  <a:srgbClr val="FF0000"/>
                </a:solidFill>
                <a:latin typeface="Bookman Old Style" panose="02050604050505020204" pitchFamily="18" charset="0"/>
              </a:rPr>
              <a:t>The sources of Big data: </a:t>
            </a:r>
          </a:p>
          <a:p>
            <a:pPr marL="0" indent="0">
              <a:buNone/>
            </a:pPr>
            <a:r>
              <a:rPr lang="en-US" sz="1800" b="0" i="0" u="none" strike="noStrike" baseline="0" dirty="0">
                <a:solidFill>
                  <a:srgbClr val="000000"/>
                </a:solidFill>
                <a:latin typeface="Bookman Old Style" panose="02050604050505020204" pitchFamily="18" charset="0"/>
              </a:rPr>
              <a:t>1. Typical internal data sources: data present within an organization’s firewall. </a:t>
            </a:r>
          </a:p>
          <a:p>
            <a:r>
              <a:rPr lang="en-US" sz="1800" b="0" i="0" u="none" strike="noStrike" baseline="0" dirty="0">
                <a:solidFill>
                  <a:srgbClr val="000000"/>
                </a:solidFill>
                <a:latin typeface="Bookman Old Style" panose="02050604050505020204" pitchFamily="18" charset="0"/>
              </a:rPr>
              <a:t>Data storage: File systems, SQL (RDBMSs- oracle, MS SQL server, DB2, MySQL, PostgreSQL etc.) NoSQL, (</a:t>
            </a:r>
            <a:r>
              <a:rPr lang="en-US" sz="1800" b="0" i="0" u="none" strike="noStrike" baseline="0" dirty="0" err="1">
                <a:solidFill>
                  <a:srgbClr val="000000"/>
                </a:solidFill>
                <a:latin typeface="Bookman Old Style" panose="02050604050505020204" pitchFamily="18" charset="0"/>
              </a:rPr>
              <a:t>MangoDB</a:t>
            </a:r>
            <a:r>
              <a:rPr lang="en-US" sz="1800" b="0" i="0" u="none" strike="noStrike" baseline="0" dirty="0">
                <a:solidFill>
                  <a:srgbClr val="000000"/>
                </a:solidFill>
                <a:latin typeface="Bookman Old Style" panose="02050604050505020204" pitchFamily="18" charset="0"/>
              </a:rPr>
              <a:t>, Cassandra </a:t>
            </a:r>
            <a:r>
              <a:rPr lang="en-US" sz="1800" b="0" i="0" u="none" strike="noStrike" baseline="0" dirty="0" err="1">
                <a:solidFill>
                  <a:srgbClr val="000000"/>
                </a:solidFill>
                <a:latin typeface="Bookman Old Style" panose="02050604050505020204" pitchFamily="18" charset="0"/>
              </a:rPr>
              <a:t>etc</a:t>
            </a:r>
            <a:r>
              <a:rPr lang="en-US" sz="1800" b="0" i="0" u="none" strike="noStrike" baseline="0" dirty="0">
                <a:solidFill>
                  <a:srgbClr val="000000"/>
                </a:solidFill>
                <a:latin typeface="Bookman Old Style" panose="02050604050505020204" pitchFamily="18" charset="0"/>
              </a:rPr>
              <a:t>) and so on. </a:t>
            </a:r>
          </a:p>
          <a:p>
            <a:r>
              <a:rPr lang="en-US" sz="1800" b="0" i="0" u="none" strike="noStrike" baseline="0" dirty="0">
                <a:solidFill>
                  <a:srgbClr val="000000"/>
                </a:solidFill>
                <a:latin typeface="Bookman Old Style" panose="02050604050505020204" pitchFamily="18" charset="0"/>
              </a:rPr>
              <a:t>Archives: Archives of scanned documents, paper archives, customer correspondence records, patient’s health records, student’s admission records, student’s assessment records, and so on. </a:t>
            </a:r>
          </a:p>
          <a:p>
            <a:pPr marL="0" indent="0">
              <a:buNone/>
            </a:pPr>
            <a:r>
              <a:rPr lang="en-US" sz="1800" b="0" i="0" u="none" strike="noStrike" baseline="0" dirty="0">
                <a:solidFill>
                  <a:srgbClr val="000000"/>
                </a:solidFill>
                <a:latin typeface="Bookman Old Style" panose="02050604050505020204" pitchFamily="18" charset="0"/>
              </a:rPr>
              <a:t>2. External data sources: data residing outside an organization’s Firewall.  </a:t>
            </a:r>
          </a:p>
          <a:p>
            <a:r>
              <a:rPr lang="en-US" sz="1800" b="0" i="0" u="none" strike="noStrike" baseline="0" dirty="0">
                <a:solidFill>
                  <a:srgbClr val="000000"/>
                </a:solidFill>
                <a:latin typeface="Bookman Old Style" panose="02050604050505020204" pitchFamily="18" charset="0"/>
              </a:rPr>
              <a:t>Public web: Wikipedia, regulatory, compliance, weather, census etc., </a:t>
            </a:r>
          </a:p>
          <a:p>
            <a:pPr marL="0" indent="0">
              <a:buNone/>
            </a:pPr>
            <a:r>
              <a:rPr lang="en-US" sz="1800" b="0" i="0" u="none" strike="noStrike" baseline="0" dirty="0">
                <a:solidFill>
                  <a:srgbClr val="000000"/>
                </a:solidFill>
                <a:latin typeface="Bookman Old Style" panose="02050604050505020204" pitchFamily="18" charset="0"/>
              </a:rPr>
              <a:t>3. Both (internal + external sources) </a:t>
            </a:r>
          </a:p>
          <a:p>
            <a:r>
              <a:rPr lang="en-US" sz="1800" b="0" i="0" u="none" strike="noStrike" baseline="0" dirty="0">
                <a:solidFill>
                  <a:srgbClr val="000000"/>
                </a:solidFill>
                <a:latin typeface="Bookman Old Style" panose="02050604050505020204" pitchFamily="18" charset="0"/>
              </a:rPr>
              <a:t>Sensor data, machine log data, social media, business apps, media and docs.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019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84FAE-DDD9-45AE-FB37-4A74D837C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476D9-8881-CCD8-8BFB-4606B5C101B2}"/>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Cont..</a:t>
            </a:r>
            <a:endParaRPr lang="en-US" sz="3200" b="1" i="0" u="none" strike="noStrike" baseline="0" dirty="0">
              <a:solidFill>
                <a:srgbClr val="FF000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B25576B0-D467-27B4-A5BA-F6DD1F646DBB}"/>
              </a:ext>
            </a:extLst>
          </p:cNvPr>
          <p:cNvSpPr>
            <a:spLocks noGrp="1"/>
          </p:cNvSpPr>
          <p:nvPr>
            <p:ph idx="1"/>
          </p:nvPr>
        </p:nvSpPr>
        <p:spPr>
          <a:xfrm>
            <a:off x="563671" y="1052186"/>
            <a:ext cx="11273425" cy="5591002"/>
          </a:xfrm>
        </p:spPr>
        <p:txBody>
          <a:bodyPr>
            <a:normAutofit/>
          </a:bodyPr>
          <a:lstStyle/>
          <a:p>
            <a:pPr marL="0" indent="0">
              <a:buNone/>
            </a:pPr>
            <a:r>
              <a:rPr lang="en-US" sz="2000" b="0" i="0" u="none" strike="noStrike" baseline="0" dirty="0">
                <a:solidFill>
                  <a:srgbClr val="000000"/>
                </a:solidFill>
                <a:latin typeface="Bookman Old Style" panose="02050604050505020204" pitchFamily="18" charset="0"/>
              </a:rPr>
              <a:t>2. </a:t>
            </a:r>
            <a:r>
              <a:rPr lang="en-US" sz="2000" b="1" i="0" u="none" strike="noStrike" baseline="0" dirty="0">
                <a:solidFill>
                  <a:srgbClr val="000000"/>
                </a:solidFill>
                <a:latin typeface="Bookman Old Style" panose="02050604050505020204" pitchFamily="18" charset="0"/>
              </a:rPr>
              <a:t>Variety: </a:t>
            </a:r>
            <a:r>
              <a:rPr lang="en-US" sz="2000" b="0" i="0" u="none" strike="noStrike" baseline="0" dirty="0">
                <a:solidFill>
                  <a:srgbClr val="000000"/>
                </a:solidFill>
                <a:latin typeface="Bookman Old Style" panose="02050604050505020204" pitchFamily="18" charset="0"/>
              </a:rPr>
              <a:t>Variety deals with the wide range of data types and sources of data. Structured, semi-structured and Unstructured. </a:t>
            </a:r>
          </a:p>
          <a:p>
            <a:r>
              <a:rPr lang="en-US" sz="2000" b="0" i="0" u="none" strike="noStrike" baseline="0" dirty="0">
                <a:solidFill>
                  <a:srgbClr val="000000"/>
                </a:solidFill>
                <a:latin typeface="Bookman Old Style" panose="02050604050505020204" pitchFamily="18" charset="0"/>
              </a:rPr>
              <a:t>Structured data: From traditional transaction processing systems and RDBMS, etc. </a:t>
            </a:r>
          </a:p>
          <a:p>
            <a:r>
              <a:rPr lang="en-US" sz="2000" b="0" i="0" u="none" strike="noStrike" baseline="0" dirty="0">
                <a:solidFill>
                  <a:srgbClr val="000000"/>
                </a:solidFill>
                <a:latin typeface="Bookman Old Style" panose="02050604050505020204" pitchFamily="18" charset="0"/>
              </a:rPr>
              <a:t>Semi-structured data: For example, Hypertext Markup Language (HTML), Extensible Markup Language (XML). </a:t>
            </a:r>
          </a:p>
          <a:p>
            <a:r>
              <a:rPr lang="en-US" sz="2000" b="0" i="0" u="none" strike="noStrike" baseline="0" dirty="0">
                <a:solidFill>
                  <a:srgbClr val="000000"/>
                </a:solidFill>
                <a:latin typeface="Bookman Old Style" panose="02050604050505020204" pitchFamily="18" charset="0"/>
              </a:rPr>
              <a:t>Unstructured data: For example, unstructured text documents, audios, videos, emails, photos, PDFs , social media, etc. </a:t>
            </a:r>
          </a:p>
          <a:p>
            <a:pPr marL="0" indent="0">
              <a:buNone/>
            </a:pPr>
            <a:r>
              <a:rPr lang="en-US" sz="2000" b="0" i="0" u="none" strike="noStrike" baseline="0" dirty="0">
                <a:solidFill>
                  <a:srgbClr val="000000"/>
                </a:solidFill>
                <a:latin typeface="Bookman Old Style" panose="02050604050505020204" pitchFamily="18" charset="0"/>
              </a:rPr>
              <a:t>3. </a:t>
            </a:r>
            <a:r>
              <a:rPr lang="en-US" sz="2000" b="1" i="0" u="none" strike="noStrike" baseline="0" dirty="0">
                <a:solidFill>
                  <a:srgbClr val="000000"/>
                </a:solidFill>
                <a:latin typeface="Bookman Old Style" panose="02050604050505020204" pitchFamily="18" charset="0"/>
              </a:rPr>
              <a:t>Velocity: </a:t>
            </a:r>
            <a:r>
              <a:rPr lang="en-US" sz="2000" b="0" i="0" u="none" strike="noStrike" baseline="0" dirty="0">
                <a:solidFill>
                  <a:srgbClr val="000000"/>
                </a:solidFill>
                <a:latin typeface="Bookman Old Style" panose="02050604050505020204" pitchFamily="18" charset="0"/>
              </a:rPr>
              <a:t>It refers to the speed of data processing. we have moved from the days of batch processing to Real-time processing. </a:t>
            </a:r>
          </a:p>
          <a:p>
            <a:pPr marL="0" indent="0">
              <a:buNone/>
            </a:pPr>
            <a:r>
              <a:rPr lang="en-US" sz="2000" b="0" i="0" u="none" strike="noStrike" baseline="0" dirty="0">
                <a:solidFill>
                  <a:srgbClr val="000000"/>
                </a:solidFill>
                <a:latin typeface="Bookman Old Style" panose="02050604050505020204" pitchFamily="18" charset="0"/>
              </a:rPr>
              <a:t>4. </a:t>
            </a:r>
            <a:r>
              <a:rPr lang="en-US" sz="2000" b="1" i="0" u="none" strike="noStrike" baseline="0" dirty="0">
                <a:solidFill>
                  <a:srgbClr val="000000"/>
                </a:solidFill>
                <a:latin typeface="Bookman Old Style" panose="02050604050505020204" pitchFamily="18" charset="0"/>
              </a:rPr>
              <a:t>Veracity: </a:t>
            </a:r>
            <a:r>
              <a:rPr lang="en-US" sz="2000" b="0" i="0" u="none" strike="noStrike" baseline="0" dirty="0">
                <a:solidFill>
                  <a:srgbClr val="000000"/>
                </a:solidFill>
                <a:latin typeface="Bookman Old Style" panose="02050604050505020204" pitchFamily="18" charset="0"/>
              </a:rPr>
              <a:t>Veracity refers to biases, noise and abnormality in data. The key question is “Is all the data that is being stored, mined and analyzed meaningful and relevant to the problem under consideration”.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2715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56FC-2738-5A1E-0A4C-CBAA642D8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B3F73-4C4B-8FF3-D517-025593117BBB}"/>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Data Reliability &amp; Validity, Problem Solving with Analytics</a:t>
            </a:r>
            <a:br>
              <a:rPr lang="en-US" sz="3200" b="1" i="0" u="none" strike="noStrike" baseline="0" dirty="0">
                <a:solidFill>
                  <a:srgbClr val="FF0000"/>
                </a:solidFill>
              </a:rPr>
            </a:br>
            <a:r>
              <a:rPr lang="en-US" sz="3200" b="1" i="0" u="none" strike="noStrike" baseline="0" dirty="0">
                <a:solidFill>
                  <a:srgbClr val="00B050"/>
                </a:solidFill>
              </a:rPr>
              <a:t>Data Quality and The Analytical Mindset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9AB0D8AF-3A23-0A0D-EAE7-F1A3910DF530}"/>
              </a:ext>
            </a:extLst>
          </p:cNvPr>
          <p:cNvSpPr>
            <a:spLocks noGrp="1"/>
          </p:cNvSpPr>
          <p:nvPr>
            <p:ph idx="1"/>
          </p:nvPr>
        </p:nvSpPr>
        <p:spPr>
          <a:xfrm>
            <a:off x="563671" y="1244600"/>
            <a:ext cx="11273425" cy="5398588"/>
          </a:xfrm>
        </p:spPr>
        <p:txBody>
          <a:bodyPr>
            <a:normAutofit/>
          </a:bodyPr>
          <a:lstStyle/>
          <a:p>
            <a:pPr>
              <a:buFont typeface="Arial" panose="020B0604020202020204" pitchFamily="34" charset="0"/>
              <a:buChar char="•"/>
            </a:pPr>
            <a:r>
              <a:rPr lang="en-US" b="1" dirty="0"/>
              <a:t>Data Reliability:</a:t>
            </a:r>
            <a:r>
              <a:rPr lang="en-US" dirty="0"/>
              <a:t> The consistency and stability of data collection. Does the measurement tool produce the same result under the same conditions?</a:t>
            </a:r>
          </a:p>
          <a:p>
            <a:pPr>
              <a:buFont typeface="Arial" panose="020B0604020202020204" pitchFamily="34" charset="0"/>
              <a:buChar char="•"/>
            </a:pPr>
            <a:r>
              <a:rPr lang="en-US" b="1" dirty="0"/>
              <a:t>Data Validity:</a:t>
            </a:r>
            <a:r>
              <a:rPr lang="en-US" dirty="0"/>
              <a:t> The accuracy of the measurement. Does the data </a:t>
            </a:r>
            <a:r>
              <a:rPr lang="en-US" i="1" dirty="0"/>
              <a:t>actually</a:t>
            </a:r>
            <a:r>
              <a:rPr lang="en-US" dirty="0"/>
              <a:t> measure what it is intended to measure?</a:t>
            </a:r>
          </a:p>
          <a:p>
            <a:pPr>
              <a:buFont typeface="Arial" panose="020B0604020202020204" pitchFamily="34" charset="0"/>
              <a:buChar char="•"/>
            </a:pPr>
            <a:r>
              <a:rPr lang="en-US" b="1" dirty="0"/>
              <a:t>Problem Solving with Analytics:</a:t>
            </a:r>
            <a:r>
              <a:rPr lang="en-US" dirty="0"/>
              <a:t> Framework for defining the business problem, quantifying it with data, applying models, and implementing solutions.</a:t>
            </a:r>
          </a:p>
          <a:p>
            <a:pPr>
              <a:buFont typeface="Arial" panose="020B0604020202020204" pitchFamily="34" charset="0"/>
              <a:buChar char="•"/>
            </a:pPr>
            <a:r>
              <a:rPr lang="en-US" b="1" dirty="0"/>
              <a:t>GIGO:</a:t>
            </a:r>
            <a:r>
              <a:rPr lang="en-US" dirty="0"/>
              <a:t> Garbage In, Garbage Out. Low reliability/validity leads to flawed insights and poor decisions.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8635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FCDDF-9D1F-6EB9-88C7-BE001CE5E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A9239-9B4C-8B73-1851-9705570B3E67}"/>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Data Reliability &amp; Validity, Problem Solving with Analytics</a:t>
            </a:r>
            <a:br>
              <a:rPr lang="en-US" sz="3200" b="1" i="0" u="none" strike="noStrike" baseline="0" dirty="0">
                <a:solidFill>
                  <a:srgbClr val="FF0000"/>
                </a:solidFill>
              </a:rPr>
            </a:br>
            <a:r>
              <a:rPr lang="en-US" sz="3200" b="1" i="0" u="none" strike="noStrike" baseline="0" dirty="0">
                <a:solidFill>
                  <a:srgbClr val="00B050"/>
                </a:solidFill>
              </a:rPr>
              <a:t>Data Quality and The Analytical Mindset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73367595-B530-576A-8616-07BFB805703E}"/>
              </a:ext>
            </a:extLst>
          </p:cNvPr>
          <p:cNvSpPr>
            <a:spLocks noGrp="1"/>
          </p:cNvSpPr>
          <p:nvPr>
            <p:ph idx="1"/>
          </p:nvPr>
        </p:nvSpPr>
        <p:spPr>
          <a:xfrm>
            <a:off x="563671" y="1231900"/>
            <a:ext cx="11273425" cy="5411288"/>
          </a:xfrm>
        </p:spPr>
        <p:txBody>
          <a:bodyPr>
            <a:norm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Reliable but Invalid: </a:t>
            </a:r>
            <a:r>
              <a:rPr lang="en-US" dirty="0">
                <a:latin typeface="Times New Roman" panose="02020603050405020304" pitchFamily="18" charset="0"/>
                <a:cs typeface="Times New Roman" panose="02020603050405020304" pitchFamily="18" charset="0"/>
              </a:rPr>
              <a:t>The scale always shows the same wrong number (e.g., 5 </a:t>
            </a:r>
            <a:r>
              <a:rPr lang="en-US" dirty="0" err="1">
                <a:latin typeface="Times New Roman" panose="02020603050405020304" pitchFamily="18" charset="0"/>
                <a:cs typeface="Times New Roman" panose="02020603050405020304" pitchFamily="18" charset="0"/>
              </a:rPr>
              <a:t>lbs</a:t>
            </a:r>
            <a:r>
              <a:rPr lang="en-US" dirty="0">
                <a:latin typeface="Times New Roman" panose="02020603050405020304" pitchFamily="18" charset="0"/>
                <a:cs typeface="Times New Roman" panose="02020603050405020304" pitchFamily="18" charset="0"/>
              </a:rPr>
              <a:t> too high every time). It's consistent (reliable), but not accurate (invalid)—so your "progress" looks fake.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Neither Reliable nor Valid</a:t>
            </a:r>
            <a:r>
              <a:rPr lang="en-US" dirty="0">
                <a:latin typeface="Times New Roman" panose="02020603050405020304" pitchFamily="18" charset="0"/>
                <a:cs typeface="Times New Roman" panose="02020603050405020304" pitchFamily="18" charset="0"/>
              </a:rPr>
              <a:t>: It spits out random numbers each weigh-in (e.g., 150 one day, 120 the next). Totally useless for tracking.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 Need Both</a:t>
            </a:r>
            <a:r>
              <a:rPr lang="en-US" dirty="0">
                <a:latin typeface="Times New Roman" panose="02020603050405020304" pitchFamily="18" charset="0"/>
                <a:cs typeface="Times New Roman" panose="02020603050405020304" pitchFamily="18" charset="0"/>
              </a:rPr>
              <a:t>: For solid analytics or BI decisions, data must be consistent and accurate—otherwise, your insights (like sales forecasts) are off-base.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Super helpful for avoiding </a:t>
            </a:r>
            <a:r>
              <a:rPr lang="en-US" dirty="0">
                <a:solidFill>
                  <a:srgbClr val="FF0000"/>
                </a:solidFill>
                <a:latin typeface="Times New Roman" panose="02020603050405020304" pitchFamily="18" charset="0"/>
                <a:cs typeface="Times New Roman" panose="02020603050405020304" pitchFamily="18" charset="0"/>
              </a:rPr>
              <a:t>"garbage in, garbage out," </a:t>
            </a:r>
          </a:p>
          <a:p>
            <a:r>
              <a:rPr lang="en-US" b="1" dirty="0">
                <a:solidFill>
                  <a:srgbClr val="00B050"/>
                </a:solidFill>
              </a:rPr>
              <a:t>Analytics</a:t>
            </a:r>
            <a:r>
              <a:rPr lang="en-US" dirty="0"/>
              <a:t> is not just technical; it's a </a:t>
            </a:r>
            <a:r>
              <a:rPr lang="en-US" b="1" dirty="0"/>
              <a:t>structured problem-solving approach</a:t>
            </a:r>
            <a:r>
              <a:rPr lang="en-US" dirty="0"/>
              <a:t>. It mandates that we clearly state the business objective before diving into data (e.g., "We need to reduce customer churn by 10%," not "Let's look at the customer data").</a:t>
            </a:r>
          </a:p>
        </p:txBody>
      </p:sp>
    </p:spTree>
    <p:extLst>
      <p:ext uri="{BB962C8B-B14F-4D97-AF65-F5344CB8AC3E}">
        <p14:creationId xmlns:p14="http://schemas.microsoft.com/office/powerpoint/2010/main" val="1684562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36FB4-D309-7CE8-7D7C-FEFE7AC79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460DC-652B-7CA4-97AC-CAE35EFAC56B}"/>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How is traditional BI environment different from Big data environment?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33536061-022D-63FF-C836-CA6FAECF48AF}"/>
              </a:ext>
            </a:extLst>
          </p:cNvPr>
          <p:cNvSpPr>
            <a:spLocks noGrp="1"/>
          </p:cNvSpPr>
          <p:nvPr>
            <p:ph idx="1"/>
          </p:nvPr>
        </p:nvSpPr>
        <p:spPr>
          <a:xfrm>
            <a:off x="563671" y="1231900"/>
            <a:ext cx="11273425" cy="5411288"/>
          </a:xfrm>
        </p:spPr>
        <p:txBody>
          <a:bodyPr>
            <a:normAutofit/>
          </a:bodyPr>
          <a:lstStyle/>
          <a:p>
            <a:pPr marL="0" indent="0">
              <a:buNone/>
            </a:pPr>
            <a:r>
              <a:rPr lang="en-US" dirty="0"/>
              <a:t>   </a:t>
            </a:r>
          </a:p>
        </p:txBody>
      </p:sp>
      <p:graphicFrame>
        <p:nvGraphicFramePr>
          <p:cNvPr id="5" name="Table 4">
            <a:extLst>
              <a:ext uri="{FF2B5EF4-FFF2-40B4-BE49-F238E27FC236}">
                <a16:creationId xmlns:a16="http://schemas.microsoft.com/office/drawing/2014/main" id="{C9C88F15-25E0-F66B-3966-CB21BDF6415F}"/>
              </a:ext>
            </a:extLst>
          </p:cNvPr>
          <p:cNvGraphicFramePr>
            <a:graphicFrameLocks noGrp="1"/>
          </p:cNvGraphicFramePr>
          <p:nvPr>
            <p:extLst>
              <p:ext uri="{D42A27DB-BD31-4B8C-83A1-F6EECF244321}">
                <p14:modId xmlns:p14="http://schemas.microsoft.com/office/powerpoint/2010/main" val="2703118125"/>
              </p:ext>
            </p:extLst>
          </p:nvPr>
        </p:nvGraphicFramePr>
        <p:xfrm>
          <a:off x="663181" y="1663117"/>
          <a:ext cx="10795002" cy="4548853"/>
        </p:xfrm>
        <a:graphic>
          <a:graphicData uri="http://schemas.openxmlformats.org/drawingml/2006/table">
            <a:tbl>
              <a:tblPr firstRow="1" bandRow="1">
                <a:tableStyleId>{5940675A-B579-460E-94D1-54222C63F5DA}</a:tableStyleId>
              </a:tblPr>
              <a:tblGrid>
                <a:gridCol w="4950219">
                  <a:extLst>
                    <a:ext uri="{9D8B030D-6E8A-4147-A177-3AD203B41FA5}">
                      <a16:colId xmlns:a16="http://schemas.microsoft.com/office/drawing/2014/main" val="3172171618"/>
                    </a:ext>
                  </a:extLst>
                </a:gridCol>
                <a:gridCol w="5844783">
                  <a:extLst>
                    <a:ext uri="{9D8B030D-6E8A-4147-A177-3AD203B41FA5}">
                      <a16:colId xmlns:a16="http://schemas.microsoft.com/office/drawing/2014/main" val="1039928306"/>
                    </a:ext>
                  </a:extLst>
                </a:gridCol>
              </a:tblGrid>
              <a:tr h="504618">
                <a:tc>
                  <a:txBody>
                    <a:bodyPr/>
                    <a:lstStyle/>
                    <a:p>
                      <a:r>
                        <a:rPr lang="fr-FR" sz="2800" b="1" i="0" u="none" strike="noStrike" baseline="0" dirty="0" err="1">
                          <a:solidFill>
                            <a:srgbClr val="000000"/>
                          </a:solidFill>
                          <a:latin typeface="Times New Roman" panose="02020603050405020304" pitchFamily="18" charset="0"/>
                          <a:cs typeface="Times New Roman" panose="02020603050405020304" pitchFamily="18" charset="0"/>
                        </a:rPr>
                        <a:t>Traditional</a:t>
                      </a:r>
                      <a:r>
                        <a:rPr lang="fr-FR" sz="2800" b="1" i="0" u="none" strike="noStrike" baseline="0" dirty="0">
                          <a:solidFill>
                            <a:srgbClr val="000000"/>
                          </a:solidFill>
                          <a:latin typeface="Times New Roman" panose="02020603050405020304" pitchFamily="18" charset="0"/>
                          <a:cs typeface="Times New Roman" panose="02020603050405020304" pitchFamily="18" charset="0"/>
                        </a:rPr>
                        <a:t> BI </a:t>
                      </a:r>
                      <a:r>
                        <a:rPr lang="fr-FR" sz="2800" b="1" i="0" u="none" strike="noStrike" baseline="0" dirty="0" err="1">
                          <a:solidFill>
                            <a:srgbClr val="000000"/>
                          </a:solidFill>
                          <a:latin typeface="Times New Roman" panose="02020603050405020304" pitchFamily="18" charset="0"/>
                          <a:cs typeface="Times New Roman" panose="02020603050405020304" pitchFamily="18" charset="0"/>
                        </a:rPr>
                        <a:t>Environment</a:t>
                      </a:r>
                      <a:r>
                        <a:rPr lang="fr-FR" sz="2800" b="1"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tc>
                  <a:txBody>
                    <a:bodyPr/>
                    <a:lstStyle/>
                    <a:p>
                      <a:r>
                        <a:rPr lang="fr-FR" sz="2800" b="1" i="0" u="none" strike="noStrike" baseline="0" dirty="0">
                          <a:solidFill>
                            <a:srgbClr val="000000"/>
                          </a:solidFill>
                          <a:latin typeface="Times New Roman" panose="02020603050405020304" pitchFamily="18" charset="0"/>
                          <a:cs typeface="Times New Roman" panose="02020603050405020304" pitchFamily="18" charset="0"/>
                        </a:rPr>
                        <a:t>Big Data </a:t>
                      </a:r>
                      <a:r>
                        <a:rPr lang="fr-FR" sz="2800" b="1" i="0" u="none" strike="noStrike" baseline="0" dirty="0" err="1">
                          <a:solidFill>
                            <a:srgbClr val="000000"/>
                          </a:solidFill>
                          <a:latin typeface="Times New Roman" panose="02020603050405020304" pitchFamily="18" charset="0"/>
                          <a:cs typeface="Times New Roman" panose="02020603050405020304" pitchFamily="18" charset="0"/>
                        </a:rPr>
                        <a:t>Environment</a:t>
                      </a:r>
                      <a:r>
                        <a:rPr lang="fr-FR" sz="2800" b="1"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350037"/>
                  </a:ext>
                </a:extLst>
              </a:tr>
              <a:tr h="920186">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Data is stored in central server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Data is stored in a distributed file system</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11382613"/>
                  </a:ext>
                </a:extLst>
              </a:tr>
              <a:tr h="920186">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Server scales vertically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Distributed file system scales by horizontally. </a:t>
                      </a:r>
                      <a:endParaRPr lang="en-US"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6001415"/>
                  </a:ext>
                </a:extLst>
              </a:tr>
              <a:tr h="805179">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Analyzes offline or historic data </a:t>
                      </a:r>
                      <a:endParaRPr lang="en-US" sz="2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Analyzes real or streaming data</a:t>
                      </a:r>
                    </a:p>
                  </a:txBody>
                  <a:tcPr/>
                </a:tc>
                <a:extLst>
                  <a:ext uri="{0D108BD9-81ED-4DB2-BD59-A6C34878D82A}">
                    <a16:rowId xmlns:a16="http://schemas.microsoft.com/office/drawing/2014/main" val="3281082025"/>
                  </a:ext>
                </a:extLst>
              </a:tr>
              <a:tr h="1335754">
                <a:tc>
                  <a:txBody>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Supports Structured data only </a:t>
                      </a:r>
                      <a:endParaRPr lang="en-US" sz="2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Supports variety of data </a:t>
                      </a:r>
                      <a:r>
                        <a:rPr lang="en-US" sz="2800" b="0" i="0" u="none" strike="noStrike" baseline="0" dirty="0" err="1">
                          <a:solidFill>
                            <a:srgbClr val="000000"/>
                          </a:solidFill>
                          <a:latin typeface="Times New Roman" panose="02020603050405020304" pitchFamily="18" charset="0"/>
                          <a:cs typeface="Times New Roman" panose="02020603050405020304" pitchFamily="18" charset="0"/>
                        </a:rPr>
                        <a:t>ie</a:t>
                      </a:r>
                      <a:r>
                        <a:rPr lang="en-US" sz="2800" b="0" i="0" u="none" strike="noStrike" baseline="0" dirty="0">
                          <a:solidFill>
                            <a:srgbClr val="000000"/>
                          </a:solidFill>
                          <a:latin typeface="Times New Roman" panose="02020603050405020304" pitchFamily="18" charset="0"/>
                          <a:cs typeface="Times New Roman" panose="02020603050405020304" pitchFamily="18" charset="0"/>
                        </a:rPr>
                        <a:t>; structured, semi-structured and unstructured data.	</a:t>
                      </a:r>
                    </a:p>
                  </a:txBody>
                  <a:tcPr/>
                </a:tc>
                <a:extLst>
                  <a:ext uri="{0D108BD9-81ED-4DB2-BD59-A6C34878D82A}">
                    <a16:rowId xmlns:a16="http://schemas.microsoft.com/office/drawing/2014/main" val="4267268335"/>
                  </a:ext>
                </a:extLst>
              </a:tr>
            </a:tbl>
          </a:graphicData>
        </a:graphic>
      </p:graphicFrame>
    </p:spTree>
    <p:extLst>
      <p:ext uri="{BB962C8B-B14F-4D97-AF65-F5344CB8AC3E}">
        <p14:creationId xmlns:p14="http://schemas.microsoft.com/office/powerpoint/2010/main" val="3617885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6567-A3AB-0EAC-BB29-522017E32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BAF5B-09BB-1685-41F6-C1D4CA4B9225}"/>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F2935497-8B59-CF66-A9A1-E4F951C2120E}"/>
              </a:ext>
            </a:extLst>
          </p:cNvPr>
          <p:cNvSpPr>
            <a:spLocks noGrp="1"/>
          </p:cNvSpPr>
          <p:nvPr>
            <p:ph idx="1"/>
          </p:nvPr>
        </p:nvSpPr>
        <p:spPr>
          <a:xfrm>
            <a:off x="563671" y="1231900"/>
            <a:ext cx="11273425" cy="5411288"/>
          </a:xfrm>
        </p:spPr>
        <p:txBody>
          <a:bodyPr>
            <a:normAutofit fontScale="92500" lnSpcReduction="20000"/>
          </a:bodyPr>
          <a:lstStyle/>
          <a:p>
            <a:pPr>
              <a:buFont typeface="Arial" panose="020B0604020202020204" pitchFamily="34" charset="0"/>
              <a:buChar char="•"/>
            </a:pPr>
            <a:r>
              <a:rPr lang="en-US" dirty="0"/>
              <a:t>This is like a step-by-step guide for using data to solve problems. It has two parts: one for </a:t>
            </a:r>
            <a:r>
              <a:rPr lang="en-US" dirty="0">
                <a:solidFill>
                  <a:srgbClr val="FF0000"/>
                </a:solidFill>
              </a:rPr>
              <a:t>business people </a:t>
            </a:r>
            <a:r>
              <a:rPr lang="en-US" dirty="0"/>
              <a:t>(focusing on goals) and one for </a:t>
            </a:r>
            <a:r>
              <a:rPr lang="en-US" dirty="0">
                <a:solidFill>
                  <a:srgbClr val="FF0000"/>
                </a:solidFill>
              </a:rPr>
              <a:t>data experts</a:t>
            </a:r>
            <a:r>
              <a:rPr lang="en-US" dirty="0"/>
              <a:t> (focusing on the work). They team up to make smart choices.</a:t>
            </a:r>
          </a:p>
          <a:p>
            <a:pPr marL="0" indent="0">
              <a:buNone/>
            </a:pPr>
            <a:r>
              <a:rPr lang="en-US" dirty="0"/>
              <a:t>🔖 </a:t>
            </a:r>
            <a:r>
              <a:rPr lang="en-US" b="1" dirty="0">
                <a:solidFill>
                  <a:srgbClr val="FF0000"/>
                </a:solidFill>
              </a:rPr>
              <a:t>Business Part (The Goal-Setting Steps)</a:t>
            </a:r>
          </a:p>
          <a:p>
            <a:pPr>
              <a:buFont typeface="Arial" panose="020B0604020202020204" pitchFamily="34" charset="0"/>
              <a:buChar char="•"/>
            </a:pPr>
            <a:r>
              <a:rPr lang="en-US" dirty="0"/>
              <a:t>These help decide what to fix and how to check if it worked.</a:t>
            </a:r>
          </a:p>
          <a:p>
            <a:pPr>
              <a:buFont typeface="Arial" panose="020B0604020202020204" pitchFamily="34" charset="0"/>
              <a:buChar char="•"/>
            </a:pPr>
            <a:r>
              <a:rPr lang="en-US" b="1" dirty="0"/>
              <a:t>Framing the Question</a:t>
            </a:r>
            <a:r>
              <a:rPr lang="en-US" dirty="0"/>
              <a:t>: Pick the main business goal and how to measure if it's a win. Example: "How can we sell more? We'll track sales numbers.“</a:t>
            </a:r>
          </a:p>
          <a:p>
            <a:pPr>
              <a:buFont typeface="Arial" panose="020B0604020202020204" pitchFamily="34" charset="0"/>
              <a:buChar char="•"/>
            </a:pPr>
            <a:r>
              <a:rPr lang="en-US" dirty="0"/>
              <a:t>Framing means clearly defining what problem you want to solve, and how you’ll know if you’ve solved it. It’s setting up the question in the right way before you start looking at data.</a:t>
            </a:r>
          </a:p>
          <a:p>
            <a:pPr>
              <a:buFont typeface="Arial" panose="020B0604020202020204" pitchFamily="34" charset="0"/>
              <a:buChar char="•"/>
            </a:pPr>
            <a:r>
              <a:rPr lang="en-US" dirty="0"/>
              <a:t>For example, instead of just saying “Let’s improve sales,” you frame it more specifically: “How can we increase online sales by 10% in the next three months?”  </a:t>
            </a:r>
          </a:p>
          <a:p>
            <a:pPr>
              <a:buFont typeface="Arial" panose="020B0604020202020204" pitchFamily="34" charset="0"/>
              <a:buChar char="•"/>
            </a:pPr>
            <a:r>
              <a:rPr lang="en-US" dirty="0"/>
              <a:t>It’s like choosing your goal and deciding what success looks like—makes the rest of the analysis much easier.</a:t>
            </a:r>
          </a:p>
        </p:txBody>
      </p:sp>
    </p:spTree>
    <p:extLst>
      <p:ext uri="{BB962C8B-B14F-4D97-AF65-F5344CB8AC3E}">
        <p14:creationId xmlns:p14="http://schemas.microsoft.com/office/powerpoint/2010/main" val="813320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930C8-CF7A-0952-A2F4-9B0D83ACA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64ACA-5C0C-2045-7C99-EB2E8D83982E}"/>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9FBA56B7-C053-48F1-D290-73EBC4DAA7CC}"/>
              </a:ext>
            </a:extLst>
          </p:cNvPr>
          <p:cNvSpPr>
            <a:spLocks noGrp="1"/>
          </p:cNvSpPr>
          <p:nvPr>
            <p:ph idx="1"/>
          </p:nvPr>
        </p:nvSpPr>
        <p:spPr>
          <a:xfrm>
            <a:off x="563671" y="1231900"/>
            <a:ext cx="11273425" cy="5411288"/>
          </a:xfrm>
        </p:spPr>
        <p:txBody>
          <a:bodyPr>
            <a:normAutofit/>
          </a:bodyPr>
          <a:lstStyle/>
          <a:p>
            <a:pPr>
              <a:buFont typeface="Arial" panose="020B0604020202020204" pitchFamily="34" charset="0"/>
              <a:buChar char="•"/>
            </a:pPr>
            <a:r>
              <a:rPr lang="en-US" b="1" dirty="0"/>
              <a:t>Hypothesis Generation</a:t>
            </a:r>
            <a:r>
              <a:rPr lang="en-US" dirty="0"/>
              <a:t>: Come up with ideas based on data about why something's wrong or how to fix it. Example: "Maybe customers leave because prices are too high—let's check the data."</a:t>
            </a:r>
          </a:p>
          <a:p>
            <a:pPr>
              <a:buFont typeface="Arial" panose="020B0604020202020204" pitchFamily="34" charset="0"/>
              <a:buChar char="•"/>
            </a:pPr>
            <a:r>
              <a:rPr lang="en-US" b="1" dirty="0"/>
              <a:t>Action &amp; Decision</a:t>
            </a:r>
            <a:r>
              <a:rPr lang="en-US" dirty="0"/>
              <a:t>: Use the data findings to make changes and see if they help. Example: Lower prices, then watch if sales go up.</a:t>
            </a:r>
          </a:p>
        </p:txBody>
      </p:sp>
    </p:spTree>
    <p:extLst>
      <p:ext uri="{BB962C8B-B14F-4D97-AF65-F5344CB8AC3E}">
        <p14:creationId xmlns:p14="http://schemas.microsoft.com/office/powerpoint/2010/main" val="102276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345AA-303C-5BA7-D7A6-6E950F38F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6891F-1455-D1DB-870F-92370E709CA5}"/>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A827BECE-4293-4817-2B0E-887087E525C2}"/>
              </a:ext>
            </a:extLst>
          </p:cNvPr>
          <p:cNvSpPr>
            <a:spLocks noGrp="1"/>
          </p:cNvSpPr>
          <p:nvPr>
            <p:ph idx="1"/>
          </p:nvPr>
        </p:nvSpPr>
        <p:spPr>
          <a:xfrm>
            <a:off x="563671" y="1231900"/>
            <a:ext cx="11273425" cy="5411288"/>
          </a:xfrm>
        </p:spPr>
        <p:txBody>
          <a:bodyPr>
            <a:normAutofit fontScale="92500" lnSpcReduction="20000"/>
          </a:bodyPr>
          <a:lstStyle/>
          <a:p>
            <a:pPr marL="0" indent="0">
              <a:buNone/>
            </a:pPr>
            <a:r>
              <a:rPr lang="en-US" dirty="0">
                <a:solidFill>
                  <a:srgbClr val="FF0000"/>
                </a:solidFill>
              </a:rPr>
              <a:t>🔖 </a:t>
            </a:r>
            <a:r>
              <a:rPr lang="en-US" b="1" dirty="0">
                <a:solidFill>
                  <a:srgbClr val="FF0000"/>
                </a:solidFill>
              </a:rPr>
              <a:t>Data Science Part (The OSEMN Steps)</a:t>
            </a:r>
          </a:p>
          <a:p>
            <a:pPr>
              <a:buFont typeface="Arial" panose="020B0604020202020204" pitchFamily="34" charset="0"/>
              <a:buChar char="•"/>
            </a:pPr>
            <a:r>
              <a:rPr lang="en-US" b="1" dirty="0">
                <a:solidFill>
                  <a:srgbClr val="FF0000"/>
                </a:solidFill>
              </a:rPr>
              <a:t>OSEMN</a:t>
            </a:r>
            <a:r>
              <a:rPr lang="en-US" dirty="0"/>
              <a:t> is a cycle for handling data: Get it, clean it, look at it, build tools with it, and share it. (O = Obtain, S = Scrub, E = Explore, M = Model, N = Narrate.)</a:t>
            </a:r>
          </a:p>
          <a:p>
            <a:pPr>
              <a:buFont typeface="Arial" panose="020B0604020202020204" pitchFamily="34" charset="0"/>
              <a:buChar char="•"/>
            </a:pPr>
            <a:r>
              <a:rPr lang="en-US" b="1" dirty="0"/>
              <a:t>Obtain</a:t>
            </a:r>
            <a:r>
              <a:rPr lang="en-US" dirty="0"/>
              <a:t>: Get the data from places like files, websites, or databases. Example: Pull customer info from a company's records.</a:t>
            </a:r>
          </a:p>
          <a:p>
            <a:pPr>
              <a:buFont typeface="Arial" panose="020B0604020202020204" pitchFamily="34" charset="0"/>
              <a:buChar char="•"/>
            </a:pPr>
            <a:r>
              <a:rPr lang="en-US" b="1" dirty="0"/>
              <a:t>Scrub</a:t>
            </a:r>
            <a:r>
              <a:rPr lang="en-US" dirty="0"/>
              <a:t>: Clean and fix the data so it's neat and ready to use. This means removing junk, fixing mistakes, and mixing different types together. It takes most of the time!</a:t>
            </a:r>
          </a:p>
          <a:p>
            <a:pPr>
              <a:buFont typeface="Arial" panose="020B0604020202020204" pitchFamily="34" charset="0"/>
              <a:buChar char="•"/>
            </a:pPr>
            <a:r>
              <a:rPr lang="en-US" b="1" dirty="0"/>
              <a:t>Explore</a:t>
            </a:r>
            <a:r>
              <a:rPr lang="en-US" dirty="0"/>
              <a:t>: Look closely at the data to find patterns. Use charts and simple math to understand it. Example: "Sales are higher on weekends—why?"</a:t>
            </a:r>
          </a:p>
          <a:p>
            <a:r>
              <a:rPr lang="en-US" b="1" dirty="0"/>
              <a:t>Model</a:t>
            </a:r>
            <a:r>
              <a:rPr lang="en-US" dirty="0"/>
              <a:t>: Building the predictive or prescriptive tool. Create tools or predictions from the data. Example: Build a simple program that guesses future sales.</a:t>
            </a:r>
          </a:p>
          <a:p>
            <a:r>
              <a:rPr lang="en-US" b="1" dirty="0"/>
              <a:t>Narrate</a:t>
            </a:r>
            <a:r>
              <a:rPr lang="en-US" dirty="0"/>
              <a:t>: Communicating results. Tell others what you found in an easy way, like with pictures or reports. Example: Make a colorful chart for bosses to see the key points.</a:t>
            </a:r>
          </a:p>
        </p:txBody>
      </p:sp>
    </p:spTree>
    <p:extLst>
      <p:ext uri="{BB962C8B-B14F-4D97-AF65-F5344CB8AC3E}">
        <p14:creationId xmlns:p14="http://schemas.microsoft.com/office/powerpoint/2010/main" val="2681270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225A-39D3-7D52-A2E5-76EAE3934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224BE-BE7C-266F-FC39-E33F889DD2B3}"/>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Phases of Analytics in the Business and Data Science Domain</a:t>
            </a:r>
            <a:br>
              <a:rPr lang="en-US" sz="3200" b="1" i="0" u="none" strike="noStrike" baseline="0" dirty="0">
                <a:solidFill>
                  <a:srgbClr val="FF0000"/>
                </a:solidFill>
              </a:rPr>
            </a:br>
            <a:r>
              <a:rPr lang="en-US" sz="3200" b="1" i="0" u="none" strike="noStrike" baseline="0" dirty="0">
                <a:solidFill>
                  <a:srgbClr val="FF0000"/>
                </a:solidFill>
              </a:rPr>
              <a:t>📚 </a:t>
            </a:r>
            <a:r>
              <a:rPr lang="en-US" sz="3200" b="1" i="0" u="none" strike="noStrike" baseline="0" dirty="0">
                <a:solidFill>
                  <a:srgbClr val="00B050"/>
                </a:solidFill>
              </a:rPr>
              <a:t>The Data Science Process Pipeline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6705E4AE-1307-F607-9B1D-2D1129B7F750}"/>
              </a:ext>
            </a:extLst>
          </p:cNvPr>
          <p:cNvSpPr>
            <a:spLocks noGrp="1"/>
          </p:cNvSpPr>
          <p:nvPr>
            <p:ph idx="1"/>
          </p:nvPr>
        </p:nvSpPr>
        <p:spPr>
          <a:xfrm>
            <a:off x="563671" y="1231900"/>
            <a:ext cx="11273425" cy="5411288"/>
          </a:xfrm>
        </p:spPr>
        <p:txBody>
          <a:bodyPr>
            <a:normAutofit/>
          </a:bodyPr>
          <a:lstStyle/>
          <a:p>
            <a:pPr algn="just">
              <a:buFont typeface="Arial" panose="020B0604020202020204" pitchFamily="34" charset="0"/>
              <a:buChar char="•"/>
            </a:pPr>
            <a:r>
              <a:rPr lang="en-US" dirty="0"/>
              <a:t>The key? Business sets the goals (the "what"), data folks do the work (the "how"). Together, they turn data into real help for decisions, like in business reports or apps.</a:t>
            </a:r>
          </a:p>
          <a:p>
            <a:pPr algn="just">
              <a:buFont typeface="Arial" panose="020B0604020202020204" pitchFamily="34" charset="0"/>
              <a:buChar char="•"/>
            </a:pPr>
            <a:r>
              <a:rPr lang="en-US" dirty="0"/>
              <a:t>Emphasize the </a:t>
            </a:r>
            <a:r>
              <a:rPr lang="en-US" b="1" dirty="0"/>
              <a:t>Scrub/Preparation</a:t>
            </a:r>
            <a:r>
              <a:rPr lang="en-US" dirty="0"/>
              <a:t> phase, which often takes 70-80% of a data scientist's time: extracting, cleansing, consolidating, and transforming data from diverse, heterogeneous sources (like SQL, NoSQL, and flat files) into a single, usable enterprise data warehouse or structure.</a:t>
            </a:r>
          </a:p>
          <a:p>
            <a:pPr algn="just">
              <a:buFont typeface="Arial" panose="020B0604020202020204" pitchFamily="34" charset="0"/>
              <a:buChar char="•"/>
            </a:pPr>
            <a:r>
              <a:rPr lang="en-US" dirty="0"/>
              <a:t>The </a:t>
            </a:r>
            <a:r>
              <a:rPr lang="en-US" b="1" dirty="0"/>
              <a:t>Narrate</a:t>
            </a:r>
            <a:r>
              <a:rPr lang="en-US" dirty="0"/>
              <a:t> phase is where we build BI portals and visualizations to analyze data, generating information and knowledge for informed decisions.</a:t>
            </a:r>
          </a:p>
          <a:p>
            <a:pPr algn="just">
              <a:buFont typeface="Arial" panose="020B0604020202020204" pitchFamily="34" charset="0"/>
              <a:buChar char="•"/>
            </a:pPr>
            <a:endParaRPr lang="en-US" dirty="0"/>
          </a:p>
        </p:txBody>
      </p:sp>
    </p:spTree>
    <p:extLst>
      <p:ext uri="{BB962C8B-B14F-4D97-AF65-F5344CB8AC3E}">
        <p14:creationId xmlns:p14="http://schemas.microsoft.com/office/powerpoint/2010/main" val="1584637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F52F0-1200-8021-1696-21D501FF0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2D99E-8979-0745-8708-6A4B91CD8EE9}"/>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Descriptive, Predictive, and Prescriptive Analytics</a:t>
            </a:r>
            <a:br>
              <a:rPr lang="en-US" sz="3200" b="1" i="0" u="none" strike="noStrike" baseline="0" dirty="0">
                <a:solidFill>
                  <a:srgbClr val="FF0000"/>
                </a:solidFill>
              </a:rPr>
            </a:br>
            <a:r>
              <a:rPr lang="en-US" sz="3200" b="1" i="0" u="none" strike="noStrike" baseline="0" dirty="0">
                <a:solidFill>
                  <a:srgbClr val="00B050"/>
                </a:solidFill>
              </a:rPr>
              <a:t>The Three Levels of Analytical Insight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66669E4D-9ACC-1110-951F-2B2730875334}"/>
              </a:ext>
            </a:extLst>
          </p:cNvPr>
          <p:cNvSpPr>
            <a:spLocks noGrp="1"/>
          </p:cNvSpPr>
          <p:nvPr>
            <p:ph idx="1"/>
          </p:nvPr>
        </p:nvSpPr>
        <p:spPr>
          <a:xfrm>
            <a:off x="563671" y="1231900"/>
            <a:ext cx="11273425" cy="5411288"/>
          </a:xfrm>
        </p:spPr>
        <p:txBody>
          <a:bodyPr>
            <a:normAutofit/>
          </a:bodyPr>
          <a:lstStyle/>
          <a:p>
            <a:pPr marL="0" indent="0" algn="just">
              <a:buNone/>
            </a:pPr>
            <a:r>
              <a:rPr lang="en-US" b="1" dirty="0"/>
              <a:t>1. Descriptive Analytics (Looking at the Past)</a:t>
            </a:r>
          </a:p>
          <a:p>
            <a:pPr algn="just">
              <a:buFont typeface="Arial" panose="020B0604020202020204" pitchFamily="34" charset="0"/>
              <a:buChar char="•"/>
            </a:pPr>
            <a:r>
              <a:rPr lang="en-US" dirty="0"/>
              <a:t>What happened?</a:t>
            </a:r>
          </a:p>
          <a:p>
            <a:pPr algn="just">
              <a:buFont typeface="Arial" panose="020B0604020202020204" pitchFamily="34" charset="0"/>
              <a:buChar char="•"/>
            </a:pPr>
            <a:r>
              <a:rPr lang="en-US" dirty="0"/>
              <a:t>Uses things like dashboards and reports to show past results.</a:t>
            </a:r>
          </a:p>
          <a:p>
            <a:pPr algn="just">
              <a:buFont typeface="Arial" panose="020B0604020202020204" pitchFamily="34" charset="0"/>
              <a:buChar char="•"/>
            </a:pPr>
            <a:r>
              <a:rPr lang="en-US" dirty="0"/>
              <a:t>Example: Checking last year’s sales numbers or viewing a summary of customer visits.</a:t>
            </a:r>
          </a:p>
          <a:p>
            <a:pPr marL="0" indent="0" algn="just">
              <a:buNone/>
            </a:pPr>
            <a:r>
              <a:rPr lang="en-US" b="1" dirty="0"/>
              <a:t>2. Predictive Analytics (Looking at the Future)</a:t>
            </a:r>
          </a:p>
          <a:p>
            <a:pPr algn="just">
              <a:buFont typeface="Arial" panose="020B0604020202020204" pitchFamily="34" charset="0"/>
              <a:buChar char="•"/>
            </a:pPr>
            <a:r>
              <a:rPr lang="en-US" dirty="0"/>
              <a:t>What will happen?</a:t>
            </a:r>
          </a:p>
          <a:p>
            <a:pPr algn="just">
              <a:buFont typeface="Arial" panose="020B0604020202020204" pitchFamily="34" charset="0"/>
              <a:buChar char="•"/>
            </a:pPr>
            <a:r>
              <a:rPr lang="en-US" dirty="0"/>
              <a:t>Uses math, statistics, and machine learning to guess what might happen next.</a:t>
            </a:r>
          </a:p>
          <a:p>
            <a:pPr algn="just">
              <a:buFont typeface="Arial" panose="020B0604020202020204" pitchFamily="34" charset="0"/>
              <a:buChar char="•"/>
            </a:pPr>
            <a:r>
              <a:rPr lang="en-US" dirty="0"/>
              <a:t>Example: Forecasting next month’s revenue or predicting which customers might leave soon.</a:t>
            </a:r>
          </a:p>
        </p:txBody>
      </p:sp>
    </p:spTree>
    <p:extLst>
      <p:ext uri="{BB962C8B-B14F-4D97-AF65-F5344CB8AC3E}">
        <p14:creationId xmlns:p14="http://schemas.microsoft.com/office/powerpoint/2010/main" val="3904344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9F35-444A-9479-1D39-7D87D1E03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44977-8700-2458-E39F-FD3224711293}"/>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Descriptive, Predictive, and Prescriptive Analytics</a:t>
            </a:r>
            <a:br>
              <a:rPr lang="en-US" sz="3200" b="1" i="0" u="none" strike="noStrike" baseline="0" dirty="0">
                <a:solidFill>
                  <a:srgbClr val="FF0000"/>
                </a:solidFill>
              </a:rPr>
            </a:br>
            <a:r>
              <a:rPr lang="en-US" sz="3200" b="1" i="0" u="none" strike="noStrike" baseline="0" dirty="0">
                <a:solidFill>
                  <a:srgbClr val="00B050"/>
                </a:solidFill>
              </a:rPr>
              <a:t>The Three Levels of Analytical Insight Cont..</a:t>
            </a:r>
            <a:endParaRPr lang="en-US" sz="3200" b="1" i="0" u="none" strike="noStrike" baseline="0" dirty="0">
              <a:solidFill>
                <a:srgbClr val="00B050"/>
              </a:solidFill>
              <a:latin typeface="Times New Roman" panose="02020603050405020304" pitchFamily="18" charset="0"/>
            </a:endParaRPr>
          </a:p>
        </p:txBody>
      </p:sp>
      <p:sp>
        <p:nvSpPr>
          <p:cNvPr id="3" name="Content Placeholder 2">
            <a:extLst>
              <a:ext uri="{FF2B5EF4-FFF2-40B4-BE49-F238E27FC236}">
                <a16:creationId xmlns:a16="http://schemas.microsoft.com/office/drawing/2014/main" id="{53EDAE24-74A1-9010-89B8-95B4AB96648A}"/>
              </a:ext>
            </a:extLst>
          </p:cNvPr>
          <p:cNvSpPr>
            <a:spLocks noGrp="1"/>
          </p:cNvSpPr>
          <p:nvPr>
            <p:ph idx="1"/>
          </p:nvPr>
        </p:nvSpPr>
        <p:spPr>
          <a:xfrm>
            <a:off x="563671" y="1231900"/>
            <a:ext cx="11273425" cy="5537200"/>
          </a:xfrm>
        </p:spPr>
        <p:txBody>
          <a:bodyPr>
            <a:normAutofit/>
          </a:bodyPr>
          <a:lstStyle/>
          <a:p>
            <a:pPr marL="0" indent="0" algn="just">
              <a:buNone/>
            </a:pPr>
            <a:r>
              <a:rPr lang="en-US" b="1" dirty="0"/>
              <a:t>3. Prescriptive Analytics (Taking Action)</a:t>
            </a:r>
          </a:p>
          <a:p>
            <a:pPr marL="0" indent="0" algn="just">
              <a:buNone/>
            </a:pPr>
            <a:r>
              <a:rPr lang="en-US" dirty="0"/>
              <a:t>⦁ What should we do?</a:t>
            </a:r>
          </a:p>
          <a:p>
            <a:pPr marL="0" indent="0" algn="just">
              <a:buNone/>
            </a:pPr>
            <a:r>
              <a:rPr lang="en-US" dirty="0"/>
              <a:t>⦁ Uses smart algorithms to suggest the best actions to take.</a:t>
            </a:r>
          </a:p>
          <a:p>
            <a:pPr marL="0" indent="0" algn="just">
              <a:buNone/>
            </a:pPr>
            <a:r>
              <a:rPr lang="en-US" dirty="0"/>
              <a:t>⦁ Example: Finding the fastest delivery route for a truck, or setting product prices to boost profits.</a:t>
            </a:r>
          </a:p>
          <a:p>
            <a:pPr algn="just">
              <a:buFont typeface="Wingdings" panose="05000000000000000000" pitchFamily="2" charset="2"/>
              <a:buChar char="à"/>
            </a:pPr>
            <a:r>
              <a:rPr lang="en-US" dirty="0"/>
              <a:t>So, first you study the past, then you forecast the future, and finally you decide the best move to make—like having a smart helper for business!</a:t>
            </a:r>
          </a:p>
          <a:p>
            <a:pPr algn="just">
              <a:buFont typeface="Wingdings" panose="05000000000000000000" pitchFamily="2" charset="2"/>
              <a:buChar char="à"/>
            </a:pPr>
            <a:r>
              <a:rPr lang="en-US" dirty="0"/>
              <a:t>All businesses start with Descriptive, but the true competitive advantage comes from mastering Predictive and Prescriptive analytics.</a:t>
            </a:r>
          </a:p>
          <a:p>
            <a:pPr algn="just">
              <a:buFont typeface="Wingdings" panose="05000000000000000000" pitchFamily="2" charset="2"/>
              <a:buChar char="à"/>
            </a:pPr>
            <a:r>
              <a:rPr lang="en-US" b="1" dirty="0"/>
              <a:t>Goal:</a:t>
            </a:r>
            <a:r>
              <a:rPr lang="en-US" dirty="0"/>
              <a:t> The ultimate goal is to reach </a:t>
            </a:r>
            <a:r>
              <a:rPr lang="en-US" b="1" dirty="0"/>
              <a:t>Prescriptive Analytics</a:t>
            </a:r>
            <a:r>
              <a:rPr lang="en-US" dirty="0"/>
              <a:t>—using models to support managerial decision-making and automate the best managerial action.</a:t>
            </a:r>
          </a:p>
        </p:txBody>
      </p:sp>
    </p:spTree>
    <p:extLst>
      <p:ext uri="{BB962C8B-B14F-4D97-AF65-F5344CB8AC3E}">
        <p14:creationId xmlns:p14="http://schemas.microsoft.com/office/powerpoint/2010/main" val="3760392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1F0C6-F64C-BD2F-1285-5D9525CD2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208D6-B0E9-BBE1-0B2C-A452C5BFE1C0}"/>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FF0000"/>
                </a:solidFill>
              </a:rPr>
              <a:t>Descriptive, Predictive, and Prescriptive Analytics</a:t>
            </a:r>
            <a:br>
              <a:rPr lang="en-US" sz="3200" b="1" i="0" u="none" strike="noStrike" baseline="0" dirty="0">
                <a:solidFill>
                  <a:srgbClr val="FF0000"/>
                </a:solidFill>
              </a:rPr>
            </a:br>
            <a:r>
              <a:rPr lang="en-US" sz="3200" b="1" i="0" u="none" strike="noStrike" baseline="0" dirty="0">
                <a:solidFill>
                  <a:srgbClr val="00B050"/>
                </a:solidFill>
              </a:rPr>
              <a:t>The Three Levels of Analytical Insight Cont..</a:t>
            </a:r>
            <a:endParaRPr lang="en-US" sz="3200" b="1" i="0" u="none" strike="noStrike" baseline="0" dirty="0">
              <a:solidFill>
                <a:srgbClr val="00B050"/>
              </a:solidFill>
              <a:latin typeface="Times New Roman" panose="02020603050405020304" pitchFamily="18" charset="0"/>
            </a:endParaRPr>
          </a:p>
        </p:txBody>
      </p:sp>
      <p:pic>
        <p:nvPicPr>
          <p:cNvPr id="5" name="Content Placeholder 4">
            <a:extLst>
              <a:ext uri="{FF2B5EF4-FFF2-40B4-BE49-F238E27FC236}">
                <a16:creationId xmlns:a16="http://schemas.microsoft.com/office/drawing/2014/main" id="{E9592EE2-BF7C-66EA-36A0-E2614F914005}"/>
              </a:ext>
            </a:extLst>
          </p:cNvPr>
          <p:cNvPicPr>
            <a:picLocks noGrp="1" noChangeAspect="1"/>
          </p:cNvPicPr>
          <p:nvPr>
            <p:ph idx="1"/>
          </p:nvPr>
        </p:nvPicPr>
        <p:blipFill>
          <a:blip r:embed="rId2"/>
          <a:stretch>
            <a:fillRect/>
          </a:stretch>
        </p:blipFill>
        <p:spPr>
          <a:xfrm>
            <a:off x="593410" y="1028351"/>
            <a:ext cx="10068253" cy="5703737"/>
          </a:xfrm>
        </p:spPr>
      </p:pic>
    </p:spTree>
    <p:extLst>
      <p:ext uri="{BB962C8B-B14F-4D97-AF65-F5344CB8AC3E}">
        <p14:creationId xmlns:p14="http://schemas.microsoft.com/office/powerpoint/2010/main" val="3482806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AAA12-222E-7D13-C3CA-DA8A384FF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6942D-C446-4D92-CFD6-1E23AAF1EEDF}"/>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Applications and Skills for Business Analytics</a:t>
            </a:r>
          </a:p>
        </p:txBody>
      </p:sp>
      <p:sp>
        <p:nvSpPr>
          <p:cNvPr id="3" name="Content Placeholder 2">
            <a:extLst>
              <a:ext uri="{FF2B5EF4-FFF2-40B4-BE49-F238E27FC236}">
                <a16:creationId xmlns:a16="http://schemas.microsoft.com/office/drawing/2014/main" id="{8EE51696-6A13-8FCD-E4F5-20ED43A4CAD7}"/>
              </a:ext>
            </a:extLst>
          </p:cNvPr>
          <p:cNvSpPr>
            <a:spLocks noGrp="1"/>
          </p:cNvSpPr>
          <p:nvPr>
            <p:ph idx="1"/>
          </p:nvPr>
        </p:nvSpPr>
        <p:spPr>
          <a:xfrm>
            <a:off x="563671" y="1231900"/>
            <a:ext cx="11273425" cy="5537200"/>
          </a:xfrm>
        </p:spPr>
        <p:txBody>
          <a:bodyPr>
            <a:normAutofit/>
          </a:bodyPr>
          <a:lstStyle/>
          <a:p>
            <a:pPr algn="just"/>
            <a:r>
              <a:rPr lang="en-US" b="1" dirty="0">
                <a:solidFill>
                  <a:srgbClr val="FF0000"/>
                </a:solidFill>
              </a:rPr>
              <a:t>Applications:</a:t>
            </a:r>
          </a:p>
          <a:p>
            <a:pPr algn="just">
              <a:buFont typeface="Arial" panose="020B0604020202020204" pitchFamily="34" charset="0"/>
              <a:buChar char="•"/>
            </a:pPr>
            <a:r>
              <a:rPr lang="en-US" b="1" dirty="0"/>
              <a:t>Business Applications:</a:t>
            </a:r>
            <a:r>
              <a:rPr lang="en-US" dirty="0"/>
              <a:t> Fraud detection (Finance), risk modeling, supply chain optimization (Operations), customer segmentation (Marketing).</a:t>
            </a:r>
          </a:p>
          <a:p>
            <a:pPr algn="just">
              <a:buFont typeface="Arial" panose="020B0604020202020204" pitchFamily="34" charset="0"/>
              <a:buChar char="•"/>
            </a:pPr>
            <a:r>
              <a:rPr lang="en-US" b="1" dirty="0"/>
              <a:t>Text Analytics:</a:t>
            </a:r>
            <a:r>
              <a:rPr lang="en-US" dirty="0"/>
              <a:t> Analyzing text data (reviews, emails) for insights like sentiment analysis.</a:t>
            </a:r>
          </a:p>
          <a:p>
            <a:pPr algn="just">
              <a:buFont typeface="Arial" panose="020B0604020202020204" pitchFamily="34" charset="0"/>
              <a:buChar char="•"/>
            </a:pPr>
            <a:r>
              <a:rPr lang="en-US" b="1" dirty="0"/>
              <a:t>Web Analytics:</a:t>
            </a:r>
            <a:r>
              <a:rPr lang="en-US" dirty="0"/>
              <a:t> Measuring user activity on web properties (clicks, bounce rate) for optimization.</a:t>
            </a:r>
          </a:p>
          <a:p>
            <a:pPr algn="just"/>
            <a:r>
              <a:rPr lang="en-US" b="1" dirty="0"/>
              <a:t>Text &amp; Web Mining</a:t>
            </a:r>
            <a:r>
              <a:rPr lang="en-US" dirty="0"/>
              <a:t> (Data Mining) is critical for unstructured data in the Big Data context, providing value from social media or web logs.</a:t>
            </a:r>
          </a:p>
        </p:txBody>
      </p:sp>
    </p:spTree>
    <p:extLst>
      <p:ext uri="{BB962C8B-B14F-4D97-AF65-F5344CB8AC3E}">
        <p14:creationId xmlns:p14="http://schemas.microsoft.com/office/powerpoint/2010/main" val="3777842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7BD8-612A-FF19-D3A3-E9C888644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ED5E3-5A49-E45A-E7D0-3EDFDFD7270D}"/>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Applications and Skills for Business Analytics Cont..</a:t>
            </a:r>
          </a:p>
        </p:txBody>
      </p:sp>
      <p:sp>
        <p:nvSpPr>
          <p:cNvPr id="3" name="Content Placeholder 2">
            <a:extLst>
              <a:ext uri="{FF2B5EF4-FFF2-40B4-BE49-F238E27FC236}">
                <a16:creationId xmlns:a16="http://schemas.microsoft.com/office/drawing/2014/main" id="{70BECD33-C097-7837-C0B5-77EC7720E741}"/>
              </a:ext>
            </a:extLst>
          </p:cNvPr>
          <p:cNvSpPr>
            <a:spLocks noGrp="1"/>
          </p:cNvSpPr>
          <p:nvPr>
            <p:ph idx="1"/>
          </p:nvPr>
        </p:nvSpPr>
        <p:spPr>
          <a:xfrm>
            <a:off x="563671" y="1231900"/>
            <a:ext cx="11273425" cy="5537200"/>
          </a:xfrm>
        </p:spPr>
        <p:txBody>
          <a:bodyPr>
            <a:normAutofit/>
          </a:bodyPr>
          <a:lstStyle/>
          <a:p>
            <a:pPr algn="just">
              <a:buFont typeface="Arial" panose="020B0604020202020204" pitchFamily="34" charset="0"/>
              <a:buChar char="•"/>
            </a:pPr>
            <a:r>
              <a:rPr lang="en-US" b="1" dirty="0">
                <a:solidFill>
                  <a:srgbClr val="FF0000"/>
                </a:solidFill>
              </a:rPr>
              <a:t>Skills for Business Analytics (The Triad):</a:t>
            </a:r>
            <a:endParaRPr lang="en-US" dirty="0">
              <a:solidFill>
                <a:srgbClr val="FF0000"/>
              </a:solidFill>
            </a:endParaRPr>
          </a:p>
          <a:p>
            <a:pPr marL="742950" lvl="1" indent="-285750" algn="just">
              <a:buFont typeface="Arial" panose="020B0604020202020204" pitchFamily="34" charset="0"/>
              <a:buChar char="•"/>
            </a:pPr>
            <a:r>
              <a:rPr lang="en-US" sz="2800" b="1" dirty="0"/>
              <a:t>Business Acumen/Domain Knowledge</a:t>
            </a:r>
            <a:r>
              <a:rPr lang="en-US" sz="2800" dirty="0"/>
              <a:t> (Problem understanding). Simply means understanding how a business works and how it makes money. It’s about seeing the big picture—knowing what helps a company succeed, what customers want, and how to make smart choices for growth.</a:t>
            </a:r>
          </a:p>
          <a:p>
            <a:pPr marL="742950" lvl="1" indent="-285750" algn="just">
              <a:buFont typeface="Arial" panose="020B0604020202020204" pitchFamily="34" charset="0"/>
              <a:buChar char="•"/>
            </a:pPr>
            <a:r>
              <a:rPr lang="en-US" sz="2800" b="1" dirty="0"/>
              <a:t>Math/Statistics</a:t>
            </a:r>
            <a:r>
              <a:rPr lang="en-US" sz="2800" dirty="0"/>
              <a:t> (Model building and testing).</a:t>
            </a:r>
          </a:p>
          <a:p>
            <a:pPr marL="742950" lvl="1" indent="-285750" algn="just">
              <a:buFont typeface="Arial" panose="020B0604020202020204" pitchFamily="34" charset="0"/>
              <a:buChar char="•"/>
            </a:pPr>
            <a:r>
              <a:rPr lang="en-US" sz="2800" b="1" dirty="0"/>
              <a:t>Computer Science/Programming</a:t>
            </a:r>
            <a:r>
              <a:rPr lang="en-US" sz="2800" dirty="0"/>
              <a:t> (Data manipulation and tool usage).</a:t>
            </a:r>
          </a:p>
          <a:p>
            <a:pPr>
              <a:buFont typeface="Arial" panose="020B0604020202020204" pitchFamily="34" charset="0"/>
              <a:buChar char="•"/>
            </a:pPr>
            <a:r>
              <a:rPr lang="en-US" dirty="0"/>
              <a:t>The required skills are not isolated. Data professionals need to be T-shaped: deep in one area (e.g., programming, machine learning) but broad across others (statistics, communication, and business context). This hybrid approach allows managers to formulate and solve business problems effectively.</a:t>
            </a:r>
          </a:p>
        </p:txBody>
      </p:sp>
    </p:spTree>
    <p:extLst>
      <p:ext uri="{BB962C8B-B14F-4D97-AF65-F5344CB8AC3E}">
        <p14:creationId xmlns:p14="http://schemas.microsoft.com/office/powerpoint/2010/main" val="1256078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90702-0A41-F91E-5E90-EFFCA71A8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61CEC-673A-EA41-90C5-3CDAB42BF82E}"/>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Concepts of Data Science and Required Basic Skills</a:t>
            </a:r>
            <a:br>
              <a:rPr lang="en-US" sz="3200" b="1" i="0" u="none" strike="noStrike" baseline="0" dirty="0">
                <a:solidFill>
                  <a:srgbClr val="00B050"/>
                </a:solidFill>
                <a:latin typeface="Times New Roman" panose="02020603050405020304" pitchFamily="18" charset="0"/>
              </a:rPr>
            </a:br>
            <a:r>
              <a:rPr lang="en-US" sz="3200" i="0" u="none" strike="noStrike" baseline="0" dirty="0">
                <a:solidFill>
                  <a:srgbClr val="FF0000"/>
                </a:solidFill>
                <a:latin typeface="Times New Roman" panose="02020603050405020304" pitchFamily="18" charset="0"/>
              </a:rPr>
              <a:t>Defining the Data Scientist</a:t>
            </a:r>
          </a:p>
        </p:txBody>
      </p:sp>
      <p:sp>
        <p:nvSpPr>
          <p:cNvPr id="3" name="Content Placeholder 2">
            <a:extLst>
              <a:ext uri="{FF2B5EF4-FFF2-40B4-BE49-F238E27FC236}">
                <a16:creationId xmlns:a16="http://schemas.microsoft.com/office/drawing/2014/main" id="{114E60EB-50E2-0997-BA1F-524BDE7D1D51}"/>
              </a:ext>
            </a:extLst>
          </p:cNvPr>
          <p:cNvSpPr>
            <a:spLocks noGrp="1"/>
          </p:cNvSpPr>
          <p:nvPr>
            <p:ph idx="1"/>
          </p:nvPr>
        </p:nvSpPr>
        <p:spPr>
          <a:xfrm>
            <a:off x="563671" y="1231900"/>
            <a:ext cx="11273425" cy="5537200"/>
          </a:xfrm>
        </p:spPr>
        <p:txBody>
          <a:bodyPr>
            <a:normAutofit/>
          </a:bodyPr>
          <a:lstStyle/>
          <a:p>
            <a:pPr>
              <a:buFont typeface="Arial" panose="020B0604020202020204" pitchFamily="34" charset="0"/>
              <a:buChar char="•"/>
            </a:pPr>
            <a:r>
              <a:rPr lang="en-US" b="1" dirty="0"/>
              <a:t>Concepts of Data Science:</a:t>
            </a:r>
            <a:r>
              <a:rPr lang="en-US" dirty="0"/>
              <a:t> An interdisciplinary field combining statistics, computer science, and domain expertise to extract knowledge and insights from data.</a:t>
            </a:r>
          </a:p>
          <a:p>
            <a:pPr>
              <a:buFont typeface="Arial" panose="020B0604020202020204" pitchFamily="34" charset="0"/>
              <a:buChar char="•"/>
            </a:pPr>
            <a:r>
              <a:rPr lang="en-US" b="1" dirty="0"/>
              <a:t>Core Difference:</a:t>
            </a:r>
            <a:r>
              <a:rPr lang="en-US" dirty="0"/>
              <a:t> Data Science is often focused on </a:t>
            </a:r>
            <a:r>
              <a:rPr lang="en-US" b="1" dirty="0">
                <a:solidFill>
                  <a:srgbClr val="FF0000"/>
                </a:solidFill>
              </a:rPr>
              <a:t>Predictive</a:t>
            </a:r>
            <a:r>
              <a:rPr lang="en-US" dirty="0"/>
              <a:t> questions and unstructured data, whereas traditional BI focuses on </a:t>
            </a:r>
            <a:r>
              <a:rPr lang="en-US" b="1" dirty="0">
                <a:solidFill>
                  <a:srgbClr val="FF0000"/>
                </a:solidFill>
              </a:rPr>
              <a:t>Descriptive</a:t>
            </a:r>
            <a:r>
              <a:rPr lang="en-US" dirty="0"/>
              <a:t> questions and structured data.</a:t>
            </a:r>
          </a:p>
          <a:p>
            <a:pPr>
              <a:buFont typeface="Arial" panose="020B0604020202020204" pitchFamily="34" charset="0"/>
              <a:buChar char="•"/>
            </a:pPr>
            <a:r>
              <a:rPr lang="en-US" b="1" dirty="0"/>
              <a:t>Basic Skills Required for Understanding Data Science:</a:t>
            </a:r>
            <a:endParaRPr lang="en-US" dirty="0"/>
          </a:p>
          <a:p>
            <a:pPr marL="742950" lvl="1" indent="-285750">
              <a:buFont typeface="Arial" panose="020B0604020202020204" pitchFamily="34" charset="0"/>
              <a:buChar char="•"/>
            </a:pPr>
            <a:r>
              <a:rPr lang="en-US" sz="2800" dirty="0"/>
              <a:t>Strong </a:t>
            </a:r>
            <a:r>
              <a:rPr lang="en-US" sz="2800" b="1" dirty="0"/>
              <a:t>Logic &amp; Critical Thinking</a:t>
            </a:r>
            <a:r>
              <a:rPr lang="en-US" sz="2800" dirty="0"/>
              <a:t>.</a:t>
            </a:r>
          </a:p>
          <a:p>
            <a:pPr marL="742950" lvl="1" indent="-285750">
              <a:buFont typeface="Arial" panose="020B0604020202020204" pitchFamily="34" charset="0"/>
              <a:buChar char="•"/>
            </a:pPr>
            <a:r>
              <a:rPr lang="en-US" sz="2800" dirty="0"/>
              <a:t>Understanding of </a:t>
            </a:r>
            <a:r>
              <a:rPr lang="en-US" sz="2800" b="1" dirty="0"/>
              <a:t>Probability and Statistics</a:t>
            </a:r>
            <a:r>
              <a:rPr lang="en-US" sz="2800" dirty="0"/>
              <a:t>.</a:t>
            </a:r>
          </a:p>
          <a:p>
            <a:pPr marL="742950" lvl="1" indent="-285750">
              <a:buFont typeface="Arial" panose="020B0604020202020204" pitchFamily="34" charset="0"/>
              <a:buChar char="•"/>
            </a:pPr>
            <a:r>
              <a:rPr lang="en-US" sz="2800" dirty="0"/>
              <a:t>Proficiency in at least one </a:t>
            </a:r>
            <a:r>
              <a:rPr lang="en-US" sz="2800" b="1" dirty="0"/>
              <a:t>Programming Language</a:t>
            </a:r>
            <a:r>
              <a:rPr lang="en-US" sz="2800" dirty="0"/>
              <a:t> (Python/R).</a:t>
            </a:r>
          </a:p>
          <a:p>
            <a:pPr marL="742950" lvl="1" indent="-285750">
              <a:buFont typeface="Arial" panose="020B0604020202020204" pitchFamily="34" charset="0"/>
              <a:buChar char="•"/>
            </a:pPr>
            <a:r>
              <a:rPr lang="en-US" sz="2800" dirty="0"/>
              <a:t>Knowledge of </a:t>
            </a:r>
            <a:r>
              <a:rPr lang="en-US" sz="2800" b="1" dirty="0"/>
              <a:t>Data Structures and Algorithms</a:t>
            </a:r>
            <a:r>
              <a:rPr lang="en-US" sz="2800" dirty="0"/>
              <a:t>.</a:t>
            </a:r>
          </a:p>
        </p:txBody>
      </p:sp>
    </p:spTree>
    <p:extLst>
      <p:ext uri="{BB962C8B-B14F-4D97-AF65-F5344CB8AC3E}">
        <p14:creationId xmlns:p14="http://schemas.microsoft.com/office/powerpoint/2010/main" val="1968026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346E4-07D5-B120-12E3-6565B9D63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15CEB-0682-42AF-896F-63607229EB33}"/>
              </a:ext>
            </a:extLst>
          </p:cNvPr>
          <p:cNvSpPr>
            <a:spLocks noGrp="1"/>
          </p:cNvSpPr>
          <p:nvPr>
            <p:ph type="title"/>
          </p:nvPr>
        </p:nvSpPr>
        <p:spPr>
          <a:xfrm>
            <a:off x="942583" y="214812"/>
            <a:ext cx="10515600" cy="724639"/>
          </a:xfrm>
        </p:spPr>
        <p:txBody>
          <a:bodyPr>
            <a:noAutofit/>
          </a:bodyPr>
          <a:lstStyle/>
          <a:p>
            <a:pPr algn="l"/>
            <a:r>
              <a:rPr lang="en-US" sz="3200" b="1" i="0" u="none" strike="noStrike" baseline="0" dirty="0">
                <a:solidFill>
                  <a:srgbClr val="00B050"/>
                </a:solidFill>
                <a:latin typeface="Times New Roman" panose="02020603050405020304" pitchFamily="18" charset="0"/>
              </a:rPr>
              <a:t>Concepts of Data Science and Required Basic Skills</a:t>
            </a:r>
            <a:br>
              <a:rPr lang="en-US" sz="3200" b="1" i="0" u="none" strike="noStrike" baseline="0" dirty="0">
                <a:solidFill>
                  <a:srgbClr val="00B050"/>
                </a:solidFill>
                <a:latin typeface="Times New Roman" panose="02020603050405020304" pitchFamily="18" charset="0"/>
              </a:rPr>
            </a:br>
            <a:r>
              <a:rPr lang="en-US" sz="3200" i="0" u="none" strike="noStrike" baseline="0" dirty="0">
                <a:solidFill>
                  <a:srgbClr val="FF0000"/>
                </a:solidFill>
                <a:latin typeface="Times New Roman" panose="02020603050405020304" pitchFamily="18" charset="0"/>
              </a:rPr>
              <a:t>Defining the Data Scientist Cont..</a:t>
            </a:r>
          </a:p>
        </p:txBody>
      </p:sp>
      <p:sp>
        <p:nvSpPr>
          <p:cNvPr id="3" name="Content Placeholder 2">
            <a:extLst>
              <a:ext uri="{FF2B5EF4-FFF2-40B4-BE49-F238E27FC236}">
                <a16:creationId xmlns:a16="http://schemas.microsoft.com/office/drawing/2014/main" id="{C613F197-53FE-24D8-4DF2-D223E2693061}"/>
              </a:ext>
            </a:extLst>
          </p:cNvPr>
          <p:cNvSpPr>
            <a:spLocks noGrp="1"/>
          </p:cNvSpPr>
          <p:nvPr>
            <p:ph idx="1"/>
          </p:nvPr>
        </p:nvSpPr>
        <p:spPr>
          <a:xfrm>
            <a:off x="563671" y="1231900"/>
            <a:ext cx="11273425" cy="5537200"/>
          </a:xfrm>
        </p:spPr>
        <p:txBody>
          <a:bodyPr>
            <a:normAutofit/>
          </a:bodyPr>
          <a:lstStyle/>
          <a:p>
            <a:pPr algn="just">
              <a:buFont typeface="Arial" panose="020B0604020202020204" pitchFamily="34" charset="0"/>
              <a:buChar char="•"/>
            </a:pPr>
            <a:r>
              <a:rPr lang="en-US" b="1" dirty="0"/>
              <a:t>Data Science</a:t>
            </a:r>
            <a:r>
              <a:rPr lang="en-US" dirty="0"/>
              <a:t> is the umbrella term for the most advanced analytical practices.</a:t>
            </a:r>
          </a:p>
          <a:p>
            <a:pPr algn="just">
              <a:buFont typeface="Arial" panose="020B0604020202020204" pitchFamily="34" charset="0"/>
              <a:buChar char="•"/>
            </a:pPr>
            <a:r>
              <a:rPr lang="en-US" dirty="0"/>
              <a:t>The skillset is demanding: it requires not just math or code, but the ability to translate a complex, messy real-world problem into a quantitative model and then back into a managerial recommendation.</a:t>
            </a:r>
          </a:p>
        </p:txBody>
      </p:sp>
    </p:spTree>
    <p:extLst>
      <p:ext uri="{BB962C8B-B14F-4D97-AF65-F5344CB8AC3E}">
        <p14:creationId xmlns:p14="http://schemas.microsoft.com/office/powerpoint/2010/main" val="317563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1947</TotalTime>
  <Words>3762</Words>
  <Application>Microsoft Office PowerPoint</Application>
  <PresentationFormat>Widescreen</PresentationFormat>
  <Paragraphs>202</Paragraphs>
  <Slides>32</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Bookman Old Style</vt:lpstr>
      <vt:lpstr>Calibri</vt:lpstr>
      <vt:lpstr>Calibri Light</vt:lpstr>
      <vt:lpstr>Google Sans</vt:lpstr>
      <vt:lpstr>Times New Roman</vt:lpstr>
      <vt:lpstr>TimesNewRomanPSMT</vt:lpstr>
      <vt:lpstr>Wingdings</vt:lpstr>
      <vt:lpstr>Office Theme</vt:lpstr>
      <vt:lpstr>Fundamentals of Bigdata Analytics and Business Intelligence(BI)</vt:lpstr>
      <vt:lpstr>Def:</vt:lpstr>
      <vt:lpstr>The Analytical Imperative: From Data to Decisions</vt:lpstr>
      <vt:lpstr>Cont..</vt:lpstr>
      <vt:lpstr>Cont..</vt:lpstr>
      <vt:lpstr>Define Data, characteristics of data?</vt:lpstr>
      <vt:lpstr>What is digital data? Explain different types of digital data.</vt:lpstr>
      <vt:lpstr>Cont..</vt:lpstr>
      <vt:lpstr>Cont..</vt:lpstr>
      <vt:lpstr>Cont..</vt:lpstr>
      <vt:lpstr>Cont..</vt:lpstr>
      <vt:lpstr>Define Big Data. </vt:lpstr>
      <vt:lpstr>Cont..</vt:lpstr>
      <vt:lpstr>Benefits of Big Data</vt:lpstr>
      <vt:lpstr>What is an Example of Big Data? </vt:lpstr>
      <vt:lpstr>Characteristics of Big Data</vt:lpstr>
      <vt:lpstr>Cont..</vt:lpstr>
      <vt:lpstr>Cont..</vt:lpstr>
      <vt:lpstr>Data Reliability &amp; Validity, Problem Solving with Analytics Data Quality and The Analytical Mindset</vt:lpstr>
      <vt:lpstr>Data Reliability &amp; Validity, Problem Solving with Analytics Data Quality and The Analytical Mindset   Cont..</vt:lpstr>
      <vt:lpstr>How is traditional BI environment different from Big data environment?</vt:lpstr>
      <vt:lpstr>Phases of Analytics in the Business and Data Science Domain 📚 The Data Science Process Pipeline</vt:lpstr>
      <vt:lpstr>Phases of Analytics in the Business and Data Science Domain 📚 The Data Science Process Pipeline</vt:lpstr>
      <vt:lpstr>Phases of Analytics in the Business and Data Science Domain 📚 The Data Science Process Pipeline Cont..</vt:lpstr>
      <vt:lpstr>Phases of Analytics in the Business and Data Science Domain 📚 The Data Science Process Pipeline Cont..</vt:lpstr>
      <vt:lpstr>Descriptive, Predictive, and Prescriptive Analytics The Three Levels of Analytical Insight</vt:lpstr>
      <vt:lpstr>Descriptive, Predictive, and Prescriptive Analytics The Three Levels of Analytical Insight Cont..</vt:lpstr>
      <vt:lpstr>Descriptive, Predictive, and Prescriptive Analytics The Three Levels of Analytical Insight Cont..</vt:lpstr>
      <vt:lpstr>Applications and Skills for Business Analytics</vt:lpstr>
      <vt:lpstr>Applications and Skills for Business Analytics Cont..</vt:lpstr>
      <vt:lpstr>Concepts of Data Science and Required Basic Skills Defining the Data Scientist</vt:lpstr>
      <vt:lpstr>Concepts of Data Science and Required Basic Skills Defining the Data Scientist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Binyam Tesfahun</dc:creator>
  <cp:lastModifiedBy>Binyam Tesfahun</cp:lastModifiedBy>
  <cp:revision>41</cp:revision>
  <dcterms:created xsi:type="dcterms:W3CDTF">2025-10-21T05:46:39Z</dcterms:created>
  <dcterms:modified xsi:type="dcterms:W3CDTF">2025-10-28T10:08:15Z</dcterms:modified>
</cp:coreProperties>
</file>